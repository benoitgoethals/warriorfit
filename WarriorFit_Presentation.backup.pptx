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75"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1"/>
  </p:normalViewPr>
  <p:slideViewPr>
    <p:cSldViewPr snapToGrid="0" snapToObjects="1">
      <p:cViewPr varScale="1">
        <p:scale>
          <a:sx n="149" d="100"/>
          <a:sy n="149" d="100"/>
        </p:scale>
        <p:origin x="480"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EC11D3-258E-A241-B969-DA596FF6B78F}" type="datetimeFigureOut">
              <a:rPr lang="en-US" smtClean="0"/>
              <a:t>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A5B279-8762-EA49-AC82-9439F93A72F9}" type="slidenum">
              <a:rPr lang="en-US" smtClean="0"/>
              <a:t>‹#›</a:t>
            </a:fld>
            <a:endParaRPr lang="en-US"/>
          </a:p>
        </p:txBody>
      </p:sp>
    </p:spTree>
    <p:extLst>
      <p:ext uri="{BB962C8B-B14F-4D97-AF65-F5344CB8AC3E}">
        <p14:creationId xmlns:p14="http://schemas.microsoft.com/office/powerpoint/2010/main" val="3623298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A5B279-8762-EA49-AC82-9439F93A72F9}" type="slidenum">
              <a:rPr lang="en-US" smtClean="0"/>
              <a:t>4</a:t>
            </a:fld>
            <a:endParaRPr lang="en-US"/>
          </a:p>
        </p:txBody>
      </p:sp>
    </p:spTree>
    <p:extLst>
      <p:ext uri="{BB962C8B-B14F-4D97-AF65-F5344CB8AC3E}">
        <p14:creationId xmlns:p14="http://schemas.microsoft.com/office/powerpoint/2010/main" val="3003783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210312"/>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972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48272"/>
            <a:ext cx="12188952" cy="10972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978408"/>
            <a:ext cx="10058400" cy="1371600"/>
          </a:xfrm>
          <a:prstGeom prst="rect">
            <a:avLst/>
          </a:prstGeom>
          <a:noFill/>
        </p:spPr>
        <p:txBody>
          <a:bodyPr wrap="square">
            <a:spAutoFit/>
          </a:bodyPr>
          <a:lstStyle/>
          <a:p>
            <a:pPr algn="ctr"/>
            <a:r>
              <a:rPr sz="7200" b="1" i="0" dirty="0" err="1">
                <a:solidFill>
                  <a:srgbClr val="FFB700"/>
                </a:solidFill>
              </a:rPr>
              <a:t>WarriorFit</a:t>
            </a:r>
            <a:endParaRPr sz="7200" b="1" i="0" dirty="0">
              <a:solidFill>
                <a:srgbClr val="FFB700"/>
              </a:solidFill>
            </a:endParaRPr>
          </a:p>
        </p:txBody>
      </p:sp>
      <p:sp>
        <p:nvSpPr>
          <p:cNvPr id="6" name="TextBox 5"/>
          <p:cNvSpPr txBox="1"/>
          <p:nvPr/>
        </p:nvSpPr>
        <p:spPr>
          <a:xfrm>
            <a:off x="941832" y="2496312"/>
            <a:ext cx="10058400" cy="640080"/>
          </a:xfrm>
          <a:prstGeom prst="rect">
            <a:avLst/>
          </a:prstGeom>
          <a:noFill/>
        </p:spPr>
        <p:txBody>
          <a:bodyPr wrap="square">
            <a:spAutoFit/>
          </a:bodyPr>
          <a:lstStyle/>
          <a:p>
            <a:pPr algn="ctr"/>
            <a:r>
              <a:rPr sz="2400" b="0" i="0" dirty="0">
                <a:solidFill>
                  <a:srgbClr val="FFFFFF"/>
                </a:solidFill>
              </a:rPr>
              <a:t>Digitizing Military Physical Fitness Testing</a:t>
            </a:r>
          </a:p>
        </p:txBody>
      </p:sp>
      <p:sp>
        <p:nvSpPr>
          <p:cNvPr id="7" name="Rectangle 6"/>
          <p:cNvSpPr/>
          <p:nvPr/>
        </p:nvSpPr>
        <p:spPr>
          <a:xfrm>
            <a:off x="4114800" y="3249887"/>
            <a:ext cx="3931920" cy="36576"/>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3483864"/>
            <a:ext cx="10058400" cy="457200"/>
          </a:xfrm>
          <a:prstGeom prst="rect">
            <a:avLst/>
          </a:prstGeom>
          <a:noFill/>
        </p:spPr>
        <p:txBody>
          <a:bodyPr wrap="square">
            <a:spAutoFit/>
          </a:bodyPr>
          <a:lstStyle/>
          <a:p>
            <a:pPr algn="ctr"/>
            <a:r>
              <a:rPr sz="1400" b="0" i="1" dirty="0">
                <a:solidFill>
                  <a:srgbClr val="F0F4FF"/>
                </a:solidFill>
              </a:rPr>
              <a:t>Benoit Goethals  ·  May 2026</a:t>
            </a:r>
          </a:p>
        </p:txBody>
      </p:sp>
      <p:sp>
        <p:nvSpPr>
          <p:cNvPr id="9" name="TextBox 8"/>
          <p:cNvSpPr txBox="1"/>
          <p:nvPr/>
        </p:nvSpPr>
        <p:spPr>
          <a:xfrm>
            <a:off x="1508760" y="5879592"/>
            <a:ext cx="9144000" cy="457200"/>
          </a:xfrm>
          <a:prstGeom prst="rect">
            <a:avLst/>
          </a:prstGeom>
          <a:noFill/>
        </p:spPr>
        <p:txBody>
          <a:bodyPr wrap="square">
            <a:spAutoFit/>
          </a:bodyPr>
          <a:lstStyle/>
          <a:p>
            <a:pPr algn="ctr"/>
            <a:r>
              <a:rPr sz="1200" b="0" i="0" dirty="0">
                <a:solidFill>
                  <a:srgbClr val="556078"/>
                </a:solidFill>
              </a:rPr>
              <a:t>Shiny for Python · PostgreSQL · Async </a:t>
            </a:r>
            <a:r>
              <a:rPr sz="1200" b="0" i="0" dirty="0" err="1">
                <a:solidFill>
                  <a:srgbClr val="556078"/>
                </a:solidFill>
              </a:rPr>
              <a:t>SQLAlchemy</a:t>
            </a:r>
            <a:r>
              <a:rPr sz="1200" b="0" i="0" dirty="0">
                <a:solidFill>
                  <a:srgbClr val="556078"/>
                </a:solidFill>
              </a:rPr>
              <a:t> · Docker · Flet · </a:t>
            </a:r>
            <a:r>
              <a:rPr sz="1200" b="0" i="0" dirty="0" err="1">
                <a:solidFill>
                  <a:srgbClr val="556078"/>
                </a:solidFill>
              </a:rPr>
              <a:t>FastAPI</a:t>
            </a:r>
            <a:endParaRPr sz="1200" b="0" i="0" dirty="0">
              <a:solidFill>
                <a:srgbClr val="556078"/>
              </a:solidFill>
            </a:endParaRPr>
          </a:p>
        </p:txBody>
      </p:sp>
      <p:sp>
        <p:nvSpPr>
          <p:cNvPr id="14" name="TextBox 13"/>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15" name="Rounded Rectangle 14"/>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01 / 20</a:t>
            </a:r>
          </a:p>
        </p:txBody>
      </p:sp>
      <p:sp>
        <p:nvSpPr>
          <p:cNvPr id="16" name="Rectangle 15"/>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pic>
        <p:nvPicPr>
          <p:cNvPr id="17" name="Picture 16">
            <a:extLst>
              <a:ext uri="{FF2B5EF4-FFF2-40B4-BE49-F238E27FC236}">
                <a16:creationId xmlns:a16="http://schemas.microsoft.com/office/drawing/2014/main" id="{C906D128-00AB-D496-DC1C-28369DC85C8D}"/>
              </a:ext>
            </a:extLst>
          </p:cNvPr>
          <p:cNvPicPr>
            <a:picLocks noChangeAspect="1"/>
          </p:cNvPicPr>
          <p:nvPr/>
        </p:nvPicPr>
        <p:blipFill>
          <a:blip r:embed="rId2"/>
          <a:stretch>
            <a:fillRect/>
          </a:stretch>
        </p:blipFill>
        <p:spPr>
          <a:xfrm>
            <a:off x="5048250" y="3961638"/>
            <a:ext cx="1790700" cy="17907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74320"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411480"/>
            <a:ext cx="10972800" cy="640080"/>
          </a:xfrm>
          <a:prstGeom prst="rect">
            <a:avLst/>
          </a:prstGeom>
          <a:noFill/>
        </p:spPr>
        <p:txBody>
          <a:bodyPr wrap="square" lIns="0" rIns="0">
            <a:spAutoFit/>
          </a:bodyPr>
          <a:lstStyle/>
          <a:p>
            <a:pPr algn="l"/>
            <a:r>
              <a:rPr sz="3600" b="1">
                <a:solidFill>
                  <a:srgbClr val="0B1F3A"/>
                </a:solidFill>
                <a:latin typeface="Calibri"/>
              </a:rPr>
              <a:t>Project Description</a:t>
            </a:r>
          </a:p>
        </p:txBody>
      </p:sp>
      <p:sp>
        <p:nvSpPr>
          <p:cNvPr id="5" name="Rectangle 4"/>
          <p:cNvSpPr/>
          <p:nvPr/>
        </p:nvSpPr>
        <p:spPr>
          <a:xfrm>
            <a:off x="548640" y="1051560"/>
            <a:ext cx="1463040" cy="7315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188720"/>
            <a:ext cx="10972800" cy="457200"/>
          </a:xfrm>
          <a:prstGeom prst="rect">
            <a:avLst/>
          </a:prstGeom>
          <a:noFill/>
        </p:spPr>
        <p:txBody>
          <a:bodyPr wrap="square" lIns="0" rIns="0">
            <a:spAutoFit/>
          </a:bodyPr>
          <a:lstStyle/>
          <a:p>
            <a:pPr algn="l"/>
            <a:r>
              <a:rPr sz="1800" b="0">
                <a:solidFill>
                  <a:srgbClr val="6B7280"/>
                </a:solidFill>
                <a:latin typeface="Calibri"/>
              </a:rPr>
              <a:t>What WarriorFit is, and why it exists</a:t>
            </a:r>
          </a:p>
        </p:txBody>
      </p:sp>
      <p:sp>
        <p:nvSpPr>
          <p:cNvPr id="7" name="TextBox 6"/>
          <p:cNvSpPr txBox="1"/>
          <p:nvPr/>
        </p:nvSpPr>
        <p:spPr>
          <a:xfrm>
            <a:off x="548640" y="1828800"/>
            <a:ext cx="11064240" cy="4114800"/>
          </a:xfrm>
          <a:prstGeom prst="rect">
            <a:avLst/>
          </a:prstGeom>
          <a:noFill/>
        </p:spPr>
        <p:txBody>
          <a:bodyPr wrap="square">
            <a:spAutoFit/>
          </a:bodyPr>
          <a:lstStyle/>
          <a:p>
            <a:pPr>
              <a:spcAft>
                <a:spcPts val="1200"/>
              </a:spcAft>
            </a:pPr>
            <a:r>
              <a:rPr sz="1500" b="0">
                <a:solidFill>
                  <a:srgbClr val="1A1A1A"/>
                </a:solidFill>
                <a:latin typeface="Calibri"/>
              </a:rPr>
              <a:t>WarriorFit is a comprehensive fitness and military management application designed to track physical performance, manage personnel data, and generate analytical reports. The system integrates data collection, statistical analysis, and reporting capabilities tailored for military fitness standards.</a:t>
            </a:r>
          </a:p>
          <a:p>
            <a:pPr>
              <a:spcAft>
                <a:spcPts val="1200"/>
              </a:spcAft>
            </a:pPr>
            <a:r>
              <a:rPr sz="1500" b="0">
                <a:solidFill>
                  <a:srgbClr val="1A1A1A"/>
                </a:solidFill>
                <a:latin typeface="Calibri"/>
              </a:rPr>
              <a:t>Each unit within Defence has a </a:t>
            </a:r>
            <a:r>
              <a:rPr sz="1500" b="1">
                <a:solidFill>
                  <a:srgbClr val="C89B3C"/>
                </a:solidFill>
                <a:latin typeface="Calibri"/>
              </a:rPr>
              <a:t>physical training cell</a:t>
            </a:r>
            <a:r>
              <a:rPr sz="1500" b="0">
                <a:solidFill>
                  <a:srgbClr val="1A1A1A"/>
                </a:solidFill>
                <a:latin typeface="Calibri"/>
              </a:rPr>
              <a:t> aimed at preparing soldiers physically for operational deployment.</a:t>
            </a:r>
          </a:p>
          <a:p>
            <a:pPr>
              <a:spcAft>
                <a:spcPts val="1200"/>
              </a:spcAft>
            </a:pPr>
            <a:r>
              <a:rPr sz="1500" b="0">
                <a:solidFill>
                  <a:srgbClr val="1A1A1A"/>
                </a:solidFill>
                <a:latin typeface="Calibri"/>
              </a:rPr>
              <a:t>Annually, every soldier must complete the </a:t>
            </a:r>
            <a:r>
              <a:rPr sz="1500" b="1">
                <a:solidFill>
                  <a:srgbClr val="C89B3C"/>
                </a:solidFill>
                <a:latin typeface="Calibri"/>
              </a:rPr>
              <a:t>PHEF</a:t>
            </a:r>
            <a:r>
              <a:rPr sz="1500" b="0">
                <a:solidFill>
                  <a:srgbClr val="1A1A1A"/>
                </a:solidFill>
                <a:latin typeface="Calibri"/>
              </a:rPr>
              <a:t> (Physical Fitness Evaluation Defence). In addition, combat units carry out </a:t>
            </a:r>
            <a:r>
              <a:rPr sz="1500" b="1">
                <a:solidFill>
                  <a:srgbClr val="C89B3C"/>
                </a:solidFill>
                <a:latin typeface="Calibri"/>
              </a:rPr>
              <a:t>functional</a:t>
            </a:r>
            <a:r>
              <a:rPr sz="1500" b="0">
                <a:solidFill>
                  <a:srgbClr val="1A1A1A"/>
                </a:solidFill>
                <a:latin typeface="Calibri"/>
              </a:rPr>
              <a:t> and </a:t>
            </a:r>
            <a:r>
              <a:rPr sz="1500" b="1">
                <a:solidFill>
                  <a:srgbClr val="C89B3C"/>
                </a:solidFill>
                <a:latin typeface="Calibri"/>
              </a:rPr>
              <a:t>combat tests</a:t>
            </a:r>
            <a:r>
              <a:rPr sz="1500" b="0">
                <a:solidFill>
                  <a:srgbClr val="1A1A1A"/>
                </a:solidFill>
                <a:latin typeface="Calibri"/>
              </a:rPr>
              <a:t>, while paracommandos must endure additional </a:t>
            </a:r>
            <a:r>
              <a:rPr sz="1500" b="1">
                <a:solidFill>
                  <a:srgbClr val="C89B3C"/>
                </a:solidFill>
                <a:latin typeface="Calibri"/>
              </a:rPr>
              <a:t>combat evaluations</a:t>
            </a:r>
            <a:r>
              <a:rPr sz="1500" b="0">
                <a:solidFill>
                  <a:srgbClr val="1A1A1A"/>
                </a:solidFill>
                <a:latin typeface="Calibri"/>
              </a:rPr>
              <a:t>.</a:t>
            </a:r>
          </a:p>
          <a:p>
            <a:pPr>
              <a:spcAft>
                <a:spcPts val="0"/>
              </a:spcAft>
            </a:pPr>
            <a:r>
              <a:rPr sz="1500" b="0">
                <a:solidFill>
                  <a:srgbClr val="1A1A1A"/>
                </a:solidFill>
                <a:latin typeface="Calibri"/>
              </a:rPr>
              <a:t>Currently, much of this process is manual, leading to inefficiency, errors, and administrative delays.</a:t>
            </a:r>
          </a:p>
        </p:txBody>
      </p:sp>
      <p:sp>
        <p:nvSpPr>
          <p:cNvPr id="8" name="Rounded Rectangle 7"/>
          <p:cNvSpPr/>
          <p:nvPr/>
        </p:nvSpPr>
        <p:spPr>
          <a:xfrm>
            <a:off x="548640" y="5715000"/>
            <a:ext cx="11064240" cy="640080"/>
          </a:xfrm>
          <a:prstGeom prst="roundRect">
            <a:avLst>
              <a:gd name="adj" fmla="val 30000"/>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5788152"/>
            <a:ext cx="11064240" cy="502920"/>
          </a:xfrm>
          <a:prstGeom prst="rect">
            <a:avLst/>
          </a:prstGeom>
          <a:noFill/>
        </p:spPr>
        <p:txBody>
          <a:bodyPr wrap="square" lIns="0" rIns="0">
            <a:spAutoFit/>
          </a:bodyPr>
          <a:lstStyle/>
          <a:p>
            <a:pPr algn="ctr"/>
            <a:r>
              <a:rPr sz="1500" b="1">
                <a:solidFill>
                  <a:srgbClr val="FFFFFF"/>
                </a:solidFill>
                <a:latin typeface="Calibri"/>
              </a:rPr>
              <a:t>WarriorFit replaces paper, spreadsheets, and email with a single auditable platform.</a:t>
            </a:r>
          </a:p>
        </p:txBody>
      </p:sp>
      <p:sp>
        <p:nvSpPr>
          <p:cNvPr id="14" name="TextBox 13"/>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15" name="Rounded Rectangle 14"/>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02 / 20</a:t>
            </a:r>
          </a:p>
        </p:txBody>
      </p:sp>
      <p:sp>
        <p:nvSpPr>
          <p:cNvPr id="16" name="Rectangle 15"/>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8016"/>
            <a:ext cx="10972800" cy="822960"/>
          </a:xfrm>
          <a:prstGeom prst="rect">
            <a:avLst/>
          </a:prstGeom>
          <a:noFill/>
        </p:spPr>
        <p:txBody>
          <a:bodyPr wrap="square">
            <a:spAutoFit/>
          </a:bodyPr>
          <a:lstStyle/>
          <a:p>
            <a:pPr algn="l"/>
            <a:r>
              <a:rPr sz="3000" b="1" i="0">
                <a:solidFill>
                  <a:srgbClr val="FFB700"/>
                </a:solidFill>
              </a:rPr>
              <a:t>The Problem</a:t>
            </a:r>
          </a:p>
        </p:txBody>
      </p:sp>
      <p:sp>
        <p:nvSpPr>
          <p:cNvPr id="6" name="TextBox 5"/>
          <p:cNvSpPr txBox="1"/>
          <p:nvPr/>
        </p:nvSpPr>
        <p:spPr>
          <a:xfrm>
            <a:off x="457200" y="841248"/>
            <a:ext cx="10972800" cy="411480"/>
          </a:xfrm>
          <a:prstGeom prst="rect">
            <a:avLst/>
          </a:prstGeom>
          <a:noFill/>
        </p:spPr>
        <p:txBody>
          <a:bodyPr wrap="square">
            <a:spAutoFit/>
          </a:bodyPr>
          <a:lstStyle/>
          <a:p>
            <a:pPr algn="l"/>
            <a:r>
              <a:rPr sz="1300" b="0" i="1">
                <a:solidFill>
                  <a:srgbClr val="F0F4FF"/>
                </a:solidFill>
              </a:rPr>
              <a:t>How military fitness testing works today — without WarriorFit</a:t>
            </a:r>
          </a:p>
        </p:txBody>
      </p:sp>
      <p:sp>
        <p:nvSpPr>
          <p:cNvPr id="7" name="Rectangle 6"/>
          <p:cNvSpPr/>
          <p:nvPr/>
        </p:nvSpPr>
        <p:spPr>
          <a:xfrm>
            <a:off x="365760" y="1463040"/>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1371600"/>
            <a:ext cx="11155680" cy="384048"/>
          </a:xfrm>
          <a:prstGeom prst="rect">
            <a:avLst/>
          </a:prstGeom>
          <a:noFill/>
        </p:spPr>
        <p:txBody>
          <a:bodyPr wrap="square">
            <a:spAutoFit/>
          </a:bodyPr>
          <a:lstStyle/>
          <a:p>
            <a:pPr algn="l"/>
            <a:r>
              <a:rPr sz="1300" b="0" i="0">
                <a:solidFill>
                  <a:srgbClr val="FFFFFF"/>
                </a:solidFill>
              </a:rPr>
              <a:t>PTIs conduct annual fitness tests manually — paper forms, no central system</a:t>
            </a:r>
          </a:p>
        </p:txBody>
      </p:sp>
      <p:sp>
        <p:nvSpPr>
          <p:cNvPr id="9" name="Rectangle 8"/>
          <p:cNvSpPr/>
          <p:nvPr/>
        </p:nvSpPr>
        <p:spPr>
          <a:xfrm>
            <a:off x="365760" y="2084832"/>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0352" y="1993392"/>
            <a:ext cx="11155680" cy="384048"/>
          </a:xfrm>
          <a:prstGeom prst="rect">
            <a:avLst/>
          </a:prstGeom>
          <a:noFill/>
        </p:spPr>
        <p:txBody>
          <a:bodyPr wrap="square">
            <a:spAutoFit/>
          </a:bodyPr>
          <a:lstStyle/>
          <a:p>
            <a:pPr algn="l"/>
            <a:r>
              <a:rPr sz="1300" b="0" i="0">
                <a:solidFill>
                  <a:srgbClr val="FFFFFF"/>
                </a:solidFill>
              </a:rPr>
              <a:t>Results entered into spreadsheets, forwarded to HR by hand — error-prone and slow</a:t>
            </a:r>
          </a:p>
        </p:txBody>
      </p:sp>
      <p:sp>
        <p:nvSpPr>
          <p:cNvPr id="11" name="Rectangle 10"/>
          <p:cNvSpPr/>
          <p:nvPr/>
        </p:nvSpPr>
        <p:spPr>
          <a:xfrm>
            <a:off x="365760" y="2706624"/>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2615184"/>
            <a:ext cx="11155680" cy="384048"/>
          </a:xfrm>
          <a:prstGeom prst="rect">
            <a:avLst/>
          </a:prstGeom>
          <a:noFill/>
        </p:spPr>
        <p:txBody>
          <a:bodyPr wrap="square">
            <a:spAutoFit/>
          </a:bodyPr>
          <a:lstStyle/>
          <a:p>
            <a:pPr algn="l"/>
            <a:r>
              <a:rPr sz="1300" b="0" i="0">
                <a:solidFill>
                  <a:srgbClr val="FFFFFF"/>
                </a:solidFill>
              </a:rPr>
              <a:t>Five different test types with different scoring rules managed completely separately</a:t>
            </a:r>
          </a:p>
        </p:txBody>
      </p:sp>
      <p:sp>
        <p:nvSpPr>
          <p:cNvPr id="13" name="Rectangle 12"/>
          <p:cNvSpPr/>
          <p:nvPr/>
        </p:nvSpPr>
        <p:spPr>
          <a:xfrm>
            <a:off x="365760" y="3328416"/>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0352" y="3236976"/>
            <a:ext cx="11155680" cy="384048"/>
          </a:xfrm>
          <a:prstGeom prst="rect">
            <a:avLst/>
          </a:prstGeom>
          <a:noFill/>
        </p:spPr>
        <p:txBody>
          <a:bodyPr wrap="square">
            <a:spAutoFit/>
          </a:bodyPr>
          <a:lstStyle/>
          <a:p>
            <a:pPr algn="l"/>
            <a:r>
              <a:rPr sz="1300" b="0" i="0">
                <a:solidFill>
                  <a:srgbClr val="FFFFFF"/>
                </a:solidFill>
              </a:rPr>
              <a:t>No centralized view: no unit dashboard, no trend analysis, no historical data</a:t>
            </a:r>
          </a:p>
        </p:txBody>
      </p:sp>
      <p:sp>
        <p:nvSpPr>
          <p:cNvPr id="15" name="Rectangle 14"/>
          <p:cNvSpPr/>
          <p:nvPr/>
        </p:nvSpPr>
        <p:spPr>
          <a:xfrm>
            <a:off x="365760" y="3950208"/>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0352" y="3858768"/>
            <a:ext cx="11155680" cy="384048"/>
          </a:xfrm>
          <a:prstGeom prst="rect">
            <a:avLst/>
          </a:prstGeom>
          <a:noFill/>
        </p:spPr>
        <p:txBody>
          <a:bodyPr wrap="square">
            <a:spAutoFit/>
          </a:bodyPr>
          <a:lstStyle/>
          <a:p>
            <a:pPr algn="l"/>
            <a:r>
              <a:rPr sz="1300" b="0" i="0">
                <a:solidFill>
                  <a:srgbClr val="FFFFFF"/>
                </a:solidFill>
              </a:rPr>
              <a:t>HR synchronization is fully manual — delays mean compliance gaps</a:t>
            </a:r>
          </a:p>
        </p:txBody>
      </p:sp>
      <p:sp>
        <p:nvSpPr>
          <p:cNvPr id="17" name="Rectangle 16"/>
          <p:cNvSpPr/>
          <p:nvPr/>
        </p:nvSpPr>
        <p:spPr>
          <a:xfrm>
            <a:off x="365760" y="4572000"/>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0352" y="4480560"/>
            <a:ext cx="11155680" cy="384048"/>
          </a:xfrm>
          <a:prstGeom prst="rect">
            <a:avLst/>
          </a:prstGeom>
          <a:noFill/>
        </p:spPr>
        <p:txBody>
          <a:bodyPr wrap="square">
            <a:spAutoFit/>
          </a:bodyPr>
          <a:lstStyle/>
          <a:p>
            <a:pPr algn="l"/>
            <a:r>
              <a:rPr sz="1300" b="0" i="0">
                <a:solidFill>
                  <a:srgbClr val="FFFFFF"/>
                </a:solidFill>
              </a:rPr>
              <a:t>No GDPR-compliant consent or data management process in place</a:t>
            </a:r>
          </a:p>
        </p:txBody>
      </p:sp>
      <p:sp>
        <p:nvSpPr>
          <p:cNvPr id="19" name="Rectangle 18"/>
          <p:cNvSpPr/>
          <p:nvPr/>
        </p:nvSpPr>
        <p:spPr>
          <a:xfrm>
            <a:off x="365760" y="5193792"/>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0352" y="5102352"/>
            <a:ext cx="11155680" cy="384048"/>
          </a:xfrm>
          <a:prstGeom prst="rect">
            <a:avLst/>
          </a:prstGeom>
          <a:noFill/>
        </p:spPr>
        <p:txBody>
          <a:bodyPr wrap="square">
            <a:spAutoFit/>
          </a:bodyPr>
          <a:lstStyle/>
          <a:p>
            <a:pPr algn="l"/>
            <a:r>
              <a:rPr sz="1300" b="0" i="0">
                <a:solidFill>
                  <a:srgbClr val="FFFFFF"/>
                </a:solidFill>
              </a:rPr>
              <a:t>Cross-country timing done on paper or basic apps — no integration with HR or analytics</a:t>
            </a:r>
          </a:p>
        </p:txBody>
      </p:sp>
      <p:sp>
        <p:nvSpPr>
          <p:cNvPr id="25" name="TextBox 24"/>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26" name="Rounded Rectangle 25"/>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03 / 20</a:t>
            </a:r>
          </a:p>
        </p:txBody>
      </p:sp>
      <p:sp>
        <p:nvSpPr>
          <p:cNvPr id="27" name="Rectangle 26"/>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73152"/>
            <a:ext cx="12223613" cy="7022592"/>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37744"/>
            <a:ext cx="10972800" cy="822960"/>
          </a:xfrm>
          <a:prstGeom prst="rect">
            <a:avLst/>
          </a:prstGeom>
          <a:noFill/>
        </p:spPr>
        <p:txBody>
          <a:bodyPr wrap="square">
            <a:spAutoFit/>
          </a:bodyPr>
          <a:lstStyle/>
          <a:p>
            <a:pPr algn="l"/>
            <a:r>
              <a:rPr sz="3000" b="1" i="0">
                <a:solidFill>
                  <a:srgbClr val="FFB700"/>
                </a:solidFill>
              </a:rPr>
              <a:t>The Solution</a:t>
            </a:r>
          </a:p>
        </p:txBody>
      </p:sp>
      <p:sp>
        <p:nvSpPr>
          <p:cNvPr id="6" name="TextBox 5"/>
          <p:cNvSpPr txBox="1"/>
          <p:nvPr/>
        </p:nvSpPr>
        <p:spPr>
          <a:xfrm>
            <a:off x="457200" y="841248"/>
            <a:ext cx="10972800" cy="411480"/>
          </a:xfrm>
          <a:prstGeom prst="rect">
            <a:avLst/>
          </a:prstGeom>
          <a:noFill/>
        </p:spPr>
        <p:txBody>
          <a:bodyPr wrap="square">
            <a:spAutoFit/>
          </a:bodyPr>
          <a:lstStyle/>
          <a:p>
            <a:pPr algn="l"/>
            <a:r>
              <a:rPr sz="1300" b="0" i="1">
                <a:solidFill>
                  <a:srgbClr val="F0F4FF"/>
                </a:solidFill>
              </a:rPr>
              <a:t>What the WarriorFit ecosystem delivers</a:t>
            </a:r>
          </a:p>
        </p:txBody>
      </p:sp>
      <p:sp>
        <p:nvSpPr>
          <p:cNvPr id="7" name="Rectangle 6"/>
          <p:cNvSpPr/>
          <p:nvPr/>
        </p:nvSpPr>
        <p:spPr>
          <a:xfrm>
            <a:off x="365760" y="1371600"/>
            <a:ext cx="2743200" cy="420624"/>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8912" y="1426464"/>
            <a:ext cx="2606040" cy="420624"/>
          </a:xfrm>
          <a:prstGeom prst="rect">
            <a:avLst/>
          </a:prstGeom>
          <a:noFill/>
        </p:spPr>
        <p:txBody>
          <a:bodyPr wrap="square">
            <a:spAutoFit/>
          </a:bodyPr>
          <a:lstStyle/>
          <a:p>
            <a:pPr algn="l"/>
            <a:r>
              <a:rPr sz="1200" b="1" i="0">
                <a:solidFill>
                  <a:srgbClr val="0D1B3E"/>
                </a:solidFill>
              </a:rPr>
              <a:t>WarriorFit (Shiny)</a:t>
            </a:r>
          </a:p>
        </p:txBody>
      </p:sp>
      <p:sp>
        <p:nvSpPr>
          <p:cNvPr id="9" name="TextBox 8"/>
          <p:cNvSpPr txBox="1"/>
          <p:nvPr/>
        </p:nvSpPr>
        <p:spPr>
          <a:xfrm>
            <a:off x="3246120" y="1426464"/>
            <a:ext cx="8595360" cy="420624"/>
          </a:xfrm>
          <a:prstGeom prst="rect">
            <a:avLst/>
          </a:prstGeom>
          <a:noFill/>
        </p:spPr>
        <p:txBody>
          <a:bodyPr wrap="square">
            <a:spAutoFit/>
          </a:bodyPr>
          <a:lstStyle/>
          <a:p>
            <a:pPr algn="l"/>
            <a:r>
              <a:rPr sz="1300" b="0" i="0">
                <a:solidFill>
                  <a:srgbClr val="FFFFFF"/>
                </a:solidFill>
              </a:rPr>
              <a:t>Web platform: test sessions, scoring, dashboards, reports, GDPR</a:t>
            </a:r>
          </a:p>
        </p:txBody>
      </p:sp>
      <p:sp>
        <p:nvSpPr>
          <p:cNvPr id="10" name="Rectangle 9"/>
          <p:cNvSpPr/>
          <p:nvPr/>
        </p:nvSpPr>
        <p:spPr>
          <a:xfrm>
            <a:off x="365760" y="2066544"/>
            <a:ext cx="2743200" cy="420624"/>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 y="2121408"/>
            <a:ext cx="2606040" cy="420624"/>
          </a:xfrm>
          <a:prstGeom prst="rect">
            <a:avLst/>
          </a:prstGeom>
          <a:noFill/>
        </p:spPr>
        <p:txBody>
          <a:bodyPr wrap="square">
            <a:spAutoFit/>
          </a:bodyPr>
          <a:lstStyle/>
          <a:p>
            <a:pPr algn="l"/>
            <a:r>
              <a:rPr sz="1200" b="1" i="0">
                <a:solidFill>
                  <a:srgbClr val="0D1B3E"/>
                </a:solidFill>
              </a:rPr>
              <a:t>Flet Cross Client</a:t>
            </a:r>
          </a:p>
        </p:txBody>
      </p:sp>
      <p:sp>
        <p:nvSpPr>
          <p:cNvPr id="12" name="TextBox 11"/>
          <p:cNvSpPr txBox="1"/>
          <p:nvPr/>
        </p:nvSpPr>
        <p:spPr>
          <a:xfrm>
            <a:off x="3246120" y="1903832"/>
            <a:ext cx="8595360" cy="420624"/>
          </a:xfrm>
          <a:prstGeom prst="rect">
            <a:avLst/>
          </a:prstGeom>
          <a:noFill/>
        </p:spPr>
        <p:txBody>
          <a:bodyPr wrap="square">
            <a:spAutoFit/>
          </a:bodyPr>
          <a:lstStyle/>
          <a:p>
            <a:pPr algn="l"/>
            <a:r>
              <a:rPr sz="1300" b="0" i="0">
                <a:solidFill>
                  <a:srgbClr val="FFFFFF"/>
                </a:solidFill>
              </a:rPr>
              <a:t>Mobile/desktop app for on-site race timing — syncs to shared DB</a:t>
            </a:r>
          </a:p>
        </p:txBody>
      </p:sp>
      <p:sp>
        <p:nvSpPr>
          <p:cNvPr id="13" name="Rectangle 12"/>
          <p:cNvSpPr/>
          <p:nvPr/>
        </p:nvSpPr>
        <p:spPr>
          <a:xfrm>
            <a:off x="365760" y="2761488"/>
            <a:ext cx="2743200" cy="420624"/>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2816352"/>
            <a:ext cx="2606040" cy="420624"/>
          </a:xfrm>
          <a:prstGeom prst="rect">
            <a:avLst/>
          </a:prstGeom>
          <a:noFill/>
        </p:spPr>
        <p:txBody>
          <a:bodyPr wrap="square">
            <a:spAutoFit/>
          </a:bodyPr>
          <a:lstStyle/>
          <a:p>
            <a:pPr algn="l"/>
            <a:r>
              <a:rPr sz="1200" b="1" i="0">
                <a:solidFill>
                  <a:srgbClr val="0D1B3E"/>
                </a:solidFill>
              </a:rPr>
              <a:t>FastAPI Backend</a:t>
            </a:r>
          </a:p>
        </p:txBody>
      </p:sp>
      <p:sp>
        <p:nvSpPr>
          <p:cNvPr id="15" name="TextBox 14"/>
          <p:cNvSpPr txBox="1"/>
          <p:nvPr/>
        </p:nvSpPr>
        <p:spPr>
          <a:xfrm>
            <a:off x="3246120" y="2816352"/>
            <a:ext cx="8595360" cy="420624"/>
          </a:xfrm>
          <a:prstGeom prst="rect">
            <a:avLst/>
          </a:prstGeom>
          <a:noFill/>
        </p:spPr>
        <p:txBody>
          <a:bodyPr wrap="square">
            <a:spAutoFit/>
          </a:bodyPr>
          <a:lstStyle/>
          <a:p>
            <a:pPr algn="l"/>
            <a:r>
              <a:rPr sz="1300" b="0" i="0">
                <a:solidFill>
                  <a:srgbClr val="FFFFFF"/>
                </a:solidFill>
              </a:rPr>
              <a:t>REST API bridge between Flet and the shared PostgreSQL</a:t>
            </a:r>
          </a:p>
        </p:txBody>
      </p:sp>
      <p:sp>
        <p:nvSpPr>
          <p:cNvPr id="16" name="Rectangle 15"/>
          <p:cNvSpPr/>
          <p:nvPr/>
        </p:nvSpPr>
        <p:spPr>
          <a:xfrm>
            <a:off x="365760" y="3456432"/>
            <a:ext cx="2743200" cy="420624"/>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8912" y="3511296"/>
            <a:ext cx="2606040" cy="420624"/>
          </a:xfrm>
          <a:prstGeom prst="rect">
            <a:avLst/>
          </a:prstGeom>
          <a:noFill/>
        </p:spPr>
        <p:txBody>
          <a:bodyPr wrap="square">
            <a:spAutoFit/>
          </a:bodyPr>
          <a:lstStyle/>
          <a:p>
            <a:pPr algn="l"/>
            <a:r>
              <a:rPr sz="1200" b="1" i="0">
                <a:solidFill>
                  <a:srgbClr val="0D1B3E"/>
                </a:solidFill>
              </a:rPr>
              <a:t>HR Simulator</a:t>
            </a:r>
          </a:p>
        </p:txBody>
      </p:sp>
      <p:sp>
        <p:nvSpPr>
          <p:cNvPr id="18" name="TextBox 17"/>
          <p:cNvSpPr txBox="1"/>
          <p:nvPr/>
        </p:nvSpPr>
        <p:spPr>
          <a:xfrm>
            <a:off x="3246120" y="3511296"/>
            <a:ext cx="8595360" cy="420624"/>
          </a:xfrm>
          <a:prstGeom prst="rect">
            <a:avLst/>
          </a:prstGeom>
          <a:noFill/>
        </p:spPr>
        <p:txBody>
          <a:bodyPr wrap="square">
            <a:spAutoFit/>
          </a:bodyPr>
          <a:lstStyle/>
          <a:p>
            <a:pPr algn="l"/>
            <a:r>
              <a:rPr sz="1300" b="0" i="0">
                <a:solidFill>
                  <a:srgbClr val="FFFFFF"/>
                </a:solidFill>
              </a:rPr>
              <a:t>FastAPI stub simulating BEMIL HRM — validates broker integration</a:t>
            </a:r>
          </a:p>
        </p:txBody>
      </p:sp>
      <p:sp>
        <p:nvSpPr>
          <p:cNvPr id="19" name="Rectangle 18"/>
          <p:cNvSpPr/>
          <p:nvPr/>
        </p:nvSpPr>
        <p:spPr>
          <a:xfrm>
            <a:off x="365760" y="4151376"/>
            <a:ext cx="2743200" cy="420624"/>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8912" y="4206240"/>
            <a:ext cx="2606040" cy="420624"/>
          </a:xfrm>
          <a:prstGeom prst="rect">
            <a:avLst/>
          </a:prstGeom>
          <a:noFill/>
        </p:spPr>
        <p:txBody>
          <a:bodyPr wrap="square">
            <a:spAutoFit/>
          </a:bodyPr>
          <a:lstStyle/>
          <a:p>
            <a:pPr algn="l"/>
            <a:r>
              <a:rPr sz="1200" b="1" i="0">
                <a:solidFill>
                  <a:srgbClr val="0D1B3E"/>
                </a:solidFill>
              </a:rPr>
              <a:t>Mailpit</a:t>
            </a:r>
          </a:p>
        </p:txBody>
      </p:sp>
      <p:sp>
        <p:nvSpPr>
          <p:cNvPr id="21" name="TextBox 20"/>
          <p:cNvSpPr txBox="1"/>
          <p:nvPr/>
        </p:nvSpPr>
        <p:spPr>
          <a:xfrm>
            <a:off x="3246120" y="4206240"/>
            <a:ext cx="8595360" cy="420624"/>
          </a:xfrm>
          <a:prstGeom prst="rect">
            <a:avLst/>
          </a:prstGeom>
          <a:noFill/>
        </p:spPr>
        <p:txBody>
          <a:bodyPr wrap="square">
            <a:spAutoFit/>
          </a:bodyPr>
          <a:lstStyle/>
          <a:p>
            <a:pPr algn="l"/>
            <a:r>
              <a:rPr sz="1300" b="0" i="0">
                <a:solidFill>
                  <a:srgbClr val="FFFFFF"/>
                </a:solidFill>
              </a:rPr>
              <a:t>SMTP trap for local dev — catches all outgoing email notifications</a:t>
            </a:r>
          </a:p>
        </p:txBody>
      </p:sp>
      <p:sp>
        <p:nvSpPr>
          <p:cNvPr id="22" name="Rectangle 21"/>
          <p:cNvSpPr/>
          <p:nvPr/>
        </p:nvSpPr>
        <p:spPr>
          <a:xfrm>
            <a:off x="365760" y="5760720"/>
            <a:ext cx="11338560" cy="914"/>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5852160"/>
            <a:ext cx="11430000" cy="457200"/>
          </a:xfrm>
          <a:prstGeom prst="rect">
            <a:avLst/>
          </a:prstGeom>
          <a:noFill/>
        </p:spPr>
        <p:txBody>
          <a:bodyPr wrap="square">
            <a:spAutoFit/>
          </a:bodyPr>
          <a:lstStyle/>
          <a:p>
            <a:pPr algn="l"/>
            <a:r>
              <a:rPr sz="1000" b="0" i="1">
                <a:solidFill>
                  <a:srgbClr val="556078"/>
                </a:solidFill>
              </a:rPr>
              <a:t>Live: https://test.warriorfit.bensoft.be/   ·   Cross client: https://clientcross.bensoft.be/   ·   Mail: https://mailstub.bensoft.be/</a:t>
            </a:r>
          </a:p>
        </p:txBody>
      </p:sp>
      <p:sp>
        <p:nvSpPr>
          <p:cNvPr id="24" name="TextBox 23"/>
          <p:cNvSpPr txBox="1"/>
          <p:nvPr/>
        </p:nvSpPr>
        <p:spPr>
          <a:xfrm>
            <a:off x="8701510" y="1150622"/>
            <a:ext cx="2194560" cy="274320"/>
          </a:xfrm>
          <a:prstGeom prst="rect">
            <a:avLst/>
          </a:prstGeom>
          <a:noFill/>
        </p:spPr>
        <p:txBody>
          <a:bodyPr wrap="square" lIns="0" tIns="0" rIns="0" bIns="0" anchor="ctr">
            <a:spAutoFit/>
          </a:bodyPr>
          <a:lstStyle/>
          <a:p>
            <a:pPr algn="ctr"/>
            <a:r>
              <a:rPr sz="1100" b="1" dirty="0">
                <a:solidFill>
                  <a:srgbClr val="C89B3C"/>
                </a:solidFill>
                <a:latin typeface="Calibri"/>
              </a:rPr>
              <a:t>ECOSYSTEM</a:t>
            </a:r>
          </a:p>
        </p:txBody>
      </p:sp>
      <p:sp>
        <p:nvSpPr>
          <p:cNvPr id="25" name="Rounded Rectangle 24"/>
          <p:cNvSpPr/>
          <p:nvPr/>
        </p:nvSpPr>
        <p:spPr>
          <a:xfrm>
            <a:off x="9021550" y="3025142"/>
            <a:ext cx="1554480" cy="822960"/>
          </a:xfrm>
          <a:prstGeom prst="roundRect">
            <a:avLst>
              <a:gd name="adj" fmla="val 30000"/>
            </a:avLst>
          </a:prstGeom>
          <a:solidFill>
            <a:srgbClr val="0B1F3A"/>
          </a:solidFill>
          <a:ln w="19050">
            <a:solidFill>
              <a:srgbClr val="C89B3C"/>
            </a:solid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dirty="0" err="1">
                <a:solidFill>
                  <a:srgbClr val="FFFFFF"/>
                </a:solidFill>
              </a:rPr>
              <a:t>WarriorFit</a:t>
            </a:r>
            <a:endParaRPr sz="1400" b="1" dirty="0">
              <a:solidFill>
                <a:srgbClr val="FFFFFF"/>
              </a:solidFill>
            </a:endParaRPr>
          </a:p>
          <a:p>
            <a:pPr algn="ctr"/>
            <a:r>
              <a:rPr sz="900" dirty="0">
                <a:solidFill>
                  <a:srgbClr val="C89B3C"/>
                </a:solidFill>
              </a:rPr>
              <a:t>PostgreSQL</a:t>
            </a:r>
          </a:p>
        </p:txBody>
      </p:sp>
      <p:cxnSp>
        <p:nvCxnSpPr>
          <p:cNvPr id="26" name="Connector 25"/>
          <p:cNvCxnSpPr>
            <a:cxnSpLocks/>
            <a:stCxn id="25" idx="0"/>
          </p:cNvCxnSpPr>
          <p:nvPr/>
        </p:nvCxnSpPr>
        <p:spPr>
          <a:xfrm flipV="1">
            <a:off x="9798790" y="1882142"/>
            <a:ext cx="0" cy="1143000"/>
          </a:xfrm>
          <a:prstGeom prst="line">
            <a:avLst/>
          </a:prstGeom>
          <a:ln w="15875">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a:cxnSpLocks/>
            <a:stCxn id="25" idx="3"/>
          </p:cNvCxnSpPr>
          <p:nvPr/>
        </p:nvCxnSpPr>
        <p:spPr>
          <a:xfrm flipV="1">
            <a:off x="10576030" y="2855678"/>
            <a:ext cx="719317" cy="580944"/>
          </a:xfrm>
          <a:prstGeom prst="line">
            <a:avLst/>
          </a:prstGeom>
          <a:ln w="15875">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a:cxnSpLocks/>
            <a:stCxn id="25" idx="2"/>
          </p:cNvCxnSpPr>
          <p:nvPr/>
        </p:nvCxnSpPr>
        <p:spPr>
          <a:xfrm>
            <a:off x="9798790" y="3848102"/>
            <a:ext cx="913700" cy="846120"/>
          </a:xfrm>
          <a:prstGeom prst="line">
            <a:avLst/>
          </a:prstGeom>
          <a:ln w="15875">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a:cxnSpLocks/>
            <a:stCxn id="25" idx="2"/>
          </p:cNvCxnSpPr>
          <p:nvPr/>
        </p:nvCxnSpPr>
        <p:spPr>
          <a:xfrm flipH="1">
            <a:off x="8885090" y="3848102"/>
            <a:ext cx="913700" cy="846120"/>
          </a:xfrm>
          <a:prstGeom prst="line">
            <a:avLst/>
          </a:prstGeom>
          <a:ln w="15875">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a:cxnSpLocks/>
            <a:endCxn id="35" idx="3"/>
          </p:cNvCxnSpPr>
          <p:nvPr/>
        </p:nvCxnSpPr>
        <p:spPr>
          <a:xfrm flipH="1" flipV="1">
            <a:off x="9029052" y="2956262"/>
            <a:ext cx="201168" cy="79546"/>
          </a:xfrm>
          <a:prstGeom prst="line">
            <a:avLst/>
          </a:prstGeom>
          <a:ln w="15875">
            <a:solidFill>
              <a:srgbClr val="6B7280"/>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090130" y="1562102"/>
            <a:ext cx="1417320" cy="640080"/>
          </a:xfrm>
          <a:prstGeom prst="roundRect">
            <a:avLst>
              <a:gd name="adj" fmla="val 25000"/>
            </a:avLst>
          </a:prstGeom>
          <a:solidFill>
            <a:srgbClr val="FFFFFF"/>
          </a:solidFill>
          <a:ln w="15875">
            <a:solidFill>
              <a:srgbClr val="0B1F3A"/>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dirty="0">
                <a:solidFill>
                  <a:srgbClr val="0B1F3A"/>
                </a:solidFill>
              </a:rPr>
              <a:t>Shiny Web</a:t>
            </a:r>
          </a:p>
          <a:p>
            <a:pPr algn="ctr"/>
            <a:r>
              <a:rPr sz="800" dirty="0">
                <a:solidFill>
                  <a:srgbClr val="6B7280"/>
                </a:solidFill>
              </a:rPr>
              <a:t>24 pages · RBAC</a:t>
            </a:r>
          </a:p>
        </p:txBody>
      </p:sp>
      <p:sp>
        <p:nvSpPr>
          <p:cNvPr id="32" name="Rounded Rectangle 31"/>
          <p:cNvSpPr/>
          <p:nvPr/>
        </p:nvSpPr>
        <p:spPr>
          <a:xfrm>
            <a:off x="10736844" y="2633472"/>
            <a:ext cx="1417320" cy="640080"/>
          </a:xfrm>
          <a:prstGeom prst="roundRect">
            <a:avLst>
              <a:gd name="adj" fmla="val 25000"/>
            </a:avLst>
          </a:prstGeom>
          <a:solidFill>
            <a:srgbClr val="FFFFFF"/>
          </a:solidFill>
          <a:ln w="15875">
            <a:solidFill>
              <a:srgbClr val="0B1F3A"/>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dirty="0">
                <a:solidFill>
                  <a:srgbClr val="0B1F3A"/>
                </a:solidFill>
              </a:rPr>
              <a:t>Flet Cross</a:t>
            </a:r>
          </a:p>
          <a:p>
            <a:pPr algn="ctr"/>
            <a:r>
              <a:rPr sz="800" dirty="0">
                <a:solidFill>
                  <a:srgbClr val="6B7280"/>
                </a:solidFill>
              </a:rPr>
              <a:t>Field timing</a:t>
            </a:r>
          </a:p>
        </p:txBody>
      </p:sp>
      <p:sp>
        <p:nvSpPr>
          <p:cNvPr id="33" name="Rounded Rectangle 32"/>
          <p:cNvSpPr/>
          <p:nvPr/>
        </p:nvSpPr>
        <p:spPr>
          <a:xfrm>
            <a:off x="10003830" y="4374182"/>
            <a:ext cx="1417320" cy="640080"/>
          </a:xfrm>
          <a:prstGeom prst="roundRect">
            <a:avLst>
              <a:gd name="adj" fmla="val 25000"/>
            </a:avLst>
          </a:prstGeom>
          <a:solidFill>
            <a:srgbClr val="FFFFFF"/>
          </a:solidFill>
          <a:ln w="15875">
            <a:solidFill>
              <a:srgbClr val="0B1F3A"/>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0B1F3A"/>
                </a:solidFill>
              </a:rPr>
              <a:t>FastAPI</a:t>
            </a:r>
          </a:p>
          <a:p>
            <a:pPr algn="ctr"/>
            <a:r>
              <a:rPr sz="800">
                <a:solidFill>
                  <a:srgbClr val="6B7280"/>
                </a:solidFill>
              </a:rPr>
              <a:t>REST + JWT</a:t>
            </a:r>
          </a:p>
        </p:txBody>
      </p:sp>
      <p:sp>
        <p:nvSpPr>
          <p:cNvPr id="34" name="Rounded Rectangle 33"/>
          <p:cNvSpPr/>
          <p:nvPr/>
        </p:nvSpPr>
        <p:spPr>
          <a:xfrm>
            <a:off x="8176430" y="4374182"/>
            <a:ext cx="1417320" cy="640080"/>
          </a:xfrm>
          <a:prstGeom prst="roundRect">
            <a:avLst>
              <a:gd name="adj" fmla="val 25000"/>
            </a:avLst>
          </a:prstGeom>
          <a:solidFill>
            <a:srgbClr val="FFFFFF"/>
          </a:solidFill>
          <a:ln w="15875">
            <a:solidFill>
              <a:srgbClr val="0B1F3A"/>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0B1F3A"/>
                </a:solidFill>
              </a:rPr>
              <a:t>HR Simulator</a:t>
            </a:r>
          </a:p>
          <a:p>
            <a:pPr algn="ctr"/>
            <a:r>
              <a:rPr sz="800">
                <a:solidFill>
                  <a:srgbClr val="6B7280"/>
                </a:solidFill>
              </a:rPr>
              <a:t>BEMIL stub</a:t>
            </a:r>
          </a:p>
        </p:txBody>
      </p:sp>
      <p:sp>
        <p:nvSpPr>
          <p:cNvPr id="35" name="Rounded Rectangle 34"/>
          <p:cNvSpPr/>
          <p:nvPr/>
        </p:nvSpPr>
        <p:spPr>
          <a:xfrm>
            <a:off x="7611732" y="2636222"/>
            <a:ext cx="1417320" cy="640080"/>
          </a:xfrm>
          <a:prstGeom prst="roundRect">
            <a:avLst>
              <a:gd name="adj" fmla="val 25000"/>
            </a:avLst>
          </a:prstGeom>
          <a:solidFill>
            <a:srgbClr val="FFFFFF"/>
          </a:solidFill>
          <a:ln w="15875">
            <a:solidFill>
              <a:srgbClr val="0B1F3A"/>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0B1F3A"/>
                </a:solidFill>
              </a:rPr>
              <a:t>Mailpit</a:t>
            </a:r>
          </a:p>
          <a:p>
            <a:pPr algn="ctr"/>
            <a:r>
              <a:rPr sz="800">
                <a:solidFill>
                  <a:srgbClr val="6B7280"/>
                </a:solidFill>
              </a:rPr>
              <a:t>SMTP trap</a:t>
            </a:r>
          </a:p>
        </p:txBody>
      </p:sp>
      <p:sp>
        <p:nvSpPr>
          <p:cNvPr id="40" name="TextBox 39"/>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41" name="Rounded Rectangle 40"/>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04 / 20</a:t>
            </a:r>
          </a:p>
        </p:txBody>
      </p:sp>
      <p:sp>
        <p:nvSpPr>
          <p:cNvPr id="42" name="Rectangle 41"/>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8016"/>
            <a:ext cx="10972800" cy="822960"/>
          </a:xfrm>
          <a:prstGeom prst="rect">
            <a:avLst/>
          </a:prstGeom>
          <a:noFill/>
        </p:spPr>
        <p:txBody>
          <a:bodyPr wrap="square">
            <a:spAutoFit/>
          </a:bodyPr>
          <a:lstStyle/>
          <a:p>
            <a:pPr algn="l"/>
            <a:r>
              <a:rPr sz="3000" b="1" i="0">
                <a:solidFill>
                  <a:srgbClr val="FFB700"/>
                </a:solidFill>
              </a:rPr>
              <a:t>Who Uses It?</a:t>
            </a:r>
          </a:p>
        </p:txBody>
      </p:sp>
      <p:sp>
        <p:nvSpPr>
          <p:cNvPr id="6" name="TextBox 5"/>
          <p:cNvSpPr txBox="1"/>
          <p:nvPr/>
        </p:nvSpPr>
        <p:spPr>
          <a:xfrm>
            <a:off x="457200" y="841248"/>
            <a:ext cx="10972800" cy="411480"/>
          </a:xfrm>
          <a:prstGeom prst="rect">
            <a:avLst/>
          </a:prstGeom>
          <a:noFill/>
        </p:spPr>
        <p:txBody>
          <a:bodyPr wrap="square">
            <a:spAutoFit/>
          </a:bodyPr>
          <a:lstStyle/>
          <a:p>
            <a:pPr algn="l"/>
            <a:r>
              <a:rPr sz="1300" b="0" i="1">
                <a:solidFill>
                  <a:srgbClr val="F0F4FF"/>
                </a:solidFill>
              </a:rPr>
              <a:t>6 roles — RBAC enforced at every page route</a:t>
            </a:r>
          </a:p>
        </p:txBody>
      </p:sp>
      <p:sp>
        <p:nvSpPr>
          <p:cNvPr id="7" name="Rectangle 6"/>
          <p:cNvSpPr/>
          <p:nvPr/>
        </p:nvSpPr>
        <p:spPr>
          <a:xfrm>
            <a:off x="274320" y="1371600"/>
            <a:ext cx="1645920" cy="457200"/>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426464"/>
            <a:ext cx="1554480" cy="457200"/>
          </a:xfrm>
          <a:prstGeom prst="rect">
            <a:avLst/>
          </a:prstGeom>
          <a:noFill/>
        </p:spPr>
        <p:txBody>
          <a:bodyPr wrap="square">
            <a:spAutoFit/>
          </a:bodyPr>
          <a:lstStyle/>
          <a:p>
            <a:pPr algn="l"/>
            <a:r>
              <a:rPr sz="1100" b="1" i="0">
                <a:solidFill>
                  <a:srgbClr val="0D1B3E"/>
                </a:solidFill>
              </a:rPr>
              <a:t>Role</a:t>
            </a:r>
          </a:p>
        </p:txBody>
      </p:sp>
      <p:sp>
        <p:nvSpPr>
          <p:cNvPr id="9" name="Rectangle 8"/>
          <p:cNvSpPr/>
          <p:nvPr/>
        </p:nvSpPr>
        <p:spPr>
          <a:xfrm>
            <a:off x="1920240" y="1371600"/>
            <a:ext cx="2286000" cy="457200"/>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993392" y="1426464"/>
            <a:ext cx="2194560" cy="457200"/>
          </a:xfrm>
          <a:prstGeom prst="rect">
            <a:avLst/>
          </a:prstGeom>
          <a:noFill/>
        </p:spPr>
        <p:txBody>
          <a:bodyPr wrap="square">
            <a:spAutoFit/>
          </a:bodyPr>
          <a:lstStyle/>
          <a:p>
            <a:pPr algn="l"/>
            <a:r>
              <a:rPr sz="1100" b="1" i="0">
                <a:solidFill>
                  <a:srgbClr val="0D1B3E"/>
                </a:solidFill>
              </a:rPr>
              <a:t>Who</a:t>
            </a:r>
          </a:p>
        </p:txBody>
      </p:sp>
      <p:sp>
        <p:nvSpPr>
          <p:cNvPr id="11" name="Rectangle 10"/>
          <p:cNvSpPr/>
          <p:nvPr/>
        </p:nvSpPr>
        <p:spPr>
          <a:xfrm>
            <a:off x="4297680" y="1371600"/>
            <a:ext cx="7863840" cy="457200"/>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70832" y="1426464"/>
            <a:ext cx="7772400" cy="457200"/>
          </a:xfrm>
          <a:prstGeom prst="rect">
            <a:avLst/>
          </a:prstGeom>
          <a:noFill/>
        </p:spPr>
        <p:txBody>
          <a:bodyPr wrap="square">
            <a:spAutoFit/>
          </a:bodyPr>
          <a:lstStyle/>
          <a:p>
            <a:pPr algn="l"/>
            <a:r>
              <a:rPr sz="1100" b="1" i="0">
                <a:solidFill>
                  <a:srgbClr val="0D1B3E"/>
                </a:solidFill>
              </a:rPr>
              <a:t>What they can do</a:t>
            </a:r>
          </a:p>
        </p:txBody>
      </p:sp>
      <p:sp>
        <p:nvSpPr>
          <p:cNvPr id="13" name="Rectangle 12"/>
          <p:cNvSpPr/>
          <p:nvPr/>
        </p:nvSpPr>
        <p:spPr>
          <a:xfrm>
            <a:off x="274320" y="1828800"/>
            <a:ext cx="1645920" cy="45720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883664"/>
            <a:ext cx="1554480" cy="457200"/>
          </a:xfrm>
          <a:prstGeom prst="rect">
            <a:avLst/>
          </a:prstGeom>
          <a:noFill/>
        </p:spPr>
        <p:txBody>
          <a:bodyPr wrap="square">
            <a:spAutoFit/>
          </a:bodyPr>
          <a:lstStyle/>
          <a:p>
            <a:pPr algn="l"/>
            <a:r>
              <a:rPr sz="1000" b="1" i="0">
                <a:solidFill>
                  <a:srgbClr val="FFB700"/>
                </a:solidFill>
              </a:rPr>
              <a:t>Admin</a:t>
            </a:r>
          </a:p>
        </p:txBody>
      </p:sp>
      <p:sp>
        <p:nvSpPr>
          <p:cNvPr id="15" name="Rectangle 14"/>
          <p:cNvSpPr/>
          <p:nvPr/>
        </p:nvSpPr>
        <p:spPr>
          <a:xfrm>
            <a:off x="1920240" y="1828800"/>
            <a:ext cx="2286000" cy="45720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993392" y="1883664"/>
            <a:ext cx="2194560" cy="457200"/>
          </a:xfrm>
          <a:prstGeom prst="rect">
            <a:avLst/>
          </a:prstGeom>
          <a:noFill/>
        </p:spPr>
        <p:txBody>
          <a:bodyPr wrap="square">
            <a:spAutoFit/>
          </a:bodyPr>
          <a:lstStyle/>
          <a:p>
            <a:pPr algn="l"/>
            <a:r>
              <a:rPr sz="1000" b="0" i="0">
                <a:solidFill>
                  <a:srgbClr val="FFFFFF"/>
                </a:solidFill>
              </a:rPr>
              <a:t>IT / Command staff</a:t>
            </a:r>
          </a:p>
        </p:txBody>
      </p:sp>
      <p:sp>
        <p:nvSpPr>
          <p:cNvPr id="17" name="Rectangle 16"/>
          <p:cNvSpPr/>
          <p:nvPr/>
        </p:nvSpPr>
        <p:spPr>
          <a:xfrm>
            <a:off x="4297680" y="1828800"/>
            <a:ext cx="7863840" cy="45720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70832" y="1883664"/>
            <a:ext cx="7772400" cy="457200"/>
          </a:xfrm>
          <a:prstGeom prst="rect">
            <a:avLst/>
          </a:prstGeom>
          <a:noFill/>
        </p:spPr>
        <p:txBody>
          <a:bodyPr wrap="square">
            <a:spAutoFit/>
          </a:bodyPr>
          <a:lstStyle/>
          <a:p>
            <a:pPr algn="l"/>
            <a:r>
              <a:rPr sz="1000" b="0" i="0">
                <a:solidFill>
                  <a:srgbClr val="FFFFFF"/>
                </a:solidFill>
              </a:rPr>
              <a:t>Full access: users, settings, audit logs, system health</a:t>
            </a:r>
          </a:p>
        </p:txBody>
      </p:sp>
      <p:sp>
        <p:nvSpPr>
          <p:cNvPr id="19" name="Rectangle 18"/>
          <p:cNvSpPr/>
          <p:nvPr/>
        </p:nvSpPr>
        <p:spPr>
          <a:xfrm>
            <a:off x="274320" y="2286000"/>
            <a:ext cx="1645920" cy="457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7472" y="2340864"/>
            <a:ext cx="1554480" cy="457200"/>
          </a:xfrm>
          <a:prstGeom prst="rect">
            <a:avLst/>
          </a:prstGeom>
          <a:noFill/>
        </p:spPr>
        <p:txBody>
          <a:bodyPr wrap="square">
            <a:spAutoFit/>
          </a:bodyPr>
          <a:lstStyle/>
          <a:p>
            <a:pPr algn="l"/>
            <a:r>
              <a:rPr sz="1000" b="1" i="0">
                <a:solidFill>
                  <a:srgbClr val="FFB700"/>
                </a:solidFill>
              </a:rPr>
              <a:t>PTI</a:t>
            </a:r>
          </a:p>
        </p:txBody>
      </p:sp>
      <p:sp>
        <p:nvSpPr>
          <p:cNvPr id="21" name="Rectangle 20"/>
          <p:cNvSpPr/>
          <p:nvPr/>
        </p:nvSpPr>
        <p:spPr>
          <a:xfrm>
            <a:off x="1920240" y="2286000"/>
            <a:ext cx="2286000" cy="457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993392" y="2340864"/>
            <a:ext cx="2194560" cy="457200"/>
          </a:xfrm>
          <a:prstGeom prst="rect">
            <a:avLst/>
          </a:prstGeom>
          <a:noFill/>
        </p:spPr>
        <p:txBody>
          <a:bodyPr wrap="square">
            <a:spAutoFit/>
          </a:bodyPr>
          <a:lstStyle/>
          <a:p>
            <a:pPr algn="l"/>
            <a:r>
              <a:rPr sz="1000" b="0" i="0">
                <a:solidFill>
                  <a:srgbClr val="FFFFFF"/>
                </a:solidFill>
              </a:rPr>
              <a:t>Physical Training Instructor</a:t>
            </a:r>
          </a:p>
        </p:txBody>
      </p:sp>
      <p:sp>
        <p:nvSpPr>
          <p:cNvPr id="23" name="Rectangle 22"/>
          <p:cNvSpPr/>
          <p:nvPr/>
        </p:nvSpPr>
        <p:spPr>
          <a:xfrm>
            <a:off x="4297680" y="2286000"/>
            <a:ext cx="7863840" cy="457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70832" y="2340864"/>
            <a:ext cx="7772400" cy="457200"/>
          </a:xfrm>
          <a:prstGeom prst="rect">
            <a:avLst/>
          </a:prstGeom>
          <a:noFill/>
        </p:spPr>
        <p:txBody>
          <a:bodyPr wrap="square">
            <a:spAutoFit/>
          </a:bodyPr>
          <a:lstStyle/>
          <a:p>
            <a:pPr algn="l"/>
            <a:r>
              <a:rPr sz="1000" b="0" i="0">
                <a:solidFill>
                  <a:srgbClr val="FFFFFF"/>
                </a:solidFill>
              </a:rPr>
              <a:t>Conduct tests, unit dashboard, generate PDF reports</a:t>
            </a:r>
          </a:p>
        </p:txBody>
      </p:sp>
      <p:sp>
        <p:nvSpPr>
          <p:cNvPr id="25" name="Rectangle 24"/>
          <p:cNvSpPr/>
          <p:nvPr/>
        </p:nvSpPr>
        <p:spPr>
          <a:xfrm>
            <a:off x="274320" y="2743200"/>
            <a:ext cx="1645920" cy="45720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47472" y="2798064"/>
            <a:ext cx="1554480" cy="457200"/>
          </a:xfrm>
          <a:prstGeom prst="rect">
            <a:avLst/>
          </a:prstGeom>
          <a:noFill/>
        </p:spPr>
        <p:txBody>
          <a:bodyPr wrap="square">
            <a:spAutoFit/>
          </a:bodyPr>
          <a:lstStyle/>
          <a:p>
            <a:pPr algn="l"/>
            <a:r>
              <a:rPr sz="1000" b="1" i="0">
                <a:solidFill>
                  <a:srgbClr val="FFB700"/>
                </a:solidFill>
              </a:rPr>
              <a:t>APTI</a:t>
            </a:r>
          </a:p>
        </p:txBody>
      </p:sp>
      <p:sp>
        <p:nvSpPr>
          <p:cNvPr id="27" name="Rectangle 26"/>
          <p:cNvSpPr/>
          <p:nvPr/>
        </p:nvSpPr>
        <p:spPr>
          <a:xfrm>
            <a:off x="1920240" y="2743200"/>
            <a:ext cx="2286000" cy="45720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993392" y="2798064"/>
            <a:ext cx="2194560" cy="457200"/>
          </a:xfrm>
          <a:prstGeom prst="rect">
            <a:avLst/>
          </a:prstGeom>
          <a:noFill/>
        </p:spPr>
        <p:txBody>
          <a:bodyPr wrap="square">
            <a:spAutoFit/>
          </a:bodyPr>
          <a:lstStyle/>
          <a:p>
            <a:pPr algn="l"/>
            <a:r>
              <a:rPr sz="1000" b="0" i="0">
                <a:solidFill>
                  <a:srgbClr val="FFFFFF"/>
                </a:solidFill>
              </a:rPr>
              <a:t>Assistant PTI</a:t>
            </a:r>
          </a:p>
        </p:txBody>
      </p:sp>
      <p:sp>
        <p:nvSpPr>
          <p:cNvPr id="29" name="Rectangle 28"/>
          <p:cNvSpPr/>
          <p:nvPr/>
        </p:nvSpPr>
        <p:spPr>
          <a:xfrm>
            <a:off x="4297680" y="2743200"/>
            <a:ext cx="7863840" cy="45720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370832" y="2798064"/>
            <a:ext cx="7772400" cy="457200"/>
          </a:xfrm>
          <a:prstGeom prst="rect">
            <a:avLst/>
          </a:prstGeom>
          <a:noFill/>
        </p:spPr>
        <p:txBody>
          <a:bodyPr wrap="square">
            <a:spAutoFit/>
          </a:bodyPr>
          <a:lstStyle/>
          <a:p>
            <a:pPr algn="l"/>
            <a:r>
              <a:rPr sz="1000" b="0" i="0">
                <a:solidFill>
                  <a:srgbClr val="FFFFFF"/>
                </a:solidFill>
              </a:rPr>
              <a:t>Same as PTI — assist with sessions and reporting</a:t>
            </a:r>
          </a:p>
        </p:txBody>
      </p:sp>
      <p:sp>
        <p:nvSpPr>
          <p:cNvPr id="31" name="Rectangle 30"/>
          <p:cNvSpPr/>
          <p:nvPr/>
        </p:nvSpPr>
        <p:spPr>
          <a:xfrm>
            <a:off x="274320" y="3200400"/>
            <a:ext cx="1645920" cy="457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255264"/>
            <a:ext cx="1554480" cy="457200"/>
          </a:xfrm>
          <a:prstGeom prst="rect">
            <a:avLst/>
          </a:prstGeom>
          <a:noFill/>
        </p:spPr>
        <p:txBody>
          <a:bodyPr wrap="square">
            <a:spAutoFit/>
          </a:bodyPr>
          <a:lstStyle/>
          <a:p>
            <a:pPr algn="l"/>
            <a:r>
              <a:rPr sz="1000" b="1" i="0">
                <a:solidFill>
                  <a:srgbClr val="FFB700"/>
                </a:solidFill>
              </a:rPr>
              <a:t>Planner</a:t>
            </a:r>
          </a:p>
        </p:txBody>
      </p:sp>
      <p:sp>
        <p:nvSpPr>
          <p:cNvPr id="33" name="Rectangle 32"/>
          <p:cNvSpPr/>
          <p:nvPr/>
        </p:nvSpPr>
        <p:spPr>
          <a:xfrm>
            <a:off x="1920240" y="3200400"/>
            <a:ext cx="2286000" cy="457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993392" y="3255264"/>
            <a:ext cx="2194560" cy="457200"/>
          </a:xfrm>
          <a:prstGeom prst="rect">
            <a:avLst/>
          </a:prstGeom>
          <a:noFill/>
        </p:spPr>
        <p:txBody>
          <a:bodyPr wrap="square">
            <a:spAutoFit/>
          </a:bodyPr>
          <a:lstStyle/>
          <a:p>
            <a:pPr algn="l"/>
            <a:r>
              <a:rPr sz="1000" b="0" i="0">
                <a:solidFill>
                  <a:srgbClr val="FFFFFF"/>
                </a:solidFill>
              </a:rPr>
              <a:t>Planning staff</a:t>
            </a:r>
          </a:p>
        </p:txBody>
      </p:sp>
      <p:sp>
        <p:nvSpPr>
          <p:cNvPr id="35" name="Rectangle 34"/>
          <p:cNvSpPr/>
          <p:nvPr/>
        </p:nvSpPr>
        <p:spPr>
          <a:xfrm>
            <a:off x="4297680" y="3200400"/>
            <a:ext cx="7863840" cy="457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370832" y="3255264"/>
            <a:ext cx="7772400" cy="457200"/>
          </a:xfrm>
          <a:prstGeom prst="rect">
            <a:avLst/>
          </a:prstGeom>
          <a:noFill/>
        </p:spPr>
        <p:txBody>
          <a:bodyPr wrap="square">
            <a:spAutoFit/>
          </a:bodyPr>
          <a:lstStyle/>
          <a:p>
            <a:pPr algn="l"/>
            <a:r>
              <a:rPr sz="1000" b="0" i="0">
                <a:solidFill>
                  <a:srgbClr val="FFFFFF"/>
                </a:solidFill>
              </a:rPr>
              <a:t>Manage test session scheduling only</a:t>
            </a:r>
          </a:p>
        </p:txBody>
      </p:sp>
      <p:sp>
        <p:nvSpPr>
          <p:cNvPr id="37" name="Rectangle 36"/>
          <p:cNvSpPr/>
          <p:nvPr/>
        </p:nvSpPr>
        <p:spPr>
          <a:xfrm>
            <a:off x="274320" y="3657600"/>
            <a:ext cx="1645920" cy="45720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47472" y="3712464"/>
            <a:ext cx="1554480" cy="457200"/>
          </a:xfrm>
          <a:prstGeom prst="rect">
            <a:avLst/>
          </a:prstGeom>
          <a:noFill/>
        </p:spPr>
        <p:txBody>
          <a:bodyPr wrap="square">
            <a:spAutoFit/>
          </a:bodyPr>
          <a:lstStyle/>
          <a:p>
            <a:pPr algn="l"/>
            <a:r>
              <a:rPr sz="1000" b="1" i="0">
                <a:solidFill>
                  <a:srgbClr val="FFB700"/>
                </a:solidFill>
              </a:rPr>
              <a:t>Guest</a:t>
            </a:r>
          </a:p>
        </p:txBody>
      </p:sp>
      <p:sp>
        <p:nvSpPr>
          <p:cNvPr id="39" name="Rectangle 38"/>
          <p:cNvSpPr/>
          <p:nvPr/>
        </p:nvSpPr>
        <p:spPr>
          <a:xfrm>
            <a:off x="1920240" y="3657600"/>
            <a:ext cx="2286000" cy="45720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993392" y="3712464"/>
            <a:ext cx="2194560" cy="457200"/>
          </a:xfrm>
          <a:prstGeom prst="rect">
            <a:avLst/>
          </a:prstGeom>
          <a:noFill/>
        </p:spPr>
        <p:txBody>
          <a:bodyPr wrap="square">
            <a:spAutoFit/>
          </a:bodyPr>
          <a:lstStyle/>
          <a:p>
            <a:pPr algn="l"/>
            <a:r>
              <a:rPr sz="1000" b="0" i="0">
                <a:solidFill>
                  <a:srgbClr val="FFFFFF"/>
                </a:solidFill>
              </a:rPr>
              <a:t>Unit officers</a:t>
            </a:r>
          </a:p>
        </p:txBody>
      </p:sp>
      <p:sp>
        <p:nvSpPr>
          <p:cNvPr id="41" name="Rectangle 40"/>
          <p:cNvSpPr/>
          <p:nvPr/>
        </p:nvSpPr>
        <p:spPr>
          <a:xfrm>
            <a:off x="4297680" y="3657600"/>
            <a:ext cx="7863840" cy="45720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370832" y="3712464"/>
            <a:ext cx="7772400" cy="457200"/>
          </a:xfrm>
          <a:prstGeom prst="rect">
            <a:avLst/>
          </a:prstGeom>
          <a:noFill/>
        </p:spPr>
        <p:txBody>
          <a:bodyPr wrap="square">
            <a:spAutoFit/>
          </a:bodyPr>
          <a:lstStyle/>
          <a:p>
            <a:pPr algn="l"/>
            <a:r>
              <a:rPr sz="1000" b="0" i="0">
                <a:solidFill>
                  <a:srgbClr val="FFFFFF"/>
                </a:solidFill>
              </a:rPr>
              <a:t>Read-only: unit overview, individual test history</a:t>
            </a:r>
          </a:p>
        </p:txBody>
      </p:sp>
      <p:sp>
        <p:nvSpPr>
          <p:cNvPr id="43" name="Rectangle 42"/>
          <p:cNvSpPr/>
          <p:nvPr/>
        </p:nvSpPr>
        <p:spPr>
          <a:xfrm>
            <a:off x="274320" y="4114800"/>
            <a:ext cx="1645920" cy="457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47472" y="4169664"/>
            <a:ext cx="1554480" cy="457200"/>
          </a:xfrm>
          <a:prstGeom prst="rect">
            <a:avLst/>
          </a:prstGeom>
          <a:noFill/>
        </p:spPr>
        <p:txBody>
          <a:bodyPr wrap="square">
            <a:spAutoFit/>
          </a:bodyPr>
          <a:lstStyle/>
          <a:p>
            <a:pPr algn="l"/>
            <a:r>
              <a:rPr sz="1000" b="1" i="0">
                <a:solidFill>
                  <a:srgbClr val="FFB700"/>
                </a:solidFill>
              </a:rPr>
              <a:t>User</a:t>
            </a:r>
          </a:p>
        </p:txBody>
      </p:sp>
      <p:sp>
        <p:nvSpPr>
          <p:cNvPr id="45" name="Rectangle 44"/>
          <p:cNvSpPr/>
          <p:nvPr/>
        </p:nvSpPr>
        <p:spPr>
          <a:xfrm>
            <a:off x="1920240" y="4114800"/>
            <a:ext cx="2286000" cy="457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993392" y="4169664"/>
            <a:ext cx="2194560" cy="457200"/>
          </a:xfrm>
          <a:prstGeom prst="rect">
            <a:avLst/>
          </a:prstGeom>
          <a:noFill/>
        </p:spPr>
        <p:txBody>
          <a:bodyPr wrap="square">
            <a:spAutoFit/>
          </a:bodyPr>
          <a:lstStyle/>
          <a:p>
            <a:pPr algn="l"/>
            <a:r>
              <a:rPr sz="1000" b="0" i="0">
                <a:solidFill>
                  <a:srgbClr val="FFFFFF"/>
                </a:solidFill>
              </a:rPr>
              <a:t>Serviceman</a:t>
            </a:r>
          </a:p>
        </p:txBody>
      </p:sp>
      <p:sp>
        <p:nvSpPr>
          <p:cNvPr id="47" name="Rectangle 46"/>
          <p:cNvSpPr/>
          <p:nvPr/>
        </p:nvSpPr>
        <p:spPr>
          <a:xfrm>
            <a:off x="4297680" y="4114800"/>
            <a:ext cx="7863840" cy="457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370832" y="4169664"/>
            <a:ext cx="7772400" cy="457200"/>
          </a:xfrm>
          <a:prstGeom prst="rect">
            <a:avLst/>
          </a:prstGeom>
          <a:noFill/>
        </p:spPr>
        <p:txBody>
          <a:bodyPr wrap="square">
            <a:spAutoFit/>
          </a:bodyPr>
          <a:lstStyle/>
          <a:p>
            <a:pPr algn="l"/>
            <a:r>
              <a:rPr sz="1000" b="0" i="0">
                <a:solidFill>
                  <a:srgbClr val="FFFFFF"/>
                </a:solidFill>
              </a:rPr>
              <a:t>Own history, PHEF chart, privacy self-service controls</a:t>
            </a:r>
          </a:p>
        </p:txBody>
      </p:sp>
      <p:sp>
        <p:nvSpPr>
          <p:cNvPr id="53" name="TextBox 52"/>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54" name="Rounded Rectangle 53"/>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05 / 20</a:t>
            </a:r>
          </a:p>
        </p:txBody>
      </p:sp>
      <p:sp>
        <p:nvSpPr>
          <p:cNvPr id="55" name="Rectangle 54"/>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8016"/>
            <a:ext cx="10972800" cy="822960"/>
          </a:xfrm>
          <a:prstGeom prst="rect">
            <a:avLst/>
          </a:prstGeom>
          <a:noFill/>
        </p:spPr>
        <p:txBody>
          <a:bodyPr wrap="square">
            <a:spAutoFit/>
          </a:bodyPr>
          <a:lstStyle/>
          <a:p>
            <a:pPr algn="l"/>
            <a:r>
              <a:rPr sz="3000" b="1" i="0">
                <a:solidFill>
                  <a:srgbClr val="FFB700"/>
                </a:solidFill>
              </a:rPr>
              <a:t>Fitness Test Types</a:t>
            </a:r>
          </a:p>
        </p:txBody>
      </p:sp>
      <p:sp>
        <p:nvSpPr>
          <p:cNvPr id="6" name="TextBox 5"/>
          <p:cNvSpPr txBox="1"/>
          <p:nvPr/>
        </p:nvSpPr>
        <p:spPr>
          <a:xfrm>
            <a:off x="457200" y="841248"/>
            <a:ext cx="10972800" cy="411480"/>
          </a:xfrm>
          <a:prstGeom prst="rect">
            <a:avLst/>
          </a:prstGeom>
          <a:noFill/>
        </p:spPr>
        <p:txBody>
          <a:bodyPr wrap="square">
            <a:spAutoFit/>
          </a:bodyPr>
          <a:lstStyle/>
          <a:p>
            <a:pPr algn="l"/>
            <a:r>
              <a:rPr sz="1300" b="0" i="1">
                <a:solidFill>
                  <a:srgbClr val="F0F4FF"/>
                </a:solidFill>
              </a:rPr>
              <a:t>Five test categories — one unified platform</a:t>
            </a:r>
          </a:p>
        </p:txBody>
      </p:sp>
      <p:sp>
        <p:nvSpPr>
          <p:cNvPr id="7" name="Rectangle 6"/>
          <p:cNvSpPr/>
          <p:nvPr/>
        </p:nvSpPr>
        <p:spPr>
          <a:xfrm>
            <a:off x="274320" y="1325880"/>
            <a:ext cx="438912" cy="457200"/>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362456"/>
            <a:ext cx="438912" cy="457200"/>
          </a:xfrm>
          <a:prstGeom prst="rect">
            <a:avLst/>
          </a:prstGeom>
          <a:noFill/>
        </p:spPr>
        <p:txBody>
          <a:bodyPr wrap="square">
            <a:spAutoFit/>
          </a:bodyPr>
          <a:lstStyle/>
          <a:p>
            <a:pPr algn="ctr"/>
            <a:r>
              <a:rPr sz="1800" b="1" i="0">
                <a:solidFill>
                  <a:srgbClr val="0D1B3E"/>
                </a:solidFill>
              </a:rPr>
              <a:t>1</a:t>
            </a:r>
          </a:p>
        </p:txBody>
      </p:sp>
      <p:sp>
        <p:nvSpPr>
          <p:cNvPr id="9" name="Rectangle 8"/>
          <p:cNvSpPr/>
          <p:nvPr/>
        </p:nvSpPr>
        <p:spPr>
          <a:xfrm>
            <a:off x="777240" y="1325880"/>
            <a:ext cx="2011680" cy="45720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2" y="1399032"/>
            <a:ext cx="1920240" cy="457200"/>
          </a:xfrm>
          <a:prstGeom prst="rect">
            <a:avLst/>
          </a:prstGeom>
          <a:noFill/>
        </p:spPr>
        <p:txBody>
          <a:bodyPr wrap="square">
            <a:spAutoFit/>
          </a:bodyPr>
          <a:lstStyle/>
          <a:p>
            <a:pPr algn="l"/>
            <a:r>
              <a:rPr sz="1300" b="1" i="0">
                <a:solidFill>
                  <a:srgbClr val="FFB700"/>
                </a:solidFill>
              </a:rPr>
              <a:t>PHEF</a:t>
            </a:r>
          </a:p>
        </p:txBody>
      </p:sp>
      <p:sp>
        <p:nvSpPr>
          <p:cNvPr id="11" name="TextBox 10"/>
          <p:cNvSpPr txBox="1"/>
          <p:nvPr/>
        </p:nvSpPr>
        <p:spPr>
          <a:xfrm>
            <a:off x="2880360" y="1399032"/>
            <a:ext cx="8961120" cy="457200"/>
          </a:xfrm>
          <a:prstGeom prst="rect">
            <a:avLst/>
          </a:prstGeom>
          <a:noFill/>
        </p:spPr>
        <p:txBody>
          <a:bodyPr wrap="square">
            <a:spAutoFit/>
          </a:bodyPr>
          <a:lstStyle/>
          <a:p>
            <a:pPr algn="l"/>
            <a:r>
              <a:rPr sz="1200" b="0" i="0">
                <a:solidFill>
                  <a:srgbClr val="FFFFFF"/>
                </a:solidFill>
              </a:rPr>
              <a:t>2400 m run + side bridge (L &amp; R) · scored by age/gender table · personal trend chart</a:t>
            </a:r>
          </a:p>
        </p:txBody>
      </p:sp>
      <p:sp>
        <p:nvSpPr>
          <p:cNvPr id="12" name="Rectangle 11"/>
          <p:cNvSpPr/>
          <p:nvPr/>
        </p:nvSpPr>
        <p:spPr>
          <a:xfrm>
            <a:off x="274320" y="2203704"/>
            <a:ext cx="438912" cy="457200"/>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4320" y="2240280"/>
            <a:ext cx="438912" cy="457200"/>
          </a:xfrm>
          <a:prstGeom prst="rect">
            <a:avLst/>
          </a:prstGeom>
          <a:noFill/>
        </p:spPr>
        <p:txBody>
          <a:bodyPr wrap="square">
            <a:spAutoFit/>
          </a:bodyPr>
          <a:lstStyle/>
          <a:p>
            <a:pPr algn="ctr"/>
            <a:r>
              <a:rPr sz="1800" b="1" i="0">
                <a:solidFill>
                  <a:srgbClr val="0D1B3E"/>
                </a:solidFill>
              </a:rPr>
              <a:t>2</a:t>
            </a:r>
          </a:p>
        </p:txBody>
      </p:sp>
      <p:sp>
        <p:nvSpPr>
          <p:cNvPr id="14" name="Rectangle 13"/>
          <p:cNvSpPr/>
          <p:nvPr/>
        </p:nvSpPr>
        <p:spPr>
          <a:xfrm>
            <a:off x="777240" y="2203704"/>
            <a:ext cx="2011680" cy="45720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 y="2276856"/>
            <a:ext cx="1920240" cy="457200"/>
          </a:xfrm>
          <a:prstGeom prst="rect">
            <a:avLst/>
          </a:prstGeom>
          <a:noFill/>
        </p:spPr>
        <p:txBody>
          <a:bodyPr wrap="square">
            <a:spAutoFit/>
          </a:bodyPr>
          <a:lstStyle/>
          <a:p>
            <a:pPr algn="l"/>
            <a:r>
              <a:rPr sz="1300" b="1" i="0">
                <a:solidFill>
                  <a:srgbClr val="FFB700"/>
                </a:solidFill>
              </a:rPr>
              <a:t>Functional</a:t>
            </a:r>
          </a:p>
        </p:txBody>
      </p:sp>
      <p:sp>
        <p:nvSpPr>
          <p:cNvPr id="16" name="TextBox 15"/>
          <p:cNvSpPr txBox="1"/>
          <p:nvPr/>
        </p:nvSpPr>
        <p:spPr>
          <a:xfrm>
            <a:off x="2880360" y="2276856"/>
            <a:ext cx="8961120" cy="457200"/>
          </a:xfrm>
          <a:prstGeom prst="rect">
            <a:avLst/>
          </a:prstGeom>
          <a:noFill/>
        </p:spPr>
        <p:txBody>
          <a:bodyPr wrap="square">
            <a:spAutoFit/>
          </a:bodyPr>
          <a:lstStyle/>
          <a:p>
            <a:pPr algn="l"/>
            <a:r>
              <a:rPr sz="1200" b="0" i="0">
                <a:solidFill>
                  <a:srgbClr val="FFFFFF"/>
                </a:solidFill>
              </a:rPr>
              <a:t>Push-ups · sit-ups · pull-ups — scored by rep count with age/gender categories</a:t>
            </a:r>
          </a:p>
        </p:txBody>
      </p:sp>
      <p:sp>
        <p:nvSpPr>
          <p:cNvPr id="17" name="Rectangle 16"/>
          <p:cNvSpPr/>
          <p:nvPr/>
        </p:nvSpPr>
        <p:spPr>
          <a:xfrm>
            <a:off x="274320" y="3081528"/>
            <a:ext cx="438912" cy="457200"/>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4320" y="3118104"/>
            <a:ext cx="438912" cy="457200"/>
          </a:xfrm>
          <a:prstGeom prst="rect">
            <a:avLst/>
          </a:prstGeom>
          <a:noFill/>
        </p:spPr>
        <p:txBody>
          <a:bodyPr wrap="square">
            <a:spAutoFit/>
          </a:bodyPr>
          <a:lstStyle/>
          <a:p>
            <a:pPr algn="ctr"/>
            <a:r>
              <a:rPr sz="1800" b="1" i="0">
                <a:solidFill>
                  <a:srgbClr val="0D1B3E"/>
                </a:solidFill>
              </a:rPr>
              <a:t>3</a:t>
            </a:r>
          </a:p>
        </p:txBody>
      </p:sp>
      <p:sp>
        <p:nvSpPr>
          <p:cNvPr id="19" name="Rectangle 18"/>
          <p:cNvSpPr/>
          <p:nvPr/>
        </p:nvSpPr>
        <p:spPr>
          <a:xfrm>
            <a:off x="777240" y="3081528"/>
            <a:ext cx="2011680" cy="45720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0392" y="3154680"/>
            <a:ext cx="1920240" cy="457200"/>
          </a:xfrm>
          <a:prstGeom prst="rect">
            <a:avLst/>
          </a:prstGeom>
          <a:noFill/>
        </p:spPr>
        <p:txBody>
          <a:bodyPr wrap="square">
            <a:spAutoFit/>
          </a:bodyPr>
          <a:lstStyle/>
          <a:p>
            <a:pPr algn="l"/>
            <a:r>
              <a:rPr sz="1300" b="1" i="0">
                <a:solidFill>
                  <a:srgbClr val="FFB700"/>
                </a:solidFill>
              </a:rPr>
              <a:t>Combat</a:t>
            </a:r>
          </a:p>
        </p:txBody>
      </p:sp>
      <p:sp>
        <p:nvSpPr>
          <p:cNvPr id="21" name="TextBox 20"/>
          <p:cNvSpPr txBox="1"/>
          <p:nvPr/>
        </p:nvSpPr>
        <p:spPr>
          <a:xfrm>
            <a:off x="2880360" y="3154680"/>
            <a:ext cx="8961120" cy="457200"/>
          </a:xfrm>
          <a:prstGeom prst="rect">
            <a:avLst/>
          </a:prstGeom>
          <a:noFill/>
        </p:spPr>
        <p:txBody>
          <a:bodyPr wrap="square">
            <a:spAutoFit/>
          </a:bodyPr>
          <a:lstStyle/>
          <a:p>
            <a:pPr algn="l"/>
            <a:r>
              <a:rPr sz="1200" b="0" i="0">
                <a:solidFill>
                  <a:srgbClr val="FFFFFF"/>
                </a:solidFill>
              </a:rPr>
              <a:t>Paratrooper: running time + obstacle course + rope events</a:t>
            </a:r>
          </a:p>
        </p:txBody>
      </p:sp>
      <p:sp>
        <p:nvSpPr>
          <p:cNvPr id="22" name="Rectangle 21"/>
          <p:cNvSpPr/>
          <p:nvPr/>
        </p:nvSpPr>
        <p:spPr>
          <a:xfrm>
            <a:off x="274320" y="3959352"/>
            <a:ext cx="438912" cy="457200"/>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74320" y="3995928"/>
            <a:ext cx="438912" cy="457200"/>
          </a:xfrm>
          <a:prstGeom prst="rect">
            <a:avLst/>
          </a:prstGeom>
          <a:noFill/>
        </p:spPr>
        <p:txBody>
          <a:bodyPr wrap="square">
            <a:spAutoFit/>
          </a:bodyPr>
          <a:lstStyle/>
          <a:p>
            <a:pPr algn="ctr"/>
            <a:r>
              <a:rPr sz="1800" b="1" i="0">
                <a:solidFill>
                  <a:srgbClr val="0D1B3E"/>
                </a:solidFill>
              </a:rPr>
              <a:t>4</a:t>
            </a:r>
          </a:p>
        </p:txBody>
      </p:sp>
      <p:sp>
        <p:nvSpPr>
          <p:cNvPr id="24" name="Rectangle 23"/>
          <p:cNvSpPr/>
          <p:nvPr/>
        </p:nvSpPr>
        <p:spPr>
          <a:xfrm>
            <a:off x="777240" y="3959352"/>
            <a:ext cx="2011680" cy="45720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50392" y="4032504"/>
            <a:ext cx="1920240" cy="457200"/>
          </a:xfrm>
          <a:prstGeom prst="rect">
            <a:avLst/>
          </a:prstGeom>
          <a:noFill/>
        </p:spPr>
        <p:txBody>
          <a:bodyPr wrap="square">
            <a:spAutoFit/>
          </a:bodyPr>
          <a:lstStyle/>
          <a:p>
            <a:pPr algn="l"/>
            <a:r>
              <a:rPr sz="1300" b="1" i="0">
                <a:solidFill>
                  <a:srgbClr val="FFB700"/>
                </a:solidFill>
              </a:rPr>
              <a:t>March</a:t>
            </a:r>
          </a:p>
        </p:txBody>
      </p:sp>
      <p:sp>
        <p:nvSpPr>
          <p:cNvPr id="26" name="TextBox 25"/>
          <p:cNvSpPr txBox="1"/>
          <p:nvPr/>
        </p:nvSpPr>
        <p:spPr>
          <a:xfrm>
            <a:off x="2880360" y="4032504"/>
            <a:ext cx="8961120" cy="457200"/>
          </a:xfrm>
          <a:prstGeom prst="rect">
            <a:avLst/>
          </a:prstGeom>
          <a:noFill/>
        </p:spPr>
        <p:txBody>
          <a:bodyPr wrap="square">
            <a:spAutoFit/>
          </a:bodyPr>
          <a:lstStyle/>
          <a:p>
            <a:pPr algn="l"/>
            <a:r>
              <a:rPr sz="1200" b="0" i="0">
                <a:solidFill>
                  <a:srgbClr val="FFFFFF"/>
                </a:solidFill>
              </a:rPr>
              <a:t>Long-distance endurance (configurable km, default 30) · pass/fail + grade</a:t>
            </a:r>
          </a:p>
        </p:txBody>
      </p:sp>
      <p:sp>
        <p:nvSpPr>
          <p:cNvPr id="27" name="Rectangle 26"/>
          <p:cNvSpPr/>
          <p:nvPr/>
        </p:nvSpPr>
        <p:spPr>
          <a:xfrm>
            <a:off x="274320" y="4837176"/>
            <a:ext cx="438912" cy="457200"/>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4320" y="4873752"/>
            <a:ext cx="438912" cy="457200"/>
          </a:xfrm>
          <a:prstGeom prst="rect">
            <a:avLst/>
          </a:prstGeom>
          <a:noFill/>
        </p:spPr>
        <p:txBody>
          <a:bodyPr wrap="square">
            <a:spAutoFit/>
          </a:bodyPr>
          <a:lstStyle/>
          <a:p>
            <a:pPr algn="ctr"/>
            <a:r>
              <a:rPr sz="1800" b="1" i="0">
                <a:solidFill>
                  <a:srgbClr val="0D1B3E"/>
                </a:solidFill>
              </a:rPr>
              <a:t>5</a:t>
            </a:r>
          </a:p>
        </p:txBody>
      </p:sp>
      <p:sp>
        <p:nvSpPr>
          <p:cNvPr id="29" name="Rectangle 28"/>
          <p:cNvSpPr/>
          <p:nvPr/>
        </p:nvSpPr>
        <p:spPr>
          <a:xfrm>
            <a:off x="777240" y="4837176"/>
            <a:ext cx="2011680" cy="45720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0392" y="4910328"/>
            <a:ext cx="1920240" cy="457200"/>
          </a:xfrm>
          <a:prstGeom prst="rect">
            <a:avLst/>
          </a:prstGeom>
          <a:noFill/>
        </p:spPr>
        <p:txBody>
          <a:bodyPr wrap="square">
            <a:spAutoFit/>
          </a:bodyPr>
          <a:lstStyle/>
          <a:p>
            <a:pPr algn="l"/>
            <a:r>
              <a:rPr sz="1300" b="1" i="0">
                <a:solidFill>
                  <a:srgbClr val="FFB700"/>
                </a:solidFill>
              </a:rPr>
              <a:t>Cross/Run</a:t>
            </a:r>
          </a:p>
        </p:txBody>
      </p:sp>
      <p:sp>
        <p:nvSpPr>
          <p:cNvPr id="31" name="TextBox 30"/>
          <p:cNvSpPr txBox="1"/>
          <p:nvPr/>
        </p:nvSpPr>
        <p:spPr>
          <a:xfrm>
            <a:off x="2880360" y="4910328"/>
            <a:ext cx="8961120" cy="457200"/>
          </a:xfrm>
          <a:prstGeom prst="rect">
            <a:avLst/>
          </a:prstGeom>
          <a:noFill/>
        </p:spPr>
        <p:txBody>
          <a:bodyPr wrap="square">
            <a:spAutoFit/>
          </a:bodyPr>
          <a:lstStyle/>
          <a:p>
            <a:pPr algn="l"/>
            <a:r>
              <a:rPr sz="1200" b="0" i="0">
                <a:solidFill>
                  <a:srgbClr val="FFFFFF"/>
                </a:solidFill>
              </a:rPr>
              <a:t>Full event lifecycle · Chronos XML bulk import · Flet field timer integration</a:t>
            </a:r>
          </a:p>
        </p:txBody>
      </p:sp>
      <p:sp>
        <p:nvSpPr>
          <p:cNvPr id="36" name="TextBox 35"/>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37" name="Rounded Rectangle 36"/>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06 / 20</a:t>
            </a:r>
          </a:p>
        </p:txBody>
      </p:sp>
      <p:sp>
        <p:nvSpPr>
          <p:cNvPr id="38" name="Rectangle 37"/>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Rectangle 150"/>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ectangle 149"/>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ectangle 148"/>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Rectangle 147"/>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8016"/>
            <a:ext cx="10972800" cy="822960"/>
          </a:xfrm>
          <a:prstGeom prst="rect">
            <a:avLst/>
          </a:prstGeom>
          <a:noFill/>
        </p:spPr>
        <p:txBody>
          <a:bodyPr wrap="square">
            <a:spAutoFit/>
          </a:bodyPr>
          <a:lstStyle/>
          <a:p>
            <a:pPr algn="l"/>
            <a:r>
              <a:rPr sz="3000" b="1" i="0">
                <a:solidFill>
                  <a:srgbClr val="FFB700"/>
                </a:solidFill>
              </a:rPr>
              <a:t>Agile Methodology</a:t>
            </a:r>
          </a:p>
        </p:txBody>
      </p:sp>
      <p:sp>
        <p:nvSpPr>
          <p:cNvPr id="6" name="TextBox 5"/>
          <p:cNvSpPr txBox="1"/>
          <p:nvPr/>
        </p:nvSpPr>
        <p:spPr>
          <a:xfrm>
            <a:off x="457200" y="841248"/>
            <a:ext cx="10972800" cy="411480"/>
          </a:xfrm>
          <a:prstGeom prst="rect">
            <a:avLst/>
          </a:prstGeom>
          <a:noFill/>
        </p:spPr>
        <p:txBody>
          <a:bodyPr wrap="square">
            <a:spAutoFit/>
          </a:bodyPr>
          <a:lstStyle/>
          <a:p>
            <a:pPr algn="l"/>
            <a:r>
              <a:rPr sz="1300" b="0" i="1">
                <a:solidFill>
                  <a:srgbClr val="F0F4FF"/>
                </a:solidFill>
              </a:rPr>
              <a:t>User-story driven development — 20 epics, 80 stories, 231 story points</a:t>
            </a:r>
          </a:p>
        </p:txBody>
      </p:sp>
      <p:sp>
        <p:nvSpPr>
          <p:cNvPr id="7" name="TextBox 6"/>
          <p:cNvSpPr txBox="1"/>
          <p:nvPr/>
        </p:nvSpPr>
        <p:spPr>
          <a:xfrm>
            <a:off x="365760" y="1325880"/>
            <a:ext cx="5029200" cy="365760"/>
          </a:xfrm>
          <a:prstGeom prst="rect">
            <a:avLst/>
          </a:prstGeom>
          <a:noFill/>
        </p:spPr>
        <p:txBody>
          <a:bodyPr wrap="square">
            <a:spAutoFit/>
          </a:bodyPr>
          <a:lstStyle/>
          <a:p>
            <a:pPr algn="l"/>
            <a:r>
              <a:rPr sz="1300" b="1" i="0">
                <a:solidFill>
                  <a:srgbClr val="FFB700"/>
                </a:solidFill>
              </a:rPr>
              <a:t>Story Point Scale</a:t>
            </a:r>
          </a:p>
        </p:txBody>
      </p:sp>
      <p:sp>
        <p:nvSpPr>
          <p:cNvPr id="8" name="TextBox 7"/>
          <p:cNvSpPr txBox="1"/>
          <p:nvPr/>
        </p:nvSpPr>
        <p:spPr>
          <a:xfrm>
            <a:off x="548640" y="1719072"/>
            <a:ext cx="4114800" cy="347472"/>
          </a:xfrm>
          <a:prstGeom prst="rect">
            <a:avLst/>
          </a:prstGeom>
          <a:noFill/>
        </p:spPr>
        <p:txBody>
          <a:bodyPr wrap="square">
            <a:spAutoFit/>
          </a:bodyPr>
          <a:lstStyle/>
          <a:p>
            <a:pPr algn="l"/>
            <a:r>
              <a:rPr sz="1150" b="0" i="0">
                <a:solidFill>
                  <a:srgbClr val="F0F4FF"/>
                </a:solidFill>
              </a:rPr>
              <a:t>1 pt  =  2–4 hours</a:t>
            </a:r>
          </a:p>
        </p:txBody>
      </p:sp>
      <p:sp>
        <p:nvSpPr>
          <p:cNvPr id="9" name="TextBox 8"/>
          <p:cNvSpPr txBox="1"/>
          <p:nvPr/>
        </p:nvSpPr>
        <p:spPr>
          <a:xfrm>
            <a:off x="548640" y="2103120"/>
            <a:ext cx="4114800" cy="347472"/>
          </a:xfrm>
          <a:prstGeom prst="rect">
            <a:avLst/>
          </a:prstGeom>
          <a:noFill/>
        </p:spPr>
        <p:txBody>
          <a:bodyPr wrap="square">
            <a:spAutoFit/>
          </a:bodyPr>
          <a:lstStyle/>
          <a:p>
            <a:pPr algn="l"/>
            <a:r>
              <a:rPr sz="1150" b="0" i="0">
                <a:solidFill>
                  <a:srgbClr val="F0F4FF"/>
                </a:solidFill>
              </a:rPr>
              <a:t>2 pts  =  4–8 hours</a:t>
            </a:r>
          </a:p>
        </p:txBody>
      </p:sp>
      <p:sp>
        <p:nvSpPr>
          <p:cNvPr id="10" name="TextBox 9"/>
          <p:cNvSpPr txBox="1"/>
          <p:nvPr/>
        </p:nvSpPr>
        <p:spPr>
          <a:xfrm>
            <a:off x="548640" y="2487168"/>
            <a:ext cx="4114800" cy="347472"/>
          </a:xfrm>
          <a:prstGeom prst="rect">
            <a:avLst/>
          </a:prstGeom>
          <a:noFill/>
        </p:spPr>
        <p:txBody>
          <a:bodyPr wrap="square">
            <a:spAutoFit/>
          </a:bodyPr>
          <a:lstStyle/>
          <a:p>
            <a:pPr algn="l"/>
            <a:r>
              <a:rPr sz="1150" b="0" i="0">
                <a:solidFill>
                  <a:srgbClr val="F0F4FF"/>
                </a:solidFill>
              </a:rPr>
              <a:t>3 pts  =  1–2 days</a:t>
            </a:r>
          </a:p>
        </p:txBody>
      </p:sp>
      <p:sp>
        <p:nvSpPr>
          <p:cNvPr id="11" name="TextBox 10"/>
          <p:cNvSpPr txBox="1"/>
          <p:nvPr/>
        </p:nvSpPr>
        <p:spPr>
          <a:xfrm>
            <a:off x="548640" y="2871216"/>
            <a:ext cx="4114800" cy="347472"/>
          </a:xfrm>
          <a:prstGeom prst="rect">
            <a:avLst/>
          </a:prstGeom>
          <a:noFill/>
        </p:spPr>
        <p:txBody>
          <a:bodyPr wrap="square">
            <a:spAutoFit/>
          </a:bodyPr>
          <a:lstStyle/>
          <a:p>
            <a:pPr algn="l"/>
            <a:r>
              <a:rPr sz="1150" b="0" i="0">
                <a:solidFill>
                  <a:srgbClr val="F0F4FF"/>
                </a:solidFill>
              </a:rPr>
              <a:t>5 pts  =  2–3 days</a:t>
            </a:r>
          </a:p>
        </p:txBody>
      </p:sp>
      <p:sp>
        <p:nvSpPr>
          <p:cNvPr id="12" name="TextBox 11"/>
          <p:cNvSpPr txBox="1"/>
          <p:nvPr/>
        </p:nvSpPr>
        <p:spPr>
          <a:xfrm>
            <a:off x="548640" y="3255264"/>
            <a:ext cx="4114800" cy="347472"/>
          </a:xfrm>
          <a:prstGeom prst="rect">
            <a:avLst/>
          </a:prstGeom>
          <a:noFill/>
        </p:spPr>
        <p:txBody>
          <a:bodyPr wrap="square">
            <a:spAutoFit/>
          </a:bodyPr>
          <a:lstStyle/>
          <a:p>
            <a:pPr algn="l"/>
            <a:r>
              <a:rPr sz="1150" b="0" i="0">
                <a:solidFill>
                  <a:srgbClr val="F0F4FF"/>
                </a:solidFill>
              </a:rPr>
              <a:t>8 pts  =  3–5 days</a:t>
            </a:r>
          </a:p>
        </p:txBody>
      </p:sp>
      <p:sp>
        <p:nvSpPr>
          <p:cNvPr id="13" name="Rectangle 12"/>
          <p:cNvSpPr/>
          <p:nvPr/>
        </p:nvSpPr>
        <p:spPr>
          <a:xfrm>
            <a:off x="4846320" y="1325880"/>
            <a:ext cx="411480" cy="33832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9472" y="1380744"/>
            <a:ext cx="320040" cy="338328"/>
          </a:xfrm>
          <a:prstGeom prst="rect">
            <a:avLst/>
          </a:prstGeom>
          <a:noFill/>
        </p:spPr>
        <p:txBody>
          <a:bodyPr wrap="square">
            <a:spAutoFit/>
          </a:bodyPr>
          <a:lstStyle/>
          <a:p>
            <a:pPr algn="l"/>
            <a:r>
              <a:rPr sz="1100" b="1" i="0">
                <a:solidFill>
                  <a:srgbClr val="0D1B3E"/>
                </a:solidFill>
              </a:rPr>
              <a:t>#</a:t>
            </a:r>
          </a:p>
        </p:txBody>
      </p:sp>
      <p:sp>
        <p:nvSpPr>
          <p:cNvPr id="15" name="Rectangle 14"/>
          <p:cNvSpPr/>
          <p:nvPr/>
        </p:nvSpPr>
        <p:spPr>
          <a:xfrm>
            <a:off x="5257800" y="1325880"/>
            <a:ext cx="2743200" cy="33832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30952" y="1380744"/>
            <a:ext cx="2651760" cy="338328"/>
          </a:xfrm>
          <a:prstGeom prst="rect">
            <a:avLst/>
          </a:prstGeom>
          <a:noFill/>
        </p:spPr>
        <p:txBody>
          <a:bodyPr wrap="square">
            <a:spAutoFit/>
          </a:bodyPr>
          <a:lstStyle/>
          <a:p>
            <a:pPr algn="l"/>
            <a:r>
              <a:rPr sz="1100" b="1" i="0">
                <a:solidFill>
                  <a:srgbClr val="0D1B3E"/>
                </a:solidFill>
              </a:rPr>
              <a:t>Epic</a:t>
            </a:r>
          </a:p>
        </p:txBody>
      </p:sp>
      <p:sp>
        <p:nvSpPr>
          <p:cNvPr id="17" name="Rectangle 16"/>
          <p:cNvSpPr/>
          <p:nvPr/>
        </p:nvSpPr>
        <p:spPr>
          <a:xfrm>
            <a:off x="8001000" y="1325880"/>
            <a:ext cx="594360" cy="33832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74152" y="1380744"/>
            <a:ext cx="502920" cy="338328"/>
          </a:xfrm>
          <a:prstGeom prst="rect">
            <a:avLst/>
          </a:prstGeom>
          <a:noFill/>
        </p:spPr>
        <p:txBody>
          <a:bodyPr wrap="square">
            <a:spAutoFit/>
          </a:bodyPr>
          <a:lstStyle/>
          <a:p>
            <a:pPr algn="l"/>
            <a:r>
              <a:rPr sz="1100" b="1" i="0">
                <a:solidFill>
                  <a:srgbClr val="0D1B3E"/>
                </a:solidFill>
              </a:rPr>
              <a:t>Pts</a:t>
            </a:r>
          </a:p>
        </p:txBody>
      </p:sp>
      <p:sp>
        <p:nvSpPr>
          <p:cNvPr id="19" name="Rectangle 18"/>
          <p:cNvSpPr/>
          <p:nvPr/>
        </p:nvSpPr>
        <p:spPr>
          <a:xfrm>
            <a:off x="4846320" y="1664208"/>
            <a:ext cx="41148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19472" y="1719072"/>
            <a:ext cx="320040" cy="338328"/>
          </a:xfrm>
          <a:prstGeom prst="rect">
            <a:avLst/>
          </a:prstGeom>
          <a:noFill/>
        </p:spPr>
        <p:txBody>
          <a:bodyPr wrap="square">
            <a:spAutoFit/>
          </a:bodyPr>
          <a:lstStyle/>
          <a:p>
            <a:pPr algn="l"/>
            <a:r>
              <a:rPr sz="1000" b="0" i="0">
                <a:solidFill>
                  <a:srgbClr val="FFFFFF"/>
                </a:solidFill>
              </a:rPr>
              <a:t>1</a:t>
            </a:r>
          </a:p>
        </p:txBody>
      </p:sp>
      <p:sp>
        <p:nvSpPr>
          <p:cNvPr id="21" name="Rectangle 20"/>
          <p:cNvSpPr/>
          <p:nvPr/>
        </p:nvSpPr>
        <p:spPr>
          <a:xfrm>
            <a:off x="5257800" y="1664208"/>
            <a:ext cx="274320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30952" y="1719072"/>
            <a:ext cx="2651760" cy="338328"/>
          </a:xfrm>
          <a:prstGeom prst="rect">
            <a:avLst/>
          </a:prstGeom>
          <a:noFill/>
        </p:spPr>
        <p:txBody>
          <a:bodyPr wrap="square">
            <a:spAutoFit/>
          </a:bodyPr>
          <a:lstStyle/>
          <a:p>
            <a:pPr algn="l"/>
            <a:r>
              <a:rPr sz="1000" b="0" i="0">
                <a:solidFill>
                  <a:srgbClr val="FFFFFF"/>
                </a:solidFill>
              </a:rPr>
              <a:t>User Management</a:t>
            </a:r>
          </a:p>
        </p:txBody>
      </p:sp>
      <p:sp>
        <p:nvSpPr>
          <p:cNvPr id="23" name="Rectangle 22"/>
          <p:cNvSpPr/>
          <p:nvPr/>
        </p:nvSpPr>
        <p:spPr>
          <a:xfrm>
            <a:off x="8001000" y="1664208"/>
            <a:ext cx="59436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74152" y="1719072"/>
            <a:ext cx="502920" cy="338328"/>
          </a:xfrm>
          <a:prstGeom prst="rect">
            <a:avLst/>
          </a:prstGeom>
          <a:noFill/>
        </p:spPr>
        <p:txBody>
          <a:bodyPr wrap="square">
            <a:spAutoFit/>
          </a:bodyPr>
          <a:lstStyle/>
          <a:p>
            <a:pPr algn="l"/>
            <a:r>
              <a:rPr sz="1000" b="0" i="0">
                <a:solidFill>
                  <a:srgbClr val="FFFFFF"/>
                </a:solidFill>
              </a:rPr>
              <a:t>18</a:t>
            </a:r>
          </a:p>
        </p:txBody>
      </p:sp>
      <p:sp>
        <p:nvSpPr>
          <p:cNvPr id="25" name="Rectangle 24"/>
          <p:cNvSpPr/>
          <p:nvPr/>
        </p:nvSpPr>
        <p:spPr>
          <a:xfrm>
            <a:off x="4846320" y="2002536"/>
            <a:ext cx="41148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919472" y="2057400"/>
            <a:ext cx="320040" cy="338328"/>
          </a:xfrm>
          <a:prstGeom prst="rect">
            <a:avLst/>
          </a:prstGeom>
          <a:noFill/>
        </p:spPr>
        <p:txBody>
          <a:bodyPr wrap="square">
            <a:spAutoFit/>
          </a:bodyPr>
          <a:lstStyle/>
          <a:p>
            <a:pPr algn="l"/>
            <a:r>
              <a:rPr sz="1000" b="0" i="0">
                <a:solidFill>
                  <a:srgbClr val="FFFFFF"/>
                </a:solidFill>
              </a:rPr>
              <a:t>2</a:t>
            </a:r>
          </a:p>
        </p:txBody>
      </p:sp>
      <p:sp>
        <p:nvSpPr>
          <p:cNvPr id="27" name="Rectangle 26"/>
          <p:cNvSpPr/>
          <p:nvPr/>
        </p:nvSpPr>
        <p:spPr>
          <a:xfrm>
            <a:off x="5257800" y="2002536"/>
            <a:ext cx="274320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30952" y="2057400"/>
            <a:ext cx="2651760" cy="338328"/>
          </a:xfrm>
          <a:prstGeom prst="rect">
            <a:avLst/>
          </a:prstGeom>
          <a:noFill/>
        </p:spPr>
        <p:txBody>
          <a:bodyPr wrap="square">
            <a:spAutoFit/>
          </a:bodyPr>
          <a:lstStyle/>
          <a:p>
            <a:pPr algn="l"/>
            <a:r>
              <a:rPr sz="1000" b="0" i="0">
                <a:solidFill>
                  <a:srgbClr val="FFFFFF"/>
                </a:solidFill>
              </a:rPr>
              <a:t>Test Session Planning</a:t>
            </a:r>
          </a:p>
        </p:txBody>
      </p:sp>
      <p:sp>
        <p:nvSpPr>
          <p:cNvPr id="29" name="Rectangle 28"/>
          <p:cNvSpPr/>
          <p:nvPr/>
        </p:nvSpPr>
        <p:spPr>
          <a:xfrm>
            <a:off x="8001000" y="2002536"/>
            <a:ext cx="59436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74152" y="2057400"/>
            <a:ext cx="502920" cy="338328"/>
          </a:xfrm>
          <a:prstGeom prst="rect">
            <a:avLst/>
          </a:prstGeom>
          <a:noFill/>
        </p:spPr>
        <p:txBody>
          <a:bodyPr wrap="square">
            <a:spAutoFit/>
          </a:bodyPr>
          <a:lstStyle/>
          <a:p>
            <a:pPr algn="l"/>
            <a:r>
              <a:rPr sz="1000" b="0" i="0">
                <a:solidFill>
                  <a:srgbClr val="FFFFFF"/>
                </a:solidFill>
              </a:rPr>
              <a:t>15</a:t>
            </a:r>
          </a:p>
        </p:txBody>
      </p:sp>
      <p:sp>
        <p:nvSpPr>
          <p:cNvPr id="31" name="Rectangle 30"/>
          <p:cNvSpPr/>
          <p:nvPr/>
        </p:nvSpPr>
        <p:spPr>
          <a:xfrm>
            <a:off x="4846320" y="2340864"/>
            <a:ext cx="41148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919472" y="2395728"/>
            <a:ext cx="320040" cy="338328"/>
          </a:xfrm>
          <a:prstGeom prst="rect">
            <a:avLst/>
          </a:prstGeom>
          <a:noFill/>
        </p:spPr>
        <p:txBody>
          <a:bodyPr wrap="square">
            <a:spAutoFit/>
          </a:bodyPr>
          <a:lstStyle/>
          <a:p>
            <a:pPr algn="l"/>
            <a:r>
              <a:rPr sz="1000" b="0" i="0">
                <a:solidFill>
                  <a:srgbClr val="FFFFFF"/>
                </a:solidFill>
              </a:rPr>
              <a:t>3</a:t>
            </a:r>
          </a:p>
        </p:txBody>
      </p:sp>
      <p:sp>
        <p:nvSpPr>
          <p:cNvPr id="33" name="Rectangle 32"/>
          <p:cNvSpPr/>
          <p:nvPr/>
        </p:nvSpPr>
        <p:spPr>
          <a:xfrm>
            <a:off x="5257800" y="2340864"/>
            <a:ext cx="274320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330952" y="2395728"/>
            <a:ext cx="2651760" cy="338328"/>
          </a:xfrm>
          <a:prstGeom prst="rect">
            <a:avLst/>
          </a:prstGeom>
          <a:noFill/>
        </p:spPr>
        <p:txBody>
          <a:bodyPr wrap="square">
            <a:spAutoFit/>
          </a:bodyPr>
          <a:lstStyle/>
          <a:p>
            <a:pPr algn="l"/>
            <a:r>
              <a:rPr sz="1000" b="0" i="0">
                <a:solidFill>
                  <a:srgbClr val="FFFFFF"/>
                </a:solidFill>
              </a:rPr>
              <a:t>PHEF Test Input</a:t>
            </a:r>
          </a:p>
        </p:txBody>
      </p:sp>
      <p:sp>
        <p:nvSpPr>
          <p:cNvPr id="35" name="Rectangle 34"/>
          <p:cNvSpPr/>
          <p:nvPr/>
        </p:nvSpPr>
        <p:spPr>
          <a:xfrm>
            <a:off x="8001000" y="2340864"/>
            <a:ext cx="59436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074152" y="2395728"/>
            <a:ext cx="502920" cy="338328"/>
          </a:xfrm>
          <a:prstGeom prst="rect">
            <a:avLst/>
          </a:prstGeom>
          <a:noFill/>
        </p:spPr>
        <p:txBody>
          <a:bodyPr wrap="square">
            <a:spAutoFit/>
          </a:bodyPr>
          <a:lstStyle/>
          <a:p>
            <a:pPr algn="l"/>
            <a:r>
              <a:rPr sz="1000" b="0" i="0">
                <a:solidFill>
                  <a:srgbClr val="FFFFFF"/>
                </a:solidFill>
              </a:rPr>
              <a:t>18</a:t>
            </a:r>
          </a:p>
        </p:txBody>
      </p:sp>
      <p:sp>
        <p:nvSpPr>
          <p:cNvPr id="37" name="Rectangle 36"/>
          <p:cNvSpPr/>
          <p:nvPr/>
        </p:nvSpPr>
        <p:spPr>
          <a:xfrm>
            <a:off x="4846320" y="2679192"/>
            <a:ext cx="41148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919472" y="2734056"/>
            <a:ext cx="320040" cy="338328"/>
          </a:xfrm>
          <a:prstGeom prst="rect">
            <a:avLst/>
          </a:prstGeom>
          <a:noFill/>
        </p:spPr>
        <p:txBody>
          <a:bodyPr wrap="square">
            <a:spAutoFit/>
          </a:bodyPr>
          <a:lstStyle/>
          <a:p>
            <a:pPr algn="l"/>
            <a:r>
              <a:rPr sz="1000" b="0" i="0">
                <a:solidFill>
                  <a:srgbClr val="FFFFFF"/>
                </a:solidFill>
              </a:rPr>
              <a:t>4</a:t>
            </a:r>
          </a:p>
        </p:txBody>
      </p:sp>
      <p:sp>
        <p:nvSpPr>
          <p:cNvPr id="39" name="Rectangle 38"/>
          <p:cNvSpPr/>
          <p:nvPr/>
        </p:nvSpPr>
        <p:spPr>
          <a:xfrm>
            <a:off x="5257800" y="2679192"/>
            <a:ext cx="274320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330952" y="2734056"/>
            <a:ext cx="2651760" cy="338328"/>
          </a:xfrm>
          <a:prstGeom prst="rect">
            <a:avLst/>
          </a:prstGeom>
          <a:noFill/>
        </p:spPr>
        <p:txBody>
          <a:bodyPr wrap="square">
            <a:spAutoFit/>
          </a:bodyPr>
          <a:lstStyle/>
          <a:p>
            <a:pPr algn="l"/>
            <a:r>
              <a:rPr sz="1000" b="0" i="0">
                <a:solidFill>
                  <a:srgbClr val="FFFFFF"/>
                </a:solidFill>
              </a:rPr>
              <a:t>Combat Test Input</a:t>
            </a:r>
          </a:p>
        </p:txBody>
      </p:sp>
      <p:sp>
        <p:nvSpPr>
          <p:cNvPr id="41" name="Rectangle 40"/>
          <p:cNvSpPr/>
          <p:nvPr/>
        </p:nvSpPr>
        <p:spPr>
          <a:xfrm>
            <a:off x="8001000" y="2679192"/>
            <a:ext cx="59436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074152" y="2734056"/>
            <a:ext cx="502920" cy="338328"/>
          </a:xfrm>
          <a:prstGeom prst="rect">
            <a:avLst/>
          </a:prstGeom>
          <a:noFill/>
        </p:spPr>
        <p:txBody>
          <a:bodyPr wrap="square">
            <a:spAutoFit/>
          </a:bodyPr>
          <a:lstStyle/>
          <a:p>
            <a:pPr algn="l"/>
            <a:r>
              <a:rPr sz="1000" b="0" i="0">
                <a:solidFill>
                  <a:srgbClr val="FFFFFF"/>
                </a:solidFill>
              </a:rPr>
              <a:t>10</a:t>
            </a:r>
          </a:p>
        </p:txBody>
      </p:sp>
      <p:sp>
        <p:nvSpPr>
          <p:cNvPr id="43" name="Rectangle 42"/>
          <p:cNvSpPr/>
          <p:nvPr/>
        </p:nvSpPr>
        <p:spPr>
          <a:xfrm>
            <a:off x="4846320" y="3017520"/>
            <a:ext cx="41148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919472" y="3072384"/>
            <a:ext cx="320040" cy="338328"/>
          </a:xfrm>
          <a:prstGeom prst="rect">
            <a:avLst/>
          </a:prstGeom>
          <a:noFill/>
        </p:spPr>
        <p:txBody>
          <a:bodyPr wrap="square">
            <a:spAutoFit/>
          </a:bodyPr>
          <a:lstStyle/>
          <a:p>
            <a:pPr algn="l"/>
            <a:r>
              <a:rPr sz="1000" b="0" i="0">
                <a:solidFill>
                  <a:srgbClr val="FFFFFF"/>
                </a:solidFill>
              </a:rPr>
              <a:t>5</a:t>
            </a:r>
          </a:p>
        </p:txBody>
      </p:sp>
      <p:sp>
        <p:nvSpPr>
          <p:cNvPr id="45" name="Rectangle 44"/>
          <p:cNvSpPr/>
          <p:nvPr/>
        </p:nvSpPr>
        <p:spPr>
          <a:xfrm>
            <a:off x="5257800" y="3017520"/>
            <a:ext cx="274320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330952" y="3072384"/>
            <a:ext cx="2651760" cy="338328"/>
          </a:xfrm>
          <a:prstGeom prst="rect">
            <a:avLst/>
          </a:prstGeom>
          <a:noFill/>
        </p:spPr>
        <p:txBody>
          <a:bodyPr wrap="square">
            <a:spAutoFit/>
          </a:bodyPr>
          <a:lstStyle/>
          <a:p>
            <a:pPr algn="l"/>
            <a:r>
              <a:rPr sz="1000" b="0" i="0">
                <a:solidFill>
                  <a:srgbClr val="FFFFFF"/>
                </a:solidFill>
              </a:rPr>
              <a:t>Swimming Test Input</a:t>
            </a:r>
          </a:p>
        </p:txBody>
      </p:sp>
      <p:sp>
        <p:nvSpPr>
          <p:cNvPr id="47" name="Rectangle 46"/>
          <p:cNvSpPr/>
          <p:nvPr/>
        </p:nvSpPr>
        <p:spPr>
          <a:xfrm>
            <a:off x="8001000" y="3017520"/>
            <a:ext cx="59436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074152" y="3072384"/>
            <a:ext cx="502920" cy="338328"/>
          </a:xfrm>
          <a:prstGeom prst="rect">
            <a:avLst/>
          </a:prstGeom>
          <a:noFill/>
        </p:spPr>
        <p:txBody>
          <a:bodyPr wrap="square">
            <a:spAutoFit/>
          </a:bodyPr>
          <a:lstStyle/>
          <a:p>
            <a:pPr algn="l"/>
            <a:r>
              <a:rPr sz="1000" b="0" i="0">
                <a:solidFill>
                  <a:srgbClr val="FFFFFF"/>
                </a:solidFill>
              </a:rPr>
              <a:t>7</a:t>
            </a:r>
          </a:p>
        </p:txBody>
      </p:sp>
      <p:sp>
        <p:nvSpPr>
          <p:cNvPr id="49" name="Rectangle 48"/>
          <p:cNvSpPr/>
          <p:nvPr/>
        </p:nvSpPr>
        <p:spPr>
          <a:xfrm>
            <a:off x="4846320" y="3355848"/>
            <a:ext cx="41148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919472" y="3410712"/>
            <a:ext cx="320040" cy="338328"/>
          </a:xfrm>
          <a:prstGeom prst="rect">
            <a:avLst/>
          </a:prstGeom>
          <a:noFill/>
        </p:spPr>
        <p:txBody>
          <a:bodyPr wrap="square">
            <a:spAutoFit/>
          </a:bodyPr>
          <a:lstStyle/>
          <a:p>
            <a:pPr algn="l"/>
            <a:r>
              <a:rPr sz="1000" b="0" i="0">
                <a:solidFill>
                  <a:srgbClr val="FFFFFF"/>
                </a:solidFill>
              </a:rPr>
              <a:t>6</a:t>
            </a:r>
          </a:p>
        </p:txBody>
      </p:sp>
      <p:sp>
        <p:nvSpPr>
          <p:cNvPr id="51" name="Rectangle 50"/>
          <p:cNvSpPr/>
          <p:nvPr/>
        </p:nvSpPr>
        <p:spPr>
          <a:xfrm>
            <a:off x="5257800" y="3355848"/>
            <a:ext cx="274320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330952" y="3410712"/>
            <a:ext cx="2651760" cy="338328"/>
          </a:xfrm>
          <a:prstGeom prst="rect">
            <a:avLst/>
          </a:prstGeom>
          <a:noFill/>
        </p:spPr>
        <p:txBody>
          <a:bodyPr wrap="square">
            <a:spAutoFit/>
          </a:bodyPr>
          <a:lstStyle/>
          <a:p>
            <a:pPr algn="l"/>
            <a:r>
              <a:rPr sz="1000" b="0" i="0">
                <a:solidFill>
                  <a:srgbClr val="FFFFFF"/>
                </a:solidFill>
              </a:rPr>
              <a:t>Functional Test Input</a:t>
            </a:r>
          </a:p>
        </p:txBody>
      </p:sp>
      <p:sp>
        <p:nvSpPr>
          <p:cNvPr id="53" name="Rectangle 52"/>
          <p:cNvSpPr/>
          <p:nvPr/>
        </p:nvSpPr>
        <p:spPr>
          <a:xfrm>
            <a:off x="8001000" y="3355848"/>
            <a:ext cx="59436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074152" y="3410712"/>
            <a:ext cx="502920" cy="338328"/>
          </a:xfrm>
          <a:prstGeom prst="rect">
            <a:avLst/>
          </a:prstGeom>
          <a:noFill/>
        </p:spPr>
        <p:txBody>
          <a:bodyPr wrap="square">
            <a:spAutoFit/>
          </a:bodyPr>
          <a:lstStyle/>
          <a:p>
            <a:pPr algn="l"/>
            <a:r>
              <a:rPr sz="1000" b="0" i="0">
                <a:solidFill>
                  <a:srgbClr val="FFFFFF"/>
                </a:solidFill>
              </a:rPr>
              <a:t>12</a:t>
            </a:r>
          </a:p>
        </p:txBody>
      </p:sp>
      <p:sp>
        <p:nvSpPr>
          <p:cNvPr id="55" name="Rectangle 54"/>
          <p:cNvSpPr/>
          <p:nvPr/>
        </p:nvSpPr>
        <p:spPr>
          <a:xfrm>
            <a:off x="4846320" y="3694176"/>
            <a:ext cx="41148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919472" y="3749040"/>
            <a:ext cx="320040" cy="338328"/>
          </a:xfrm>
          <a:prstGeom prst="rect">
            <a:avLst/>
          </a:prstGeom>
          <a:noFill/>
        </p:spPr>
        <p:txBody>
          <a:bodyPr wrap="square">
            <a:spAutoFit/>
          </a:bodyPr>
          <a:lstStyle/>
          <a:p>
            <a:pPr algn="l"/>
            <a:r>
              <a:rPr sz="1000" b="0" i="0">
                <a:solidFill>
                  <a:srgbClr val="FFFFFF"/>
                </a:solidFill>
              </a:rPr>
              <a:t>7</a:t>
            </a:r>
          </a:p>
        </p:txBody>
      </p:sp>
      <p:sp>
        <p:nvSpPr>
          <p:cNvPr id="57" name="Rectangle 56"/>
          <p:cNvSpPr/>
          <p:nvPr/>
        </p:nvSpPr>
        <p:spPr>
          <a:xfrm>
            <a:off x="5257800" y="3694176"/>
            <a:ext cx="274320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330952" y="3749040"/>
            <a:ext cx="2651760" cy="338328"/>
          </a:xfrm>
          <a:prstGeom prst="rect">
            <a:avLst/>
          </a:prstGeom>
          <a:noFill/>
        </p:spPr>
        <p:txBody>
          <a:bodyPr wrap="square">
            <a:spAutoFit/>
          </a:bodyPr>
          <a:lstStyle/>
          <a:p>
            <a:pPr algn="l"/>
            <a:r>
              <a:rPr sz="1000" b="0" i="0">
                <a:solidFill>
                  <a:srgbClr val="FFFFFF"/>
                </a:solidFill>
              </a:rPr>
              <a:t>March Registration</a:t>
            </a:r>
          </a:p>
        </p:txBody>
      </p:sp>
      <p:sp>
        <p:nvSpPr>
          <p:cNvPr id="59" name="Rectangle 58"/>
          <p:cNvSpPr/>
          <p:nvPr/>
        </p:nvSpPr>
        <p:spPr>
          <a:xfrm>
            <a:off x="8001000" y="3694176"/>
            <a:ext cx="59436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074152" y="3749040"/>
            <a:ext cx="502920" cy="338328"/>
          </a:xfrm>
          <a:prstGeom prst="rect">
            <a:avLst/>
          </a:prstGeom>
          <a:noFill/>
        </p:spPr>
        <p:txBody>
          <a:bodyPr wrap="square">
            <a:spAutoFit/>
          </a:bodyPr>
          <a:lstStyle/>
          <a:p>
            <a:pPr algn="l"/>
            <a:r>
              <a:rPr sz="1000" b="0" i="0">
                <a:solidFill>
                  <a:srgbClr val="FFFFFF"/>
                </a:solidFill>
              </a:rPr>
              <a:t>13</a:t>
            </a:r>
          </a:p>
        </p:txBody>
      </p:sp>
      <p:sp>
        <p:nvSpPr>
          <p:cNvPr id="61" name="Rectangle 60"/>
          <p:cNvSpPr/>
          <p:nvPr/>
        </p:nvSpPr>
        <p:spPr>
          <a:xfrm>
            <a:off x="4846320" y="4032504"/>
            <a:ext cx="41148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4919472" y="4087368"/>
            <a:ext cx="320040" cy="338328"/>
          </a:xfrm>
          <a:prstGeom prst="rect">
            <a:avLst/>
          </a:prstGeom>
          <a:noFill/>
        </p:spPr>
        <p:txBody>
          <a:bodyPr wrap="square">
            <a:spAutoFit/>
          </a:bodyPr>
          <a:lstStyle/>
          <a:p>
            <a:pPr algn="l"/>
            <a:r>
              <a:rPr sz="1000" b="0" i="0">
                <a:solidFill>
                  <a:srgbClr val="FFFFFF"/>
                </a:solidFill>
              </a:rPr>
              <a:t>8</a:t>
            </a:r>
          </a:p>
        </p:txBody>
      </p:sp>
      <p:sp>
        <p:nvSpPr>
          <p:cNvPr id="63" name="Rectangle 62"/>
          <p:cNvSpPr/>
          <p:nvPr/>
        </p:nvSpPr>
        <p:spPr>
          <a:xfrm>
            <a:off x="5257800" y="4032504"/>
            <a:ext cx="274320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330952" y="4087368"/>
            <a:ext cx="2651760" cy="338328"/>
          </a:xfrm>
          <a:prstGeom prst="rect">
            <a:avLst/>
          </a:prstGeom>
          <a:noFill/>
        </p:spPr>
        <p:txBody>
          <a:bodyPr wrap="square">
            <a:spAutoFit/>
          </a:bodyPr>
          <a:lstStyle/>
          <a:p>
            <a:pPr algn="l"/>
            <a:r>
              <a:rPr sz="1000" b="0" i="0">
                <a:solidFill>
                  <a:srgbClr val="FFFFFF"/>
                </a:solidFill>
              </a:rPr>
              <a:t>Cross &amp; Runs</a:t>
            </a:r>
          </a:p>
        </p:txBody>
      </p:sp>
      <p:sp>
        <p:nvSpPr>
          <p:cNvPr id="65" name="Rectangle 64"/>
          <p:cNvSpPr/>
          <p:nvPr/>
        </p:nvSpPr>
        <p:spPr>
          <a:xfrm>
            <a:off x="8001000" y="4032504"/>
            <a:ext cx="59436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074152" y="4087368"/>
            <a:ext cx="502920" cy="338328"/>
          </a:xfrm>
          <a:prstGeom prst="rect">
            <a:avLst/>
          </a:prstGeom>
          <a:noFill/>
        </p:spPr>
        <p:txBody>
          <a:bodyPr wrap="square">
            <a:spAutoFit/>
          </a:bodyPr>
          <a:lstStyle/>
          <a:p>
            <a:pPr algn="l"/>
            <a:r>
              <a:rPr sz="1000" b="0" i="0">
                <a:solidFill>
                  <a:srgbClr val="FFFFFF"/>
                </a:solidFill>
              </a:rPr>
              <a:t>28</a:t>
            </a:r>
          </a:p>
        </p:txBody>
      </p:sp>
      <p:sp>
        <p:nvSpPr>
          <p:cNvPr id="67" name="Rectangle 66"/>
          <p:cNvSpPr/>
          <p:nvPr/>
        </p:nvSpPr>
        <p:spPr>
          <a:xfrm>
            <a:off x="4846320" y="4370832"/>
            <a:ext cx="41148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919472" y="4425696"/>
            <a:ext cx="320040" cy="338328"/>
          </a:xfrm>
          <a:prstGeom prst="rect">
            <a:avLst/>
          </a:prstGeom>
          <a:noFill/>
        </p:spPr>
        <p:txBody>
          <a:bodyPr wrap="square">
            <a:spAutoFit/>
          </a:bodyPr>
          <a:lstStyle/>
          <a:p>
            <a:pPr algn="l"/>
            <a:r>
              <a:rPr sz="1000" b="0" i="0">
                <a:solidFill>
                  <a:srgbClr val="FFFFFF"/>
                </a:solidFill>
              </a:rPr>
              <a:t>9</a:t>
            </a:r>
          </a:p>
        </p:txBody>
      </p:sp>
      <p:sp>
        <p:nvSpPr>
          <p:cNvPr id="69" name="Rectangle 68"/>
          <p:cNvSpPr/>
          <p:nvPr/>
        </p:nvSpPr>
        <p:spPr>
          <a:xfrm>
            <a:off x="5257800" y="4370832"/>
            <a:ext cx="274320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330952" y="4425696"/>
            <a:ext cx="2651760" cy="338328"/>
          </a:xfrm>
          <a:prstGeom prst="rect">
            <a:avLst/>
          </a:prstGeom>
          <a:noFill/>
        </p:spPr>
        <p:txBody>
          <a:bodyPr wrap="square">
            <a:spAutoFit/>
          </a:bodyPr>
          <a:lstStyle/>
          <a:p>
            <a:pPr algn="l"/>
            <a:r>
              <a:rPr sz="1000" b="0" i="0">
                <a:solidFill>
                  <a:srgbClr val="FFFFFF"/>
                </a:solidFill>
              </a:rPr>
              <a:t>BEMIL Personnel Lookup</a:t>
            </a:r>
          </a:p>
        </p:txBody>
      </p:sp>
      <p:sp>
        <p:nvSpPr>
          <p:cNvPr id="71" name="Rectangle 70"/>
          <p:cNvSpPr/>
          <p:nvPr/>
        </p:nvSpPr>
        <p:spPr>
          <a:xfrm>
            <a:off x="8001000" y="4370832"/>
            <a:ext cx="59436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074152" y="4425696"/>
            <a:ext cx="502920" cy="338328"/>
          </a:xfrm>
          <a:prstGeom prst="rect">
            <a:avLst/>
          </a:prstGeom>
          <a:noFill/>
        </p:spPr>
        <p:txBody>
          <a:bodyPr wrap="square">
            <a:spAutoFit/>
          </a:bodyPr>
          <a:lstStyle/>
          <a:p>
            <a:pPr algn="l"/>
            <a:r>
              <a:rPr sz="1000" b="0" i="0">
                <a:solidFill>
                  <a:srgbClr val="FFFFFF"/>
                </a:solidFill>
              </a:rPr>
              <a:t>5</a:t>
            </a:r>
          </a:p>
        </p:txBody>
      </p:sp>
      <p:sp>
        <p:nvSpPr>
          <p:cNvPr id="73" name="Rectangle 72"/>
          <p:cNvSpPr/>
          <p:nvPr/>
        </p:nvSpPr>
        <p:spPr>
          <a:xfrm>
            <a:off x="4846320" y="4709160"/>
            <a:ext cx="41148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4919472" y="4764024"/>
            <a:ext cx="320040" cy="338328"/>
          </a:xfrm>
          <a:prstGeom prst="rect">
            <a:avLst/>
          </a:prstGeom>
          <a:noFill/>
        </p:spPr>
        <p:txBody>
          <a:bodyPr wrap="square">
            <a:spAutoFit/>
          </a:bodyPr>
          <a:lstStyle/>
          <a:p>
            <a:pPr algn="l"/>
            <a:r>
              <a:rPr sz="1000" b="0" i="0">
                <a:solidFill>
                  <a:srgbClr val="FFFFFF"/>
                </a:solidFill>
              </a:rPr>
              <a:t>10</a:t>
            </a:r>
          </a:p>
        </p:txBody>
      </p:sp>
      <p:sp>
        <p:nvSpPr>
          <p:cNvPr id="75" name="Rectangle 74"/>
          <p:cNvSpPr/>
          <p:nvPr/>
        </p:nvSpPr>
        <p:spPr>
          <a:xfrm>
            <a:off x="5257800" y="4709160"/>
            <a:ext cx="274320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5330952" y="4764024"/>
            <a:ext cx="2651760" cy="338328"/>
          </a:xfrm>
          <a:prstGeom prst="rect">
            <a:avLst/>
          </a:prstGeom>
          <a:noFill/>
        </p:spPr>
        <p:txBody>
          <a:bodyPr wrap="square">
            <a:spAutoFit/>
          </a:bodyPr>
          <a:lstStyle/>
          <a:p>
            <a:pPr algn="l"/>
            <a:r>
              <a:rPr sz="1000" b="0" i="0">
                <a:solidFill>
                  <a:srgbClr val="FFFFFF"/>
                </a:solidFill>
              </a:rPr>
              <a:t>Individual History</a:t>
            </a:r>
          </a:p>
        </p:txBody>
      </p:sp>
      <p:sp>
        <p:nvSpPr>
          <p:cNvPr id="77" name="Rectangle 76"/>
          <p:cNvSpPr/>
          <p:nvPr/>
        </p:nvSpPr>
        <p:spPr>
          <a:xfrm>
            <a:off x="8001000" y="4709160"/>
            <a:ext cx="59436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8074152" y="4764024"/>
            <a:ext cx="502920" cy="338328"/>
          </a:xfrm>
          <a:prstGeom prst="rect">
            <a:avLst/>
          </a:prstGeom>
          <a:noFill/>
        </p:spPr>
        <p:txBody>
          <a:bodyPr wrap="square">
            <a:spAutoFit/>
          </a:bodyPr>
          <a:lstStyle/>
          <a:p>
            <a:pPr algn="l"/>
            <a:r>
              <a:rPr sz="1000" b="0" i="0">
                <a:solidFill>
                  <a:srgbClr val="FFFFFF"/>
                </a:solidFill>
              </a:rPr>
              <a:t>15</a:t>
            </a:r>
          </a:p>
        </p:txBody>
      </p:sp>
      <p:sp>
        <p:nvSpPr>
          <p:cNvPr id="79" name="Rectangle 78"/>
          <p:cNvSpPr/>
          <p:nvPr/>
        </p:nvSpPr>
        <p:spPr>
          <a:xfrm>
            <a:off x="8412480" y="1325880"/>
            <a:ext cx="411480" cy="33832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485632" y="1380744"/>
            <a:ext cx="320040" cy="338328"/>
          </a:xfrm>
          <a:prstGeom prst="rect">
            <a:avLst/>
          </a:prstGeom>
          <a:noFill/>
        </p:spPr>
        <p:txBody>
          <a:bodyPr wrap="square">
            <a:spAutoFit/>
          </a:bodyPr>
          <a:lstStyle/>
          <a:p>
            <a:pPr algn="l"/>
            <a:r>
              <a:rPr sz="1100" b="1" i="0">
                <a:solidFill>
                  <a:srgbClr val="0D1B3E"/>
                </a:solidFill>
              </a:rPr>
              <a:t>#</a:t>
            </a:r>
          </a:p>
        </p:txBody>
      </p:sp>
      <p:sp>
        <p:nvSpPr>
          <p:cNvPr id="81" name="Rectangle 80"/>
          <p:cNvSpPr/>
          <p:nvPr/>
        </p:nvSpPr>
        <p:spPr>
          <a:xfrm>
            <a:off x="8823960" y="1325880"/>
            <a:ext cx="2743200" cy="33832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897112" y="1380744"/>
            <a:ext cx="2651760" cy="338328"/>
          </a:xfrm>
          <a:prstGeom prst="rect">
            <a:avLst/>
          </a:prstGeom>
          <a:noFill/>
        </p:spPr>
        <p:txBody>
          <a:bodyPr wrap="square">
            <a:spAutoFit/>
          </a:bodyPr>
          <a:lstStyle/>
          <a:p>
            <a:pPr algn="l"/>
            <a:r>
              <a:rPr sz="1100" b="1" i="0">
                <a:solidFill>
                  <a:srgbClr val="0D1B3E"/>
                </a:solidFill>
              </a:rPr>
              <a:t>Epic</a:t>
            </a:r>
          </a:p>
        </p:txBody>
      </p:sp>
      <p:sp>
        <p:nvSpPr>
          <p:cNvPr id="83" name="Rectangle 82"/>
          <p:cNvSpPr/>
          <p:nvPr/>
        </p:nvSpPr>
        <p:spPr>
          <a:xfrm>
            <a:off x="11567160" y="1325880"/>
            <a:ext cx="594360" cy="33832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11640312" y="1380744"/>
            <a:ext cx="502920" cy="338328"/>
          </a:xfrm>
          <a:prstGeom prst="rect">
            <a:avLst/>
          </a:prstGeom>
          <a:noFill/>
        </p:spPr>
        <p:txBody>
          <a:bodyPr wrap="square">
            <a:spAutoFit/>
          </a:bodyPr>
          <a:lstStyle/>
          <a:p>
            <a:pPr algn="l"/>
            <a:r>
              <a:rPr sz="1100" b="1" i="0">
                <a:solidFill>
                  <a:srgbClr val="0D1B3E"/>
                </a:solidFill>
              </a:rPr>
              <a:t>Pts</a:t>
            </a:r>
          </a:p>
        </p:txBody>
      </p:sp>
      <p:sp>
        <p:nvSpPr>
          <p:cNvPr id="85" name="Rectangle 84"/>
          <p:cNvSpPr/>
          <p:nvPr/>
        </p:nvSpPr>
        <p:spPr>
          <a:xfrm>
            <a:off x="8412480" y="1664208"/>
            <a:ext cx="41148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8485632" y="1719072"/>
            <a:ext cx="320040" cy="338328"/>
          </a:xfrm>
          <a:prstGeom prst="rect">
            <a:avLst/>
          </a:prstGeom>
          <a:noFill/>
        </p:spPr>
        <p:txBody>
          <a:bodyPr wrap="square">
            <a:spAutoFit/>
          </a:bodyPr>
          <a:lstStyle/>
          <a:p>
            <a:pPr algn="l"/>
            <a:r>
              <a:rPr sz="1000" b="0" i="0">
                <a:solidFill>
                  <a:srgbClr val="FFFFFF"/>
                </a:solidFill>
              </a:rPr>
              <a:t>11</a:t>
            </a:r>
          </a:p>
        </p:txBody>
      </p:sp>
      <p:sp>
        <p:nvSpPr>
          <p:cNvPr id="87" name="Rectangle 86"/>
          <p:cNvSpPr/>
          <p:nvPr/>
        </p:nvSpPr>
        <p:spPr>
          <a:xfrm>
            <a:off x="8823960" y="1664208"/>
            <a:ext cx="274320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8897112" y="1719072"/>
            <a:ext cx="2651760" cy="338328"/>
          </a:xfrm>
          <a:prstGeom prst="rect">
            <a:avLst/>
          </a:prstGeom>
          <a:noFill/>
        </p:spPr>
        <p:txBody>
          <a:bodyPr wrap="square">
            <a:spAutoFit/>
          </a:bodyPr>
          <a:lstStyle/>
          <a:p>
            <a:pPr algn="l"/>
            <a:r>
              <a:rPr sz="1000" b="0" i="0">
                <a:solidFill>
                  <a:srgbClr val="FFFFFF"/>
                </a:solidFill>
              </a:rPr>
              <a:t>Unit Dashboard</a:t>
            </a:r>
          </a:p>
        </p:txBody>
      </p:sp>
      <p:sp>
        <p:nvSpPr>
          <p:cNvPr id="89" name="Rectangle 88"/>
          <p:cNvSpPr/>
          <p:nvPr/>
        </p:nvSpPr>
        <p:spPr>
          <a:xfrm>
            <a:off x="11567160" y="1664208"/>
            <a:ext cx="59436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11640312" y="1719072"/>
            <a:ext cx="502920" cy="338328"/>
          </a:xfrm>
          <a:prstGeom prst="rect">
            <a:avLst/>
          </a:prstGeom>
          <a:noFill/>
        </p:spPr>
        <p:txBody>
          <a:bodyPr wrap="square">
            <a:spAutoFit/>
          </a:bodyPr>
          <a:lstStyle/>
          <a:p>
            <a:pPr algn="l"/>
            <a:r>
              <a:rPr sz="1000" b="0" i="0">
                <a:solidFill>
                  <a:srgbClr val="FFFFFF"/>
                </a:solidFill>
              </a:rPr>
              <a:t>12</a:t>
            </a:r>
          </a:p>
        </p:txBody>
      </p:sp>
      <p:sp>
        <p:nvSpPr>
          <p:cNvPr id="91" name="Rectangle 90"/>
          <p:cNvSpPr/>
          <p:nvPr/>
        </p:nvSpPr>
        <p:spPr>
          <a:xfrm>
            <a:off x="8412480" y="2002536"/>
            <a:ext cx="41148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8485632" y="2057400"/>
            <a:ext cx="320040" cy="338328"/>
          </a:xfrm>
          <a:prstGeom prst="rect">
            <a:avLst/>
          </a:prstGeom>
          <a:noFill/>
        </p:spPr>
        <p:txBody>
          <a:bodyPr wrap="square">
            <a:spAutoFit/>
          </a:bodyPr>
          <a:lstStyle/>
          <a:p>
            <a:pPr algn="l"/>
            <a:r>
              <a:rPr sz="1000" b="0" i="0">
                <a:solidFill>
                  <a:srgbClr val="FFFFFF"/>
                </a:solidFill>
              </a:rPr>
              <a:t>12</a:t>
            </a:r>
          </a:p>
        </p:txBody>
      </p:sp>
      <p:sp>
        <p:nvSpPr>
          <p:cNvPr id="93" name="Rectangle 92"/>
          <p:cNvSpPr/>
          <p:nvPr/>
        </p:nvSpPr>
        <p:spPr>
          <a:xfrm>
            <a:off x="8823960" y="2002536"/>
            <a:ext cx="274320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8897112" y="2057400"/>
            <a:ext cx="2651760" cy="338328"/>
          </a:xfrm>
          <a:prstGeom prst="rect">
            <a:avLst/>
          </a:prstGeom>
          <a:noFill/>
        </p:spPr>
        <p:txBody>
          <a:bodyPr wrap="square">
            <a:spAutoFit/>
          </a:bodyPr>
          <a:lstStyle/>
          <a:p>
            <a:pPr algn="l"/>
            <a:r>
              <a:rPr sz="1000" b="0" i="0">
                <a:solidFill>
                  <a:srgbClr val="FFFFFF"/>
                </a:solidFill>
              </a:rPr>
              <a:t>Calendar Events</a:t>
            </a:r>
          </a:p>
        </p:txBody>
      </p:sp>
      <p:sp>
        <p:nvSpPr>
          <p:cNvPr id="95" name="Rectangle 94"/>
          <p:cNvSpPr/>
          <p:nvPr/>
        </p:nvSpPr>
        <p:spPr>
          <a:xfrm>
            <a:off x="11567160" y="2002536"/>
            <a:ext cx="59436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11640312" y="2057400"/>
            <a:ext cx="502920" cy="338328"/>
          </a:xfrm>
          <a:prstGeom prst="rect">
            <a:avLst/>
          </a:prstGeom>
          <a:noFill/>
        </p:spPr>
        <p:txBody>
          <a:bodyPr wrap="square">
            <a:spAutoFit/>
          </a:bodyPr>
          <a:lstStyle/>
          <a:p>
            <a:pPr algn="l"/>
            <a:r>
              <a:rPr sz="1000" b="0" i="0">
                <a:solidFill>
                  <a:srgbClr val="FFFFFF"/>
                </a:solidFill>
              </a:rPr>
              <a:t>5</a:t>
            </a:r>
          </a:p>
        </p:txBody>
      </p:sp>
      <p:sp>
        <p:nvSpPr>
          <p:cNvPr id="97" name="Rectangle 96"/>
          <p:cNvSpPr/>
          <p:nvPr/>
        </p:nvSpPr>
        <p:spPr>
          <a:xfrm>
            <a:off x="8412480" y="2340864"/>
            <a:ext cx="41148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8485632" y="2395728"/>
            <a:ext cx="320040" cy="338328"/>
          </a:xfrm>
          <a:prstGeom prst="rect">
            <a:avLst/>
          </a:prstGeom>
          <a:noFill/>
        </p:spPr>
        <p:txBody>
          <a:bodyPr wrap="square">
            <a:spAutoFit/>
          </a:bodyPr>
          <a:lstStyle/>
          <a:p>
            <a:pPr algn="l"/>
            <a:r>
              <a:rPr sz="1000" b="0" i="0">
                <a:solidFill>
                  <a:srgbClr val="FFFFFF"/>
                </a:solidFill>
              </a:rPr>
              <a:t>13</a:t>
            </a:r>
          </a:p>
        </p:txBody>
      </p:sp>
      <p:sp>
        <p:nvSpPr>
          <p:cNvPr id="99" name="Rectangle 98"/>
          <p:cNvSpPr/>
          <p:nvPr/>
        </p:nvSpPr>
        <p:spPr>
          <a:xfrm>
            <a:off x="8823960" y="2340864"/>
            <a:ext cx="274320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8897112" y="2395728"/>
            <a:ext cx="2651760" cy="338328"/>
          </a:xfrm>
          <a:prstGeom prst="rect">
            <a:avLst/>
          </a:prstGeom>
          <a:noFill/>
        </p:spPr>
        <p:txBody>
          <a:bodyPr wrap="square">
            <a:spAutoFit/>
          </a:bodyPr>
          <a:lstStyle/>
          <a:p>
            <a:pPr algn="l"/>
            <a:r>
              <a:rPr sz="1000" b="0" i="0">
                <a:solidFill>
                  <a:srgbClr val="FFFFFF"/>
                </a:solidFill>
              </a:rPr>
              <a:t>Room Reservations</a:t>
            </a:r>
          </a:p>
        </p:txBody>
      </p:sp>
      <p:sp>
        <p:nvSpPr>
          <p:cNvPr id="101" name="Rectangle 100"/>
          <p:cNvSpPr/>
          <p:nvPr/>
        </p:nvSpPr>
        <p:spPr>
          <a:xfrm>
            <a:off x="11567160" y="2340864"/>
            <a:ext cx="59436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11640312" y="2395728"/>
            <a:ext cx="502920" cy="338328"/>
          </a:xfrm>
          <a:prstGeom prst="rect">
            <a:avLst/>
          </a:prstGeom>
          <a:noFill/>
        </p:spPr>
        <p:txBody>
          <a:bodyPr wrap="square">
            <a:spAutoFit/>
          </a:bodyPr>
          <a:lstStyle/>
          <a:p>
            <a:pPr algn="l"/>
            <a:r>
              <a:rPr sz="1000" b="0" i="0">
                <a:solidFill>
                  <a:srgbClr val="FFFFFF"/>
                </a:solidFill>
              </a:rPr>
              <a:t>8</a:t>
            </a:r>
          </a:p>
        </p:txBody>
      </p:sp>
      <p:sp>
        <p:nvSpPr>
          <p:cNvPr id="103" name="Rectangle 102"/>
          <p:cNvSpPr/>
          <p:nvPr/>
        </p:nvSpPr>
        <p:spPr>
          <a:xfrm>
            <a:off x="8412480" y="2679192"/>
            <a:ext cx="41148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8485632" y="2734056"/>
            <a:ext cx="320040" cy="338328"/>
          </a:xfrm>
          <a:prstGeom prst="rect">
            <a:avLst/>
          </a:prstGeom>
          <a:noFill/>
        </p:spPr>
        <p:txBody>
          <a:bodyPr wrap="square">
            <a:spAutoFit/>
          </a:bodyPr>
          <a:lstStyle/>
          <a:p>
            <a:pPr algn="l"/>
            <a:r>
              <a:rPr sz="1000" b="0" i="0">
                <a:solidFill>
                  <a:srgbClr val="FFFFFF"/>
                </a:solidFill>
              </a:rPr>
              <a:t>14</a:t>
            </a:r>
          </a:p>
        </p:txBody>
      </p:sp>
      <p:sp>
        <p:nvSpPr>
          <p:cNvPr id="105" name="Rectangle 104"/>
          <p:cNvSpPr/>
          <p:nvPr/>
        </p:nvSpPr>
        <p:spPr>
          <a:xfrm>
            <a:off x="8823960" y="2679192"/>
            <a:ext cx="274320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8897112" y="2734056"/>
            <a:ext cx="2651760" cy="338328"/>
          </a:xfrm>
          <a:prstGeom prst="rect">
            <a:avLst/>
          </a:prstGeom>
          <a:noFill/>
        </p:spPr>
        <p:txBody>
          <a:bodyPr wrap="square">
            <a:spAutoFit/>
          </a:bodyPr>
          <a:lstStyle/>
          <a:p>
            <a:pPr algn="l"/>
            <a:r>
              <a:rPr sz="1000" b="0" i="0">
                <a:solidFill>
                  <a:srgbClr val="FFFFFF"/>
                </a:solidFill>
              </a:rPr>
              <a:t>Audit Logs</a:t>
            </a:r>
          </a:p>
        </p:txBody>
      </p:sp>
      <p:sp>
        <p:nvSpPr>
          <p:cNvPr id="107" name="Rectangle 106"/>
          <p:cNvSpPr/>
          <p:nvPr/>
        </p:nvSpPr>
        <p:spPr>
          <a:xfrm>
            <a:off x="11567160" y="2679192"/>
            <a:ext cx="59436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11640312" y="2734056"/>
            <a:ext cx="502920" cy="338328"/>
          </a:xfrm>
          <a:prstGeom prst="rect">
            <a:avLst/>
          </a:prstGeom>
          <a:noFill/>
        </p:spPr>
        <p:txBody>
          <a:bodyPr wrap="square">
            <a:spAutoFit/>
          </a:bodyPr>
          <a:lstStyle/>
          <a:p>
            <a:pPr algn="l"/>
            <a:r>
              <a:rPr sz="1000" b="0" i="0">
                <a:solidFill>
                  <a:srgbClr val="FFFFFF"/>
                </a:solidFill>
              </a:rPr>
              <a:t>5</a:t>
            </a:r>
          </a:p>
        </p:txBody>
      </p:sp>
      <p:sp>
        <p:nvSpPr>
          <p:cNvPr id="109" name="Rectangle 108"/>
          <p:cNvSpPr/>
          <p:nvPr/>
        </p:nvSpPr>
        <p:spPr>
          <a:xfrm>
            <a:off x="8412480" y="3017520"/>
            <a:ext cx="41148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8485632" y="3072384"/>
            <a:ext cx="320040" cy="338328"/>
          </a:xfrm>
          <a:prstGeom prst="rect">
            <a:avLst/>
          </a:prstGeom>
          <a:noFill/>
        </p:spPr>
        <p:txBody>
          <a:bodyPr wrap="square">
            <a:spAutoFit/>
          </a:bodyPr>
          <a:lstStyle/>
          <a:p>
            <a:pPr algn="l"/>
            <a:r>
              <a:rPr sz="1000" b="0" i="0">
                <a:solidFill>
                  <a:srgbClr val="FFFFFF"/>
                </a:solidFill>
              </a:rPr>
              <a:t>15</a:t>
            </a:r>
          </a:p>
        </p:txBody>
      </p:sp>
      <p:sp>
        <p:nvSpPr>
          <p:cNvPr id="111" name="Rectangle 110"/>
          <p:cNvSpPr/>
          <p:nvPr/>
        </p:nvSpPr>
        <p:spPr>
          <a:xfrm>
            <a:off x="8823960" y="3017520"/>
            <a:ext cx="274320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8897112" y="3072384"/>
            <a:ext cx="2651760" cy="338328"/>
          </a:xfrm>
          <a:prstGeom prst="rect">
            <a:avLst/>
          </a:prstGeom>
          <a:noFill/>
        </p:spPr>
        <p:txBody>
          <a:bodyPr wrap="square">
            <a:spAutoFit/>
          </a:bodyPr>
          <a:lstStyle/>
          <a:p>
            <a:pPr algn="l"/>
            <a:r>
              <a:rPr sz="1000" b="0" i="0">
                <a:solidFill>
                  <a:srgbClr val="FFFFFF"/>
                </a:solidFill>
              </a:rPr>
              <a:t>Welcome Dashboard</a:t>
            </a:r>
          </a:p>
        </p:txBody>
      </p:sp>
      <p:sp>
        <p:nvSpPr>
          <p:cNvPr id="113" name="Rectangle 112"/>
          <p:cNvSpPr/>
          <p:nvPr/>
        </p:nvSpPr>
        <p:spPr>
          <a:xfrm>
            <a:off x="11567160" y="3017520"/>
            <a:ext cx="59436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11640312" y="3072384"/>
            <a:ext cx="502920" cy="338328"/>
          </a:xfrm>
          <a:prstGeom prst="rect">
            <a:avLst/>
          </a:prstGeom>
          <a:noFill/>
        </p:spPr>
        <p:txBody>
          <a:bodyPr wrap="square">
            <a:spAutoFit/>
          </a:bodyPr>
          <a:lstStyle/>
          <a:p>
            <a:pPr algn="l"/>
            <a:r>
              <a:rPr sz="1000" b="0" i="0">
                <a:solidFill>
                  <a:srgbClr val="FFFFFF"/>
                </a:solidFill>
              </a:rPr>
              <a:t>5</a:t>
            </a:r>
          </a:p>
        </p:txBody>
      </p:sp>
      <p:sp>
        <p:nvSpPr>
          <p:cNvPr id="115" name="Rectangle 114"/>
          <p:cNvSpPr/>
          <p:nvPr/>
        </p:nvSpPr>
        <p:spPr>
          <a:xfrm>
            <a:off x="8412480" y="3355848"/>
            <a:ext cx="41148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8485632" y="3410712"/>
            <a:ext cx="320040" cy="338328"/>
          </a:xfrm>
          <a:prstGeom prst="rect">
            <a:avLst/>
          </a:prstGeom>
          <a:noFill/>
        </p:spPr>
        <p:txBody>
          <a:bodyPr wrap="square">
            <a:spAutoFit/>
          </a:bodyPr>
          <a:lstStyle/>
          <a:p>
            <a:pPr algn="l"/>
            <a:r>
              <a:rPr sz="1000" b="0" i="0">
                <a:solidFill>
                  <a:srgbClr val="FFFFFF"/>
                </a:solidFill>
              </a:rPr>
              <a:t>16</a:t>
            </a:r>
          </a:p>
        </p:txBody>
      </p:sp>
      <p:sp>
        <p:nvSpPr>
          <p:cNvPr id="117" name="Rectangle 116"/>
          <p:cNvSpPr/>
          <p:nvPr/>
        </p:nvSpPr>
        <p:spPr>
          <a:xfrm>
            <a:off x="8823960" y="3355848"/>
            <a:ext cx="274320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8897112" y="3410712"/>
            <a:ext cx="2651760" cy="338328"/>
          </a:xfrm>
          <a:prstGeom prst="rect">
            <a:avLst/>
          </a:prstGeom>
          <a:noFill/>
        </p:spPr>
        <p:txBody>
          <a:bodyPr wrap="square">
            <a:spAutoFit/>
          </a:bodyPr>
          <a:lstStyle/>
          <a:p>
            <a:pPr algn="l"/>
            <a:r>
              <a:rPr sz="1000" b="0" i="0">
                <a:solidFill>
                  <a:srgbClr val="FFFFFF"/>
                </a:solidFill>
              </a:rPr>
              <a:t>Application Settings</a:t>
            </a:r>
          </a:p>
        </p:txBody>
      </p:sp>
      <p:sp>
        <p:nvSpPr>
          <p:cNvPr id="119" name="Rectangle 118"/>
          <p:cNvSpPr/>
          <p:nvPr/>
        </p:nvSpPr>
        <p:spPr>
          <a:xfrm>
            <a:off x="11567160" y="3355848"/>
            <a:ext cx="59436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11640312" y="3410712"/>
            <a:ext cx="502920" cy="338328"/>
          </a:xfrm>
          <a:prstGeom prst="rect">
            <a:avLst/>
          </a:prstGeom>
          <a:noFill/>
        </p:spPr>
        <p:txBody>
          <a:bodyPr wrap="square">
            <a:spAutoFit/>
          </a:bodyPr>
          <a:lstStyle/>
          <a:p>
            <a:pPr algn="l"/>
            <a:r>
              <a:rPr sz="1000" b="0" i="0">
                <a:solidFill>
                  <a:srgbClr val="FFFFFF"/>
                </a:solidFill>
              </a:rPr>
              <a:t>8</a:t>
            </a:r>
          </a:p>
        </p:txBody>
      </p:sp>
      <p:sp>
        <p:nvSpPr>
          <p:cNvPr id="121" name="Rectangle 120"/>
          <p:cNvSpPr/>
          <p:nvPr/>
        </p:nvSpPr>
        <p:spPr>
          <a:xfrm>
            <a:off x="8412480" y="3694176"/>
            <a:ext cx="41148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8485632" y="3749040"/>
            <a:ext cx="320040" cy="338328"/>
          </a:xfrm>
          <a:prstGeom prst="rect">
            <a:avLst/>
          </a:prstGeom>
          <a:noFill/>
        </p:spPr>
        <p:txBody>
          <a:bodyPr wrap="square">
            <a:spAutoFit/>
          </a:bodyPr>
          <a:lstStyle/>
          <a:p>
            <a:pPr algn="l"/>
            <a:r>
              <a:rPr sz="1000" b="0" i="0">
                <a:solidFill>
                  <a:srgbClr val="FFFFFF"/>
                </a:solidFill>
              </a:rPr>
              <a:t>17</a:t>
            </a:r>
          </a:p>
        </p:txBody>
      </p:sp>
      <p:sp>
        <p:nvSpPr>
          <p:cNvPr id="123" name="Rectangle 122"/>
          <p:cNvSpPr/>
          <p:nvPr/>
        </p:nvSpPr>
        <p:spPr>
          <a:xfrm>
            <a:off x="8823960" y="3694176"/>
            <a:ext cx="274320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8897112" y="3749040"/>
            <a:ext cx="2651760" cy="338328"/>
          </a:xfrm>
          <a:prstGeom prst="rect">
            <a:avLst/>
          </a:prstGeom>
          <a:noFill/>
        </p:spPr>
        <p:txBody>
          <a:bodyPr wrap="square">
            <a:spAutoFit/>
          </a:bodyPr>
          <a:lstStyle/>
          <a:p>
            <a:pPr algn="l"/>
            <a:r>
              <a:rPr sz="1000" b="0" i="0">
                <a:solidFill>
                  <a:srgbClr val="FFFFFF"/>
                </a:solidFill>
              </a:rPr>
              <a:t>Status Monitoring</a:t>
            </a:r>
          </a:p>
        </p:txBody>
      </p:sp>
      <p:sp>
        <p:nvSpPr>
          <p:cNvPr id="125" name="Rectangle 124"/>
          <p:cNvSpPr/>
          <p:nvPr/>
        </p:nvSpPr>
        <p:spPr>
          <a:xfrm>
            <a:off x="11567160" y="3694176"/>
            <a:ext cx="59436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11640312" y="3749040"/>
            <a:ext cx="502920" cy="338328"/>
          </a:xfrm>
          <a:prstGeom prst="rect">
            <a:avLst/>
          </a:prstGeom>
          <a:noFill/>
        </p:spPr>
        <p:txBody>
          <a:bodyPr wrap="square">
            <a:spAutoFit/>
          </a:bodyPr>
          <a:lstStyle/>
          <a:p>
            <a:pPr algn="l"/>
            <a:r>
              <a:rPr sz="1000" b="0" i="0">
                <a:solidFill>
                  <a:srgbClr val="FFFFFF"/>
                </a:solidFill>
              </a:rPr>
              <a:t>5</a:t>
            </a:r>
          </a:p>
        </p:txBody>
      </p:sp>
      <p:sp>
        <p:nvSpPr>
          <p:cNvPr id="127" name="Rectangle 126"/>
          <p:cNvSpPr/>
          <p:nvPr/>
        </p:nvSpPr>
        <p:spPr>
          <a:xfrm>
            <a:off x="8412480" y="4032504"/>
            <a:ext cx="41148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8485632" y="4087368"/>
            <a:ext cx="320040" cy="338328"/>
          </a:xfrm>
          <a:prstGeom prst="rect">
            <a:avLst/>
          </a:prstGeom>
          <a:noFill/>
        </p:spPr>
        <p:txBody>
          <a:bodyPr wrap="square">
            <a:spAutoFit/>
          </a:bodyPr>
          <a:lstStyle/>
          <a:p>
            <a:pPr algn="l"/>
            <a:r>
              <a:rPr sz="1000" b="0" i="0">
                <a:solidFill>
                  <a:srgbClr val="FFFFFF"/>
                </a:solidFill>
              </a:rPr>
              <a:t>18</a:t>
            </a:r>
          </a:p>
        </p:txBody>
      </p:sp>
      <p:sp>
        <p:nvSpPr>
          <p:cNvPr id="129" name="Rectangle 128"/>
          <p:cNvSpPr/>
          <p:nvPr/>
        </p:nvSpPr>
        <p:spPr>
          <a:xfrm>
            <a:off x="8823960" y="4032504"/>
            <a:ext cx="274320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8897112" y="4087368"/>
            <a:ext cx="2651760" cy="338328"/>
          </a:xfrm>
          <a:prstGeom prst="rect">
            <a:avLst/>
          </a:prstGeom>
          <a:noFill/>
        </p:spPr>
        <p:txBody>
          <a:bodyPr wrap="square">
            <a:spAutoFit/>
          </a:bodyPr>
          <a:lstStyle/>
          <a:p>
            <a:pPr algn="l"/>
            <a:r>
              <a:rPr sz="1000" b="0" i="0">
                <a:solidFill>
                  <a:srgbClr val="FFFFFF"/>
                </a:solidFill>
              </a:rPr>
              <a:t>Reports &amp; Export</a:t>
            </a:r>
          </a:p>
        </p:txBody>
      </p:sp>
      <p:sp>
        <p:nvSpPr>
          <p:cNvPr id="131" name="Rectangle 130"/>
          <p:cNvSpPr/>
          <p:nvPr/>
        </p:nvSpPr>
        <p:spPr>
          <a:xfrm>
            <a:off x="11567160" y="4032504"/>
            <a:ext cx="59436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11640312" y="4087368"/>
            <a:ext cx="502920" cy="338328"/>
          </a:xfrm>
          <a:prstGeom prst="rect">
            <a:avLst/>
          </a:prstGeom>
          <a:noFill/>
        </p:spPr>
        <p:txBody>
          <a:bodyPr wrap="square">
            <a:spAutoFit/>
          </a:bodyPr>
          <a:lstStyle/>
          <a:p>
            <a:pPr algn="l"/>
            <a:r>
              <a:rPr sz="1000" b="0" i="0">
                <a:solidFill>
                  <a:srgbClr val="FFFFFF"/>
                </a:solidFill>
              </a:rPr>
              <a:t>8</a:t>
            </a:r>
          </a:p>
        </p:txBody>
      </p:sp>
      <p:sp>
        <p:nvSpPr>
          <p:cNvPr id="133" name="Rectangle 132"/>
          <p:cNvSpPr/>
          <p:nvPr/>
        </p:nvSpPr>
        <p:spPr>
          <a:xfrm>
            <a:off x="8412480" y="4370832"/>
            <a:ext cx="41148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8485632" y="4425696"/>
            <a:ext cx="320040" cy="338328"/>
          </a:xfrm>
          <a:prstGeom prst="rect">
            <a:avLst/>
          </a:prstGeom>
          <a:noFill/>
        </p:spPr>
        <p:txBody>
          <a:bodyPr wrap="square">
            <a:spAutoFit/>
          </a:bodyPr>
          <a:lstStyle/>
          <a:p>
            <a:pPr algn="l"/>
            <a:r>
              <a:rPr sz="1000" b="0" i="0">
                <a:solidFill>
                  <a:srgbClr val="FFFFFF"/>
                </a:solidFill>
              </a:rPr>
              <a:t>19</a:t>
            </a:r>
          </a:p>
        </p:txBody>
      </p:sp>
      <p:sp>
        <p:nvSpPr>
          <p:cNvPr id="135" name="Rectangle 134"/>
          <p:cNvSpPr/>
          <p:nvPr/>
        </p:nvSpPr>
        <p:spPr>
          <a:xfrm>
            <a:off x="8823960" y="4370832"/>
            <a:ext cx="274320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8897112" y="4425696"/>
            <a:ext cx="2651760" cy="338328"/>
          </a:xfrm>
          <a:prstGeom prst="rect">
            <a:avLst/>
          </a:prstGeom>
          <a:noFill/>
        </p:spPr>
        <p:txBody>
          <a:bodyPr wrap="square">
            <a:spAutoFit/>
          </a:bodyPr>
          <a:lstStyle/>
          <a:p>
            <a:pPr algn="l"/>
            <a:r>
              <a:rPr sz="1000" b="0" i="0">
                <a:solidFill>
                  <a:srgbClr val="FFFFFF"/>
                </a:solidFill>
              </a:rPr>
              <a:t>Security &amp; Auth</a:t>
            </a:r>
          </a:p>
        </p:txBody>
      </p:sp>
      <p:sp>
        <p:nvSpPr>
          <p:cNvPr id="137" name="Rectangle 136"/>
          <p:cNvSpPr/>
          <p:nvPr/>
        </p:nvSpPr>
        <p:spPr>
          <a:xfrm>
            <a:off x="11567160" y="4370832"/>
            <a:ext cx="594360" cy="33832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11640312" y="4425696"/>
            <a:ext cx="502920" cy="338328"/>
          </a:xfrm>
          <a:prstGeom prst="rect">
            <a:avLst/>
          </a:prstGeom>
          <a:noFill/>
        </p:spPr>
        <p:txBody>
          <a:bodyPr wrap="square">
            <a:spAutoFit/>
          </a:bodyPr>
          <a:lstStyle/>
          <a:p>
            <a:pPr algn="l"/>
            <a:r>
              <a:rPr sz="1000" b="0" i="0">
                <a:solidFill>
                  <a:srgbClr val="FFFFFF"/>
                </a:solidFill>
              </a:rPr>
              <a:t>7</a:t>
            </a:r>
          </a:p>
        </p:txBody>
      </p:sp>
      <p:sp>
        <p:nvSpPr>
          <p:cNvPr id="139" name="Rectangle 138"/>
          <p:cNvSpPr/>
          <p:nvPr/>
        </p:nvSpPr>
        <p:spPr>
          <a:xfrm>
            <a:off x="8412480" y="4709160"/>
            <a:ext cx="41148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8485632" y="4764024"/>
            <a:ext cx="320040" cy="338328"/>
          </a:xfrm>
          <a:prstGeom prst="rect">
            <a:avLst/>
          </a:prstGeom>
          <a:noFill/>
        </p:spPr>
        <p:txBody>
          <a:bodyPr wrap="square">
            <a:spAutoFit/>
          </a:bodyPr>
          <a:lstStyle/>
          <a:p>
            <a:pPr algn="l"/>
            <a:r>
              <a:rPr sz="1000" b="0" i="0">
                <a:solidFill>
                  <a:srgbClr val="FFFFFF"/>
                </a:solidFill>
              </a:rPr>
              <a:t>20</a:t>
            </a:r>
          </a:p>
        </p:txBody>
      </p:sp>
      <p:sp>
        <p:nvSpPr>
          <p:cNvPr id="141" name="Rectangle 140"/>
          <p:cNvSpPr/>
          <p:nvPr/>
        </p:nvSpPr>
        <p:spPr>
          <a:xfrm>
            <a:off x="8823960" y="4709160"/>
            <a:ext cx="274320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8897112" y="4764024"/>
            <a:ext cx="2651760" cy="338328"/>
          </a:xfrm>
          <a:prstGeom prst="rect">
            <a:avLst/>
          </a:prstGeom>
          <a:noFill/>
        </p:spPr>
        <p:txBody>
          <a:bodyPr wrap="square">
            <a:spAutoFit/>
          </a:bodyPr>
          <a:lstStyle/>
          <a:p>
            <a:pPr algn="l"/>
            <a:r>
              <a:rPr sz="1000" b="0" i="0">
                <a:solidFill>
                  <a:srgbClr val="FFFFFF"/>
                </a:solidFill>
              </a:rPr>
              <a:t>GDPR / Privacy</a:t>
            </a:r>
          </a:p>
        </p:txBody>
      </p:sp>
      <p:sp>
        <p:nvSpPr>
          <p:cNvPr id="143" name="Rectangle 142"/>
          <p:cNvSpPr/>
          <p:nvPr/>
        </p:nvSpPr>
        <p:spPr>
          <a:xfrm>
            <a:off x="11567160" y="4709160"/>
            <a:ext cx="594360" cy="3383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11640312" y="4764024"/>
            <a:ext cx="502920" cy="338328"/>
          </a:xfrm>
          <a:prstGeom prst="rect">
            <a:avLst/>
          </a:prstGeom>
          <a:noFill/>
        </p:spPr>
        <p:txBody>
          <a:bodyPr wrap="square">
            <a:spAutoFit/>
          </a:bodyPr>
          <a:lstStyle/>
          <a:p>
            <a:pPr algn="l"/>
            <a:r>
              <a:rPr sz="1000" b="0" i="0">
                <a:solidFill>
                  <a:srgbClr val="FFFFFF"/>
                </a:solidFill>
              </a:rPr>
              <a:t>15</a:t>
            </a:r>
          </a:p>
        </p:txBody>
      </p:sp>
      <p:sp>
        <p:nvSpPr>
          <p:cNvPr id="145" name="Rectangle 144"/>
          <p:cNvSpPr/>
          <p:nvPr/>
        </p:nvSpPr>
        <p:spPr>
          <a:xfrm>
            <a:off x="365760" y="5257800"/>
            <a:ext cx="4114800" cy="502920"/>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411480" y="5321808"/>
            <a:ext cx="4023360" cy="502920"/>
          </a:xfrm>
          <a:prstGeom prst="rect">
            <a:avLst/>
          </a:prstGeom>
          <a:noFill/>
        </p:spPr>
        <p:txBody>
          <a:bodyPr wrap="square">
            <a:spAutoFit/>
          </a:bodyPr>
          <a:lstStyle/>
          <a:p>
            <a:pPr algn="ctr"/>
            <a:r>
              <a:rPr sz="1200" b="1" i="0">
                <a:solidFill>
                  <a:srgbClr val="0D1B3E"/>
                </a:solidFill>
              </a:rPr>
              <a:t>Total: 20 epics · 80 stories · 231 story points</a:t>
            </a:r>
          </a:p>
        </p:txBody>
      </p:sp>
      <p:sp>
        <p:nvSpPr>
          <p:cNvPr id="147" name="TextBox 146"/>
          <p:cNvSpPr txBox="1"/>
          <p:nvPr/>
        </p:nvSpPr>
        <p:spPr>
          <a:xfrm>
            <a:off x="411480" y="5852160"/>
            <a:ext cx="4023360" cy="365760"/>
          </a:xfrm>
          <a:prstGeom prst="rect">
            <a:avLst/>
          </a:prstGeom>
          <a:noFill/>
        </p:spPr>
        <p:txBody>
          <a:bodyPr wrap="square">
            <a:spAutoFit/>
          </a:bodyPr>
          <a:lstStyle/>
          <a:p>
            <a:pPr algn="l"/>
            <a:r>
              <a:rPr sz="1100" b="0" i="1">
                <a:solidFill>
                  <a:srgbClr val="556078"/>
                </a:solidFill>
              </a:rPr>
              <a:t>All stories delivered — Sep 2025 → May 2026</a:t>
            </a:r>
          </a:p>
        </p:txBody>
      </p:sp>
      <p:sp>
        <p:nvSpPr>
          <p:cNvPr id="152" name="TextBox 151"/>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153" name="Rounded Rectangle 152"/>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07 / 20</a:t>
            </a:r>
          </a:p>
        </p:txBody>
      </p:sp>
      <p:sp>
        <p:nvSpPr>
          <p:cNvPr id="154" name="Rectangle 153"/>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8016"/>
            <a:ext cx="10972800" cy="822960"/>
          </a:xfrm>
          <a:prstGeom prst="rect">
            <a:avLst/>
          </a:prstGeom>
          <a:noFill/>
        </p:spPr>
        <p:txBody>
          <a:bodyPr wrap="square">
            <a:spAutoFit/>
          </a:bodyPr>
          <a:lstStyle/>
          <a:p>
            <a:pPr algn="l"/>
            <a:r>
              <a:rPr sz="3000" b="1" i="0">
                <a:solidFill>
                  <a:srgbClr val="FFB700"/>
                </a:solidFill>
              </a:rPr>
              <a:t>User Story Example</a:t>
            </a:r>
          </a:p>
        </p:txBody>
      </p:sp>
      <p:sp>
        <p:nvSpPr>
          <p:cNvPr id="6" name="TextBox 5"/>
          <p:cNvSpPr txBox="1"/>
          <p:nvPr/>
        </p:nvSpPr>
        <p:spPr>
          <a:xfrm>
            <a:off x="457200" y="841248"/>
            <a:ext cx="10972800" cy="411480"/>
          </a:xfrm>
          <a:prstGeom prst="rect">
            <a:avLst/>
          </a:prstGeom>
          <a:noFill/>
        </p:spPr>
        <p:txBody>
          <a:bodyPr wrap="square">
            <a:spAutoFit/>
          </a:bodyPr>
          <a:lstStyle/>
          <a:p>
            <a:pPr algn="l"/>
            <a:r>
              <a:rPr sz="1300" b="0" i="1">
                <a:solidFill>
                  <a:srgbClr val="F0F4FF"/>
                </a:solidFill>
              </a:rPr>
              <a:t>Epic 3 · Story 3.1 — PHEF Test Entry [5 points]</a:t>
            </a:r>
          </a:p>
        </p:txBody>
      </p:sp>
      <p:sp>
        <p:nvSpPr>
          <p:cNvPr id="7" name="TextBox 6"/>
          <p:cNvSpPr txBox="1"/>
          <p:nvPr/>
        </p:nvSpPr>
        <p:spPr>
          <a:xfrm>
            <a:off x="365760" y="1325880"/>
            <a:ext cx="5029200" cy="365760"/>
          </a:xfrm>
          <a:prstGeom prst="rect">
            <a:avLst/>
          </a:prstGeom>
          <a:noFill/>
        </p:spPr>
        <p:txBody>
          <a:bodyPr wrap="square">
            <a:spAutoFit/>
          </a:bodyPr>
          <a:lstStyle/>
          <a:p>
            <a:pPr algn="l"/>
            <a:r>
              <a:rPr sz="1300" b="1" i="0">
                <a:solidFill>
                  <a:srgbClr val="FFB700"/>
                </a:solidFill>
              </a:rPr>
              <a:t>Story Format</a:t>
            </a:r>
          </a:p>
        </p:txBody>
      </p:sp>
      <p:sp>
        <p:nvSpPr>
          <p:cNvPr id="8" name="TextBox 7"/>
          <p:cNvSpPr txBox="1"/>
          <p:nvPr/>
        </p:nvSpPr>
        <p:spPr>
          <a:xfrm>
            <a:off x="457200" y="1737360"/>
            <a:ext cx="1371600" cy="365760"/>
          </a:xfrm>
          <a:prstGeom prst="rect">
            <a:avLst/>
          </a:prstGeom>
          <a:noFill/>
        </p:spPr>
        <p:txBody>
          <a:bodyPr wrap="square">
            <a:spAutoFit/>
          </a:bodyPr>
          <a:lstStyle/>
          <a:p>
            <a:pPr algn="l"/>
            <a:r>
              <a:rPr sz="1150" b="1" i="0">
                <a:solidFill>
                  <a:srgbClr val="FFB700"/>
                </a:solidFill>
              </a:rPr>
              <a:t>As a</a:t>
            </a:r>
          </a:p>
        </p:txBody>
      </p:sp>
      <p:sp>
        <p:nvSpPr>
          <p:cNvPr id="9" name="TextBox 8"/>
          <p:cNvSpPr txBox="1"/>
          <p:nvPr/>
        </p:nvSpPr>
        <p:spPr>
          <a:xfrm>
            <a:off x="1920240" y="1737360"/>
            <a:ext cx="3200400" cy="365760"/>
          </a:xfrm>
          <a:prstGeom prst="rect">
            <a:avLst/>
          </a:prstGeom>
          <a:noFill/>
        </p:spPr>
        <p:txBody>
          <a:bodyPr wrap="square">
            <a:spAutoFit/>
          </a:bodyPr>
          <a:lstStyle/>
          <a:p>
            <a:pPr algn="l"/>
            <a:r>
              <a:rPr sz="1150" b="0" i="0">
                <a:solidFill>
                  <a:srgbClr val="FFFFFF"/>
                </a:solidFill>
              </a:rPr>
              <a:t>PTI</a:t>
            </a:r>
          </a:p>
        </p:txBody>
      </p:sp>
      <p:sp>
        <p:nvSpPr>
          <p:cNvPr id="10" name="TextBox 9"/>
          <p:cNvSpPr txBox="1"/>
          <p:nvPr/>
        </p:nvSpPr>
        <p:spPr>
          <a:xfrm>
            <a:off x="457200" y="2194560"/>
            <a:ext cx="1371600" cy="365760"/>
          </a:xfrm>
          <a:prstGeom prst="rect">
            <a:avLst/>
          </a:prstGeom>
          <a:noFill/>
        </p:spPr>
        <p:txBody>
          <a:bodyPr wrap="square">
            <a:spAutoFit/>
          </a:bodyPr>
          <a:lstStyle/>
          <a:p>
            <a:pPr algn="l"/>
            <a:r>
              <a:rPr sz="1150" b="1" i="0">
                <a:solidFill>
                  <a:srgbClr val="FFB700"/>
                </a:solidFill>
              </a:rPr>
              <a:t>I want to</a:t>
            </a:r>
          </a:p>
        </p:txBody>
      </p:sp>
      <p:sp>
        <p:nvSpPr>
          <p:cNvPr id="11" name="TextBox 10"/>
          <p:cNvSpPr txBox="1"/>
          <p:nvPr/>
        </p:nvSpPr>
        <p:spPr>
          <a:xfrm>
            <a:off x="1920240" y="2194560"/>
            <a:ext cx="3200400" cy="365760"/>
          </a:xfrm>
          <a:prstGeom prst="rect">
            <a:avLst/>
          </a:prstGeom>
          <a:noFill/>
        </p:spPr>
        <p:txBody>
          <a:bodyPr wrap="square">
            <a:spAutoFit/>
          </a:bodyPr>
          <a:lstStyle/>
          <a:p>
            <a:pPr algn="l"/>
            <a:r>
              <a:rPr sz="1150" b="0" i="0">
                <a:solidFill>
                  <a:srgbClr val="FFFFFF"/>
                </a:solidFill>
              </a:rPr>
              <a:t>enter a PHEF test result for a serviceman</a:t>
            </a:r>
          </a:p>
        </p:txBody>
      </p:sp>
      <p:sp>
        <p:nvSpPr>
          <p:cNvPr id="12" name="TextBox 11"/>
          <p:cNvSpPr txBox="1"/>
          <p:nvPr/>
        </p:nvSpPr>
        <p:spPr>
          <a:xfrm>
            <a:off x="457200" y="2651760"/>
            <a:ext cx="1371600" cy="365760"/>
          </a:xfrm>
          <a:prstGeom prst="rect">
            <a:avLst/>
          </a:prstGeom>
          <a:noFill/>
        </p:spPr>
        <p:txBody>
          <a:bodyPr wrap="square">
            <a:spAutoFit/>
          </a:bodyPr>
          <a:lstStyle/>
          <a:p>
            <a:pPr algn="l"/>
            <a:r>
              <a:rPr sz="1150" b="1" i="0">
                <a:solidFill>
                  <a:srgbClr val="FFB700"/>
                </a:solidFill>
              </a:rPr>
              <a:t>So that</a:t>
            </a:r>
          </a:p>
        </p:txBody>
      </p:sp>
      <p:sp>
        <p:nvSpPr>
          <p:cNvPr id="13" name="TextBox 12"/>
          <p:cNvSpPr txBox="1"/>
          <p:nvPr/>
        </p:nvSpPr>
        <p:spPr>
          <a:xfrm>
            <a:off x="1920240" y="2651760"/>
            <a:ext cx="3200400" cy="365760"/>
          </a:xfrm>
          <a:prstGeom prst="rect">
            <a:avLst/>
          </a:prstGeom>
          <a:noFill/>
        </p:spPr>
        <p:txBody>
          <a:bodyPr wrap="square">
            <a:spAutoFit/>
          </a:bodyPr>
          <a:lstStyle/>
          <a:p>
            <a:pPr algn="l"/>
            <a:r>
              <a:rPr sz="1150" b="0" i="0">
                <a:solidFill>
                  <a:srgbClr val="FFFFFF"/>
                </a:solidFill>
              </a:rPr>
              <a:t>the result is stored, scored, and forwarded to HR automatically</a:t>
            </a:r>
          </a:p>
        </p:txBody>
      </p:sp>
      <p:sp>
        <p:nvSpPr>
          <p:cNvPr id="14" name="TextBox 13"/>
          <p:cNvSpPr txBox="1"/>
          <p:nvPr/>
        </p:nvSpPr>
        <p:spPr>
          <a:xfrm>
            <a:off x="365760" y="3017520"/>
            <a:ext cx="5029200" cy="365760"/>
          </a:xfrm>
          <a:prstGeom prst="rect">
            <a:avLst/>
          </a:prstGeom>
          <a:noFill/>
        </p:spPr>
        <p:txBody>
          <a:bodyPr wrap="square">
            <a:spAutoFit/>
          </a:bodyPr>
          <a:lstStyle/>
          <a:p>
            <a:pPr algn="l"/>
            <a:r>
              <a:rPr sz="1300" b="1" i="0">
                <a:solidFill>
                  <a:srgbClr val="FFB700"/>
                </a:solidFill>
              </a:rPr>
              <a:t>Acceptance Criteria</a:t>
            </a:r>
          </a:p>
        </p:txBody>
      </p:sp>
      <p:sp>
        <p:nvSpPr>
          <p:cNvPr id="15" name="Rectangle 14"/>
          <p:cNvSpPr/>
          <p:nvPr/>
        </p:nvSpPr>
        <p:spPr>
          <a:xfrm>
            <a:off x="457200" y="3520440"/>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 y="3429000"/>
            <a:ext cx="11064240" cy="384048"/>
          </a:xfrm>
          <a:prstGeom prst="rect">
            <a:avLst/>
          </a:prstGeom>
          <a:noFill/>
        </p:spPr>
        <p:txBody>
          <a:bodyPr wrap="square">
            <a:spAutoFit/>
          </a:bodyPr>
          <a:lstStyle/>
          <a:p>
            <a:pPr algn="l"/>
            <a:r>
              <a:rPr sz="1300" b="0" i="0">
                <a:solidFill>
                  <a:srgbClr val="FFFFFF"/>
                </a:solidFill>
              </a:rPr>
              <a:t>Serial number confirmed against BEMIL before entry</a:t>
            </a:r>
          </a:p>
        </p:txBody>
      </p:sp>
      <p:sp>
        <p:nvSpPr>
          <p:cNvPr id="17" name="Rectangle 16"/>
          <p:cNvSpPr/>
          <p:nvPr/>
        </p:nvSpPr>
        <p:spPr>
          <a:xfrm>
            <a:off x="457200" y="3959352"/>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2" y="3867912"/>
            <a:ext cx="11064240" cy="384048"/>
          </a:xfrm>
          <a:prstGeom prst="rect">
            <a:avLst/>
          </a:prstGeom>
          <a:noFill/>
        </p:spPr>
        <p:txBody>
          <a:bodyPr wrap="square">
            <a:spAutoFit/>
          </a:bodyPr>
          <a:lstStyle/>
          <a:p>
            <a:pPr algn="l"/>
            <a:r>
              <a:rPr sz="1300" b="0" i="0">
                <a:solidFill>
                  <a:srgbClr val="FFFFFF"/>
                </a:solidFill>
              </a:rPr>
              <a:t>Side bridge L/R and 2400 m run time fields required</a:t>
            </a:r>
          </a:p>
        </p:txBody>
      </p:sp>
      <p:sp>
        <p:nvSpPr>
          <p:cNvPr id="19" name="Rectangle 18"/>
          <p:cNvSpPr/>
          <p:nvPr/>
        </p:nvSpPr>
        <p:spPr>
          <a:xfrm>
            <a:off x="457200" y="4398264"/>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1792" y="4306824"/>
            <a:ext cx="11064240" cy="384048"/>
          </a:xfrm>
          <a:prstGeom prst="rect">
            <a:avLst/>
          </a:prstGeom>
          <a:noFill/>
        </p:spPr>
        <p:txBody>
          <a:bodyPr wrap="square">
            <a:spAutoFit/>
          </a:bodyPr>
          <a:lstStyle/>
          <a:p>
            <a:pPr algn="l"/>
            <a:r>
              <a:rPr sz="1300" b="0" i="0">
                <a:solidFill>
                  <a:srgbClr val="FFFFFF"/>
                </a:solidFill>
              </a:rPr>
              <a:t>Live score shown per component during entry</a:t>
            </a:r>
          </a:p>
        </p:txBody>
      </p:sp>
      <p:sp>
        <p:nvSpPr>
          <p:cNvPr id="21" name="Rectangle 20"/>
          <p:cNvSpPr/>
          <p:nvPr/>
        </p:nvSpPr>
        <p:spPr>
          <a:xfrm>
            <a:off x="457200" y="4837176"/>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792" y="4745736"/>
            <a:ext cx="11064240" cy="384048"/>
          </a:xfrm>
          <a:prstGeom prst="rect">
            <a:avLst/>
          </a:prstGeom>
          <a:noFill/>
        </p:spPr>
        <p:txBody>
          <a:bodyPr wrap="square">
            <a:spAutoFit/>
          </a:bodyPr>
          <a:lstStyle/>
          <a:p>
            <a:pPr algn="l"/>
            <a:r>
              <a:rPr sz="1300" b="0" i="0">
                <a:solidFill>
                  <a:srgbClr val="FFFFFF"/>
                </a:solidFill>
              </a:rPr>
              <a:t>Pass: side-bridge total ≥ 20 pts AND run ≥ 10 pts</a:t>
            </a:r>
          </a:p>
        </p:txBody>
      </p:sp>
      <p:sp>
        <p:nvSpPr>
          <p:cNvPr id="23" name="Rectangle 22"/>
          <p:cNvSpPr/>
          <p:nvPr/>
        </p:nvSpPr>
        <p:spPr>
          <a:xfrm>
            <a:off x="457200" y="5276088"/>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1792" y="5184648"/>
            <a:ext cx="11064240" cy="384048"/>
          </a:xfrm>
          <a:prstGeom prst="rect">
            <a:avLst/>
          </a:prstGeom>
          <a:noFill/>
        </p:spPr>
        <p:txBody>
          <a:bodyPr wrap="square">
            <a:spAutoFit/>
          </a:bodyPr>
          <a:lstStyle/>
          <a:p>
            <a:pPr algn="l"/>
            <a:r>
              <a:rPr sz="1300" b="0" i="0">
                <a:solidFill>
                  <a:srgbClr val="FFFFFF"/>
                </a:solidFill>
              </a:rPr>
              <a:t>Audit log created on save</a:t>
            </a:r>
          </a:p>
        </p:txBody>
      </p:sp>
      <p:sp>
        <p:nvSpPr>
          <p:cNvPr id="25" name="Rectangle 24"/>
          <p:cNvSpPr/>
          <p:nvPr/>
        </p:nvSpPr>
        <p:spPr>
          <a:xfrm>
            <a:off x="457200" y="5715000"/>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1792" y="5623560"/>
            <a:ext cx="11064240" cy="384048"/>
          </a:xfrm>
          <a:prstGeom prst="rect">
            <a:avLst/>
          </a:prstGeom>
          <a:noFill/>
        </p:spPr>
        <p:txBody>
          <a:bodyPr wrap="square">
            <a:spAutoFit/>
          </a:bodyPr>
          <a:lstStyle/>
          <a:p>
            <a:pPr algn="l"/>
            <a:r>
              <a:rPr sz="1300" b="0" i="0">
                <a:solidFill>
                  <a:srgbClr val="FFFFFF"/>
                </a:solidFill>
              </a:rPr>
              <a:t>Email notification sent to PTI</a:t>
            </a:r>
          </a:p>
        </p:txBody>
      </p:sp>
      <p:sp>
        <p:nvSpPr>
          <p:cNvPr id="27" name="Rectangle 26"/>
          <p:cNvSpPr/>
          <p:nvPr/>
        </p:nvSpPr>
        <p:spPr>
          <a:xfrm>
            <a:off x="457200" y="6153912"/>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1792" y="6062472"/>
            <a:ext cx="11064240" cy="384048"/>
          </a:xfrm>
          <a:prstGeom prst="rect">
            <a:avLst/>
          </a:prstGeom>
          <a:noFill/>
        </p:spPr>
        <p:txBody>
          <a:bodyPr wrap="square">
            <a:spAutoFit/>
          </a:bodyPr>
          <a:lstStyle/>
          <a:p>
            <a:pPr algn="l"/>
            <a:r>
              <a:rPr sz="1300" b="0" i="0">
                <a:solidFill>
                  <a:srgbClr val="FFFFFF"/>
                </a:solidFill>
              </a:rPr>
              <a:t>HR message queued in broker (async, non-blocking)</a:t>
            </a:r>
          </a:p>
        </p:txBody>
      </p:sp>
      <p:sp>
        <p:nvSpPr>
          <p:cNvPr id="29" name="TextBox 28"/>
          <p:cNvSpPr txBox="1"/>
          <p:nvPr/>
        </p:nvSpPr>
        <p:spPr>
          <a:xfrm>
            <a:off x="5852160" y="1325880"/>
            <a:ext cx="5943600" cy="365760"/>
          </a:xfrm>
          <a:prstGeom prst="rect">
            <a:avLst/>
          </a:prstGeom>
          <a:noFill/>
        </p:spPr>
        <p:txBody>
          <a:bodyPr wrap="square">
            <a:spAutoFit/>
          </a:bodyPr>
          <a:lstStyle/>
          <a:p>
            <a:pPr algn="l"/>
            <a:r>
              <a:rPr sz="1300" b="1" i="0">
                <a:solidFill>
                  <a:srgbClr val="FFB700"/>
                </a:solidFill>
              </a:rPr>
              <a:t>Linked Test Cases</a:t>
            </a:r>
          </a:p>
        </p:txBody>
      </p:sp>
      <p:sp>
        <p:nvSpPr>
          <p:cNvPr id="30" name="TextBox 29"/>
          <p:cNvSpPr txBox="1"/>
          <p:nvPr/>
        </p:nvSpPr>
        <p:spPr>
          <a:xfrm>
            <a:off x="5852160" y="1737360"/>
            <a:ext cx="5943600" cy="365760"/>
          </a:xfrm>
          <a:prstGeom prst="rect">
            <a:avLst/>
          </a:prstGeom>
          <a:noFill/>
        </p:spPr>
        <p:txBody>
          <a:bodyPr wrap="square">
            <a:spAutoFit/>
          </a:bodyPr>
          <a:lstStyle/>
          <a:p>
            <a:pPr algn="l"/>
            <a:r>
              <a:rPr sz="1100" b="0" i="0">
                <a:solidFill>
                  <a:srgbClr val="28A745"/>
                </a:solidFill>
              </a:rPr>
              <a:t>[x] Form shows all required fields (serial, SB-R, SB-L, run time)</a:t>
            </a:r>
          </a:p>
        </p:txBody>
      </p:sp>
      <p:sp>
        <p:nvSpPr>
          <p:cNvPr id="31" name="TextBox 30"/>
          <p:cNvSpPr txBox="1"/>
          <p:nvPr/>
        </p:nvSpPr>
        <p:spPr>
          <a:xfrm>
            <a:off x="5852160" y="2157984"/>
            <a:ext cx="5943600" cy="365760"/>
          </a:xfrm>
          <a:prstGeom prst="rect">
            <a:avLst/>
          </a:prstGeom>
          <a:noFill/>
        </p:spPr>
        <p:txBody>
          <a:bodyPr wrap="square">
            <a:spAutoFit/>
          </a:bodyPr>
          <a:lstStyle/>
          <a:p>
            <a:pPr algn="l"/>
            <a:r>
              <a:rPr sz="1100" b="0" i="0">
                <a:solidFill>
                  <a:srgbClr val="28A745"/>
                </a:solidFill>
              </a:rPr>
              <a:t>[x] Invalid time format → error shown before submit</a:t>
            </a:r>
          </a:p>
        </p:txBody>
      </p:sp>
      <p:sp>
        <p:nvSpPr>
          <p:cNvPr id="32" name="TextBox 31"/>
          <p:cNvSpPr txBox="1"/>
          <p:nvPr/>
        </p:nvSpPr>
        <p:spPr>
          <a:xfrm>
            <a:off x="5852160" y="2578608"/>
            <a:ext cx="5943600" cy="365760"/>
          </a:xfrm>
          <a:prstGeom prst="rect">
            <a:avLst/>
          </a:prstGeom>
          <a:noFill/>
        </p:spPr>
        <p:txBody>
          <a:bodyPr wrap="square">
            <a:spAutoFit/>
          </a:bodyPr>
          <a:lstStyle/>
          <a:p>
            <a:pPr algn="l"/>
            <a:r>
              <a:rPr sz="1100" b="0" i="0">
                <a:solidFill>
                  <a:srgbClr val="28A745"/>
                </a:solidFill>
              </a:rPr>
              <a:t>[x] Unknown serial → 'Confirm Serial' blocks Add button</a:t>
            </a:r>
          </a:p>
        </p:txBody>
      </p:sp>
      <p:sp>
        <p:nvSpPr>
          <p:cNvPr id="33" name="TextBox 32"/>
          <p:cNvSpPr txBox="1"/>
          <p:nvPr/>
        </p:nvSpPr>
        <p:spPr>
          <a:xfrm>
            <a:off x="5852160" y="2999232"/>
            <a:ext cx="5943600" cy="365760"/>
          </a:xfrm>
          <a:prstGeom prst="rect">
            <a:avLst/>
          </a:prstGeom>
          <a:noFill/>
        </p:spPr>
        <p:txBody>
          <a:bodyPr wrap="square">
            <a:spAutoFit/>
          </a:bodyPr>
          <a:lstStyle/>
          <a:p>
            <a:pPr algn="l"/>
            <a:r>
              <a:rPr sz="1100" b="0" i="0">
                <a:solidFill>
                  <a:srgbClr val="28A745"/>
                </a:solidFill>
              </a:rPr>
              <a:t>[x] Score displayed live as values change</a:t>
            </a:r>
          </a:p>
        </p:txBody>
      </p:sp>
      <p:sp>
        <p:nvSpPr>
          <p:cNvPr id="34" name="TextBox 33"/>
          <p:cNvSpPr txBox="1"/>
          <p:nvPr/>
        </p:nvSpPr>
        <p:spPr>
          <a:xfrm>
            <a:off x="5852160" y="3419856"/>
            <a:ext cx="5943600" cy="365760"/>
          </a:xfrm>
          <a:prstGeom prst="rect">
            <a:avLst/>
          </a:prstGeom>
          <a:noFill/>
        </p:spPr>
        <p:txBody>
          <a:bodyPr wrap="square">
            <a:spAutoFit/>
          </a:bodyPr>
          <a:lstStyle/>
          <a:p>
            <a:pPr algn="l"/>
            <a:r>
              <a:rPr sz="1100" b="0" i="0">
                <a:solidFill>
                  <a:srgbClr val="28A745"/>
                </a:solidFill>
              </a:rPr>
              <a:t>[x] Pass/fail calculated correctly for all age/gender groups</a:t>
            </a:r>
          </a:p>
        </p:txBody>
      </p:sp>
      <p:sp>
        <p:nvSpPr>
          <p:cNvPr id="35" name="TextBox 34"/>
          <p:cNvSpPr txBox="1"/>
          <p:nvPr/>
        </p:nvSpPr>
        <p:spPr>
          <a:xfrm>
            <a:off x="5852160" y="3840480"/>
            <a:ext cx="5943600" cy="365760"/>
          </a:xfrm>
          <a:prstGeom prst="rect">
            <a:avLst/>
          </a:prstGeom>
          <a:noFill/>
        </p:spPr>
        <p:txBody>
          <a:bodyPr wrap="square">
            <a:spAutoFit/>
          </a:bodyPr>
          <a:lstStyle/>
          <a:p>
            <a:pPr algn="l"/>
            <a:r>
              <a:rPr sz="1100" b="0" i="0">
                <a:solidFill>
                  <a:srgbClr val="28A745"/>
                </a:solidFill>
              </a:rPr>
              <a:t>[x] DB row created with correct foreign keys after Add</a:t>
            </a:r>
          </a:p>
        </p:txBody>
      </p:sp>
      <p:sp>
        <p:nvSpPr>
          <p:cNvPr id="36" name="TextBox 35"/>
          <p:cNvSpPr txBox="1"/>
          <p:nvPr/>
        </p:nvSpPr>
        <p:spPr>
          <a:xfrm>
            <a:off x="5852160" y="4261104"/>
            <a:ext cx="5943600" cy="365760"/>
          </a:xfrm>
          <a:prstGeom prst="rect">
            <a:avLst/>
          </a:prstGeom>
          <a:noFill/>
        </p:spPr>
        <p:txBody>
          <a:bodyPr wrap="square">
            <a:spAutoFit/>
          </a:bodyPr>
          <a:lstStyle/>
          <a:p>
            <a:pPr algn="l"/>
            <a:r>
              <a:rPr sz="1100" b="0" i="0">
                <a:solidFill>
                  <a:srgbClr val="28A745"/>
                </a:solidFill>
              </a:rPr>
              <a:t>[x] Broker message enqueued (mock HR call verified)</a:t>
            </a:r>
          </a:p>
        </p:txBody>
      </p:sp>
      <p:sp>
        <p:nvSpPr>
          <p:cNvPr id="37" name="TextBox 36"/>
          <p:cNvSpPr txBox="1"/>
          <p:nvPr/>
        </p:nvSpPr>
        <p:spPr>
          <a:xfrm>
            <a:off x="5852160" y="4681728"/>
            <a:ext cx="5943600" cy="365760"/>
          </a:xfrm>
          <a:prstGeom prst="rect">
            <a:avLst/>
          </a:prstGeom>
          <a:noFill/>
        </p:spPr>
        <p:txBody>
          <a:bodyPr wrap="square">
            <a:spAutoFit/>
          </a:bodyPr>
          <a:lstStyle/>
          <a:p>
            <a:pPr algn="l"/>
            <a:r>
              <a:rPr sz="1100" b="0" i="0">
                <a:solidFill>
                  <a:srgbClr val="28A745"/>
                </a:solidFill>
              </a:rPr>
              <a:t>[x] Audit log entry present after save</a:t>
            </a:r>
          </a:p>
        </p:txBody>
      </p:sp>
      <p:sp>
        <p:nvSpPr>
          <p:cNvPr id="38" name="TextBox 37"/>
          <p:cNvSpPr txBox="1"/>
          <p:nvPr/>
        </p:nvSpPr>
        <p:spPr>
          <a:xfrm>
            <a:off x="5852160" y="5102352"/>
            <a:ext cx="5943600" cy="365760"/>
          </a:xfrm>
          <a:prstGeom prst="rect">
            <a:avLst/>
          </a:prstGeom>
          <a:noFill/>
        </p:spPr>
        <p:txBody>
          <a:bodyPr wrap="square">
            <a:spAutoFit/>
          </a:bodyPr>
          <a:lstStyle/>
          <a:p>
            <a:pPr algn="l"/>
            <a:r>
              <a:rPr sz="1100" b="0" i="0">
                <a:solidFill>
                  <a:srgbClr val="FFB700"/>
                </a:solidFill>
              </a:rPr>
              <a:t>[ ] Email notification received in Mailpit</a:t>
            </a:r>
          </a:p>
        </p:txBody>
      </p:sp>
      <p:sp>
        <p:nvSpPr>
          <p:cNvPr id="43" name="TextBox 42"/>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44" name="Rounded Rectangle 43"/>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08 / 20</a:t>
            </a:r>
          </a:p>
        </p:txBody>
      </p:sp>
      <p:sp>
        <p:nvSpPr>
          <p:cNvPr id="45" name="Rectangle 44"/>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ectangle 68"/>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8016"/>
            <a:ext cx="10972800" cy="822960"/>
          </a:xfrm>
          <a:prstGeom prst="rect">
            <a:avLst/>
          </a:prstGeom>
          <a:noFill/>
        </p:spPr>
        <p:txBody>
          <a:bodyPr wrap="square">
            <a:spAutoFit/>
          </a:bodyPr>
          <a:lstStyle/>
          <a:p>
            <a:pPr algn="l"/>
            <a:r>
              <a:rPr sz="3000" b="1" i="0">
                <a:solidFill>
                  <a:srgbClr val="FFB700"/>
                </a:solidFill>
              </a:rPr>
              <a:t>Test Cases &amp; Quality</a:t>
            </a:r>
          </a:p>
        </p:txBody>
      </p:sp>
      <p:sp>
        <p:nvSpPr>
          <p:cNvPr id="6" name="TextBox 5"/>
          <p:cNvSpPr txBox="1"/>
          <p:nvPr/>
        </p:nvSpPr>
        <p:spPr>
          <a:xfrm>
            <a:off x="457200" y="841248"/>
            <a:ext cx="10972800" cy="411480"/>
          </a:xfrm>
          <a:prstGeom prst="rect">
            <a:avLst/>
          </a:prstGeom>
          <a:noFill/>
        </p:spPr>
        <p:txBody>
          <a:bodyPr wrap="square">
            <a:spAutoFit/>
          </a:bodyPr>
          <a:lstStyle/>
          <a:p>
            <a:pPr algn="l"/>
            <a:r>
              <a:rPr sz="1300" b="0" i="1">
                <a:solidFill>
                  <a:srgbClr val="F0F4FF"/>
                </a:solidFill>
              </a:rPr>
              <a:t>1 500+ lines of test code · unit + integration coverage</a:t>
            </a:r>
          </a:p>
        </p:txBody>
      </p:sp>
      <p:sp>
        <p:nvSpPr>
          <p:cNvPr id="7" name="Rectangle 6"/>
          <p:cNvSpPr/>
          <p:nvPr/>
        </p:nvSpPr>
        <p:spPr>
          <a:xfrm>
            <a:off x="274320" y="1371600"/>
            <a:ext cx="3200400" cy="402336"/>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426464"/>
            <a:ext cx="3108960" cy="402336"/>
          </a:xfrm>
          <a:prstGeom prst="rect">
            <a:avLst/>
          </a:prstGeom>
          <a:noFill/>
        </p:spPr>
        <p:txBody>
          <a:bodyPr wrap="square">
            <a:spAutoFit/>
          </a:bodyPr>
          <a:lstStyle/>
          <a:p>
            <a:pPr algn="l"/>
            <a:r>
              <a:rPr sz="1100" b="1" i="0">
                <a:solidFill>
                  <a:srgbClr val="0D1B3E"/>
                </a:solidFill>
              </a:rPr>
              <a:t>Test File</a:t>
            </a:r>
          </a:p>
        </p:txBody>
      </p:sp>
      <p:sp>
        <p:nvSpPr>
          <p:cNvPr id="9" name="Rectangle 8"/>
          <p:cNvSpPr/>
          <p:nvPr/>
        </p:nvSpPr>
        <p:spPr>
          <a:xfrm>
            <a:off x="3474720" y="1371600"/>
            <a:ext cx="640080" cy="402336"/>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47872" y="1426464"/>
            <a:ext cx="548640" cy="402336"/>
          </a:xfrm>
          <a:prstGeom prst="rect">
            <a:avLst/>
          </a:prstGeom>
          <a:noFill/>
        </p:spPr>
        <p:txBody>
          <a:bodyPr wrap="square">
            <a:spAutoFit/>
          </a:bodyPr>
          <a:lstStyle/>
          <a:p>
            <a:pPr algn="l"/>
            <a:r>
              <a:rPr sz="1100" b="1" i="0">
                <a:solidFill>
                  <a:srgbClr val="0D1B3E"/>
                </a:solidFill>
              </a:rPr>
              <a:t>Cases</a:t>
            </a:r>
          </a:p>
        </p:txBody>
      </p:sp>
      <p:sp>
        <p:nvSpPr>
          <p:cNvPr id="11" name="Rectangle 10"/>
          <p:cNvSpPr/>
          <p:nvPr/>
        </p:nvSpPr>
        <p:spPr>
          <a:xfrm>
            <a:off x="4114800" y="1371600"/>
            <a:ext cx="1371600" cy="402336"/>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87952" y="1426464"/>
            <a:ext cx="1280160" cy="402336"/>
          </a:xfrm>
          <a:prstGeom prst="rect">
            <a:avLst/>
          </a:prstGeom>
          <a:noFill/>
        </p:spPr>
        <p:txBody>
          <a:bodyPr wrap="square">
            <a:spAutoFit/>
          </a:bodyPr>
          <a:lstStyle/>
          <a:p>
            <a:pPr algn="l"/>
            <a:r>
              <a:rPr sz="1100" b="1" i="0">
                <a:solidFill>
                  <a:srgbClr val="0D1B3E"/>
                </a:solidFill>
              </a:rPr>
              <a:t>Type</a:t>
            </a:r>
          </a:p>
        </p:txBody>
      </p:sp>
      <p:sp>
        <p:nvSpPr>
          <p:cNvPr id="13" name="Rectangle 12"/>
          <p:cNvSpPr/>
          <p:nvPr/>
        </p:nvSpPr>
        <p:spPr>
          <a:xfrm>
            <a:off x="5577840" y="1371600"/>
            <a:ext cx="6675120" cy="402336"/>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50992" y="1426464"/>
            <a:ext cx="6583680" cy="402336"/>
          </a:xfrm>
          <a:prstGeom prst="rect">
            <a:avLst/>
          </a:prstGeom>
          <a:noFill/>
        </p:spPr>
        <p:txBody>
          <a:bodyPr wrap="square">
            <a:spAutoFit/>
          </a:bodyPr>
          <a:lstStyle/>
          <a:p>
            <a:pPr algn="l"/>
            <a:r>
              <a:rPr sz="1100" b="1" i="0">
                <a:solidFill>
                  <a:srgbClr val="0D1B3E"/>
                </a:solidFill>
              </a:rPr>
              <a:t>What is tested</a:t>
            </a:r>
          </a:p>
        </p:txBody>
      </p:sp>
      <p:sp>
        <p:nvSpPr>
          <p:cNvPr id="15" name="Rectangle 14"/>
          <p:cNvSpPr/>
          <p:nvPr/>
        </p:nvSpPr>
        <p:spPr>
          <a:xfrm>
            <a:off x="274320" y="1773936"/>
            <a:ext cx="3200400" cy="402336"/>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7472" y="1828800"/>
            <a:ext cx="3108960" cy="402336"/>
          </a:xfrm>
          <a:prstGeom prst="rect">
            <a:avLst/>
          </a:prstGeom>
          <a:noFill/>
        </p:spPr>
        <p:txBody>
          <a:bodyPr wrap="square">
            <a:spAutoFit/>
          </a:bodyPr>
          <a:lstStyle/>
          <a:p>
            <a:pPr algn="l"/>
            <a:r>
              <a:rPr sz="1000" b="0" i="0">
                <a:solidFill>
                  <a:srgbClr val="FFFFFF"/>
                </a:solidFill>
              </a:rPr>
              <a:t>test_phef_calculator.py</a:t>
            </a:r>
          </a:p>
        </p:txBody>
      </p:sp>
      <p:sp>
        <p:nvSpPr>
          <p:cNvPr id="17" name="Rectangle 16"/>
          <p:cNvSpPr/>
          <p:nvPr/>
        </p:nvSpPr>
        <p:spPr>
          <a:xfrm>
            <a:off x="3474720" y="1773936"/>
            <a:ext cx="640080" cy="402336"/>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47872" y="1828800"/>
            <a:ext cx="548640" cy="402336"/>
          </a:xfrm>
          <a:prstGeom prst="rect">
            <a:avLst/>
          </a:prstGeom>
          <a:noFill/>
        </p:spPr>
        <p:txBody>
          <a:bodyPr wrap="square">
            <a:spAutoFit/>
          </a:bodyPr>
          <a:lstStyle/>
          <a:p>
            <a:pPr algn="l"/>
            <a:r>
              <a:rPr sz="1000" b="0" i="0">
                <a:solidFill>
                  <a:srgbClr val="FFFFFF"/>
                </a:solidFill>
              </a:rPr>
              <a:t>14</a:t>
            </a:r>
          </a:p>
        </p:txBody>
      </p:sp>
      <p:sp>
        <p:nvSpPr>
          <p:cNvPr id="19" name="Rectangle 18"/>
          <p:cNvSpPr/>
          <p:nvPr/>
        </p:nvSpPr>
        <p:spPr>
          <a:xfrm>
            <a:off x="4114800" y="1773936"/>
            <a:ext cx="1371600" cy="402336"/>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87952" y="1828800"/>
            <a:ext cx="1280160" cy="402336"/>
          </a:xfrm>
          <a:prstGeom prst="rect">
            <a:avLst/>
          </a:prstGeom>
          <a:noFill/>
        </p:spPr>
        <p:txBody>
          <a:bodyPr wrap="square">
            <a:spAutoFit/>
          </a:bodyPr>
          <a:lstStyle/>
          <a:p>
            <a:pPr algn="l"/>
            <a:r>
              <a:rPr sz="1000" b="0" i="0">
                <a:solidFill>
                  <a:srgbClr val="FFFFFF"/>
                </a:solidFill>
              </a:rPr>
              <a:t>Unit</a:t>
            </a:r>
          </a:p>
        </p:txBody>
      </p:sp>
      <p:sp>
        <p:nvSpPr>
          <p:cNvPr id="21" name="Rectangle 20"/>
          <p:cNvSpPr/>
          <p:nvPr/>
        </p:nvSpPr>
        <p:spPr>
          <a:xfrm>
            <a:off x="5577840" y="1773936"/>
            <a:ext cx="6675120" cy="402336"/>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50992" y="1828800"/>
            <a:ext cx="6583680" cy="402336"/>
          </a:xfrm>
          <a:prstGeom prst="rect">
            <a:avLst/>
          </a:prstGeom>
          <a:noFill/>
        </p:spPr>
        <p:txBody>
          <a:bodyPr wrap="square">
            <a:spAutoFit/>
          </a:bodyPr>
          <a:lstStyle/>
          <a:p>
            <a:pPr algn="l"/>
            <a:r>
              <a:rPr sz="1000" b="0" i="0">
                <a:solidFill>
                  <a:srgbClr val="FFFFFF"/>
                </a:solidFill>
              </a:rPr>
              <a:t>Age/gender scoring tables — side bridge + run time</a:t>
            </a:r>
          </a:p>
        </p:txBody>
      </p:sp>
      <p:sp>
        <p:nvSpPr>
          <p:cNvPr id="23" name="Rectangle 22"/>
          <p:cNvSpPr/>
          <p:nvPr/>
        </p:nvSpPr>
        <p:spPr>
          <a:xfrm>
            <a:off x="274320" y="2176272"/>
            <a:ext cx="3200400" cy="402336"/>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7472" y="2231136"/>
            <a:ext cx="3108960" cy="402336"/>
          </a:xfrm>
          <a:prstGeom prst="rect">
            <a:avLst/>
          </a:prstGeom>
          <a:noFill/>
        </p:spPr>
        <p:txBody>
          <a:bodyPr wrap="square">
            <a:spAutoFit/>
          </a:bodyPr>
          <a:lstStyle/>
          <a:p>
            <a:pPr algn="l"/>
            <a:r>
              <a:rPr sz="1000" b="0" i="0">
                <a:solidFill>
                  <a:srgbClr val="FFFFFF"/>
                </a:solidFill>
              </a:rPr>
              <a:t>test_Functional_calculator.py</a:t>
            </a:r>
          </a:p>
        </p:txBody>
      </p:sp>
      <p:sp>
        <p:nvSpPr>
          <p:cNvPr id="25" name="Rectangle 24"/>
          <p:cNvSpPr/>
          <p:nvPr/>
        </p:nvSpPr>
        <p:spPr>
          <a:xfrm>
            <a:off x="3474720" y="2176272"/>
            <a:ext cx="640080" cy="402336"/>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547872" y="2231136"/>
            <a:ext cx="548640" cy="402336"/>
          </a:xfrm>
          <a:prstGeom prst="rect">
            <a:avLst/>
          </a:prstGeom>
          <a:noFill/>
        </p:spPr>
        <p:txBody>
          <a:bodyPr wrap="square">
            <a:spAutoFit/>
          </a:bodyPr>
          <a:lstStyle/>
          <a:p>
            <a:pPr algn="l"/>
            <a:r>
              <a:rPr sz="1000" b="0" i="0">
                <a:solidFill>
                  <a:srgbClr val="FFFFFF"/>
                </a:solidFill>
              </a:rPr>
              <a:t>~20</a:t>
            </a:r>
          </a:p>
        </p:txBody>
      </p:sp>
      <p:sp>
        <p:nvSpPr>
          <p:cNvPr id="27" name="Rectangle 26"/>
          <p:cNvSpPr/>
          <p:nvPr/>
        </p:nvSpPr>
        <p:spPr>
          <a:xfrm>
            <a:off x="4114800" y="2176272"/>
            <a:ext cx="1371600" cy="402336"/>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87952" y="2231136"/>
            <a:ext cx="1280160" cy="402336"/>
          </a:xfrm>
          <a:prstGeom prst="rect">
            <a:avLst/>
          </a:prstGeom>
          <a:noFill/>
        </p:spPr>
        <p:txBody>
          <a:bodyPr wrap="square">
            <a:spAutoFit/>
          </a:bodyPr>
          <a:lstStyle/>
          <a:p>
            <a:pPr algn="l"/>
            <a:r>
              <a:rPr sz="1000" b="0" i="0">
                <a:solidFill>
                  <a:srgbClr val="FFFFFF"/>
                </a:solidFill>
              </a:rPr>
              <a:t>Unit</a:t>
            </a:r>
          </a:p>
        </p:txBody>
      </p:sp>
      <p:sp>
        <p:nvSpPr>
          <p:cNvPr id="29" name="Rectangle 28"/>
          <p:cNvSpPr/>
          <p:nvPr/>
        </p:nvSpPr>
        <p:spPr>
          <a:xfrm>
            <a:off x="5577840" y="2176272"/>
            <a:ext cx="6675120" cy="402336"/>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50992" y="2231136"/>
            <a:ext cx="6583680" cy="402336"/>
          </a:xfrm>
          <a:prstGeom prst="rect">
            <a:avLst/>
          </a:prstGeom>
          <a:noFill/>
        </p:spPr>
        <p:txBody>
          <a:bodyPr wrap="square">
            <a:spAutoFit/>
          </a:bodyPr>
          <a:lstStyle/>
          <a:p>
            <a:pPr algn="l"/>
            <a:r>
              <a:rPr sz="1000" b="0" i="0">
                <a:solidFill>
                  <a:srgbClr val="FFFFFF"/>
                </a:solidFill>
              </a:rPr>
              <a:t>Pull-ups, push-ups, sit-ups scoring by age category</a:t>
            </a:r>
          </a:p>
        </p:txBody>
      </p:sp>
      <p:sp>
        <p:nvSpPr>
          <p:cNvPr id="31" name="Rectangle 30"/>
          <p:cNvSpPr/>
          <p:nvPr/>
        </p:nvSpPr>
        <p:spPr>
          <a:xfrm>
            <a:off x="274320" y="2578608"/>
            <a:ext cx="3200400" cy="402336"/>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2633472"/>
            <a:ext cx="3108960" cy="402336"/>
          </a:xfrm>
          <a:prstGeom prst="rect">
            <a:avLst/>
          </a:prstGeom>
          <a:noFill/>
        </p:spPr>
        <p:txBody>
          <a:bodyPr wrap="square">
            <a:spAutoFit/>
          </a:bodyPr>
          <a:lstStyle/>
          <a:p>
            <a:pPr algn="l"/>
            <a:r>
              <a:rPr sz="1000" b="0" i="0">
                <a:solidFill>
                  <a:srgbClr val="FFFFFF"/>
                </a:solidFill>
              </a:rPr>
              <a:t>test_broker_unit.py</a:t>
            </a:r>
          </a:p>
        </p:txBody>
      </p:sp>
      <p:sp>
        <p:nvSpPr>
          <p:cNvPr id="33" name="Rectangle 32"/>
          <p:cNvSpPr/>
          <p:nvPr/>
        </p:nvSpPr>
        <p:spPr>
          <a:xfrm>
            <a:off x="3474720" y="2578608"/>
            <a:ext cx="640080" cy="402336"/>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547872" y="2633472"/>
            <a:ext cx="548640" cy="402336"/>
          </a:xfrm>
          <a:prstGeom prst="rect">
            <a:avLst/>
          </a:prstGeom>
          <a:noFill/>
        </p:spPr>
        <p:txBody>
          <a:bodyPr wrap="square">
            <a:spAutoFit/>
          </a:bodyPr>
          <a:lstStyle/>
          <a:p>
            <a:pPr algn="l"/>
            <a:r>
              <a:rPr sz="1000" b="0" i="0">
                <a:solidFill>
                  <a:srgbClr val="FFFFFF"/>
                </a:solidFill>
              </a:rPr>
              <a:t>30+</a:t>
            </a:r>
          </a:p>
        </p:txBody>
      </p:sp>
      <p:sp>
        <p:nvSpPr>
          <p:cNvPr id="35" name="Rectangle 34"/>
          <p:cNvSpPr/>
          <p:nvPr/>
        </p:nvSpPr>
        <p:spPr>
          <a:xfrm>
            <a:off x="4114800" y="2578608"/>
            <a:ext cx="1371600" cy="402336"/>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187952" y="2633472"/>
            <a:ext cx="1280160" cy="402336"/>
          </a:xfrm>
          <a:prstGeom prst="rect">
            <a:avLst/>
          </a:prstGeom>
          <a:noFill/>
        </p:spPr>
        <p:txBody>
          <a:bodyPr wrap="square">
            <a:spAutoFit/>
          </a:bodyPr>
          <a:lstStyle/>
          <a:p>
            <a:pPr algn="l"/>
            <a:r>
              <a:rPr sz="1000" b="0" i="0">
                <a:solidFill>
                  <a:srgbClr val="FFFFFF"/>
                </a:solidFill>
              </a:rPr>
              <a:t>Unit</a:t>
            </a:r>
          </a:p>
        </p:txBody>
      </p:sp>
      <p:sp>
        <p:nvSpPr>
          <p:cNvPr id="37" name="Rectangle 36"/>
          <p:cNvSpPr/>
          <p:nvPr/>
        </p:nvSpPr>
        <p:spPr>
          <a:xfrm>
            <a:off x="5577840" y="2578608"/>
            <a:ext cx="6675120" cy="402336"/>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650992" y="2633472"/>
            <a:ext cx="6583680" cy="402336"/>
          </a:xfrm>
          <a:prstGeom prst="rect">
            <a:avLst/>
          </a:prstGeom>
          <a:noFill/>
        </p:spPr>
        <p:txBody>
          <a:bodyPr wrap="square">
            <a:spAutoFit/>
          </a:bodyPr>
          <a:lstStyle/>
          <a:p>
            <a:pPr algn="l"/>
            <a:r>
              <a:rPr sz="1000" b="0" i="0">
                <a:solidFill>
                  <a:srgbClr val="FFFFFF"/>
                </a:solidFill>
              </a:rPr>
              <a:t>Async queue, exponential backoff, dead-letter logic</a:t>
            </a:r>
          </a:p>
        </p:txBody>
      </p:sp>
      <p:sp>
        <p:nvSpPr>
          <p:cNvPr id="39" name="Rectangle 38"/>
          <p:cNvSpPr/>
          <p:nvPr/>
        </p:nvSpPr>
        <p:spPr>
          <a:xfrm>
            <a:off x="274320" y="2980944"/>
            <a:ext cx="3200400" cy="402336"/>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47472" y="3035808"/>
            <a:ext cx="3108960" cy="402336"/>
          </a:xfrm>
          <a:prstGeom prst="rect">
            <a:avLst/>
          </a:prstGeom>
          <a:noFill/>
        </p:spPr>
        <p:txBody>
          <a:bodyPr wrap="square">
            <a:spAutoFit/>
          </a:bodyPr>
          <a:lstStyle/>
          <a:p>
            <a:pPr algn="l"/>
            <a:r>
              <a:rPr sz="1000" b="0" i="0">
                <a:solidFill>
                  <a:srgbClr val="FFFFFF"/>
                </a:solidFill>
              </a:rPr>
              <a:t>test_application_config.py</a:t>
            </a:r>
          </a:p>
        </p:txBody>
      </p:sp>
      <p:sp>
        <p:nvSpPr>
          <p:cNvPr id="41" name="Rectangle 40"/>
          <p:cNvSpPr/>
          <p:nvPr/>
        </p:nvSpPr>
        <p:spPr>
          <a:xfrm>
            <a:off x="3474720" y="2980944"/>
            <a:ext cx="640080" cy="402336"/>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547872" y="3035808"/>
            <a:ext cx="548640" cy="402336"/>
          </a:xfrm>
          <a:prstGeom prst="rect">
            <a:avLst/>
          </a:prstGeom>
          <a:noFill/>
        </p:spPr>
        <p:txBody>
          <a:bodyPr wrap="square">
            <a:spAutoFit/>
          </a:bodyPr>
          <a:lstStyle/>
          <a:p>
            <a:pPr algn="l"/>
            <a:r>
              <a:rPr sz="1000" b="0" i="0">
                <a:solidFill>
                  <a:srgbClr val="FFFFFF"/>
                </a:solidFill>
              </a:rPr>
              <a:t>25+</a:t>
            </a:r>
          </a:p>
        </p:txBody>
      </p:sp>
      <p:sp>
        <p:nvSpPr>
          <p:cNvPr id="43" name="Rectangle 42"/>
          <p:cNvSpPr/>
          <p:nvPr/>
        </p:nvSpPr>
        <p:spPr>
          <a:xfrm>
            <a:off x="4114800" y="2980944"/>
            <a:ext cx="1371600" cy="402336"/>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187952" y="3035808"/>
            <a:ext cx="1280160" cy="402336"/>
          </a:xfrm>
          <a:prstGeom prst="rect">
            <a:avLst/>
          </a:prstGeom>
          <a:noFill/>
        </p:spPr>
        <p:txBody>
          <a:bodyPr wrap="square">
            <a:spAutoFit/>
          </a:bodyPr>
          <a:lstStyle/>
          <a:p>
            <a:pPr algn="l"/>
            <a:r>
              <a:rPr sz="1000" b="0" i="0">
                <a:solidFill>
                  <a:srgbClr val="FFFFFF"/>
                </a:solidFill>
              </a:rPr>
              <a:t>Unit</a:t>
            </a:r>
          </a:p>
        </p:txBody>
      </p:sp>
      <p:sp>
        <p:nvSpPr>
          <p:cNvPr id="45" name="Rectangle 44"/>
          <p:cNvSpPr/>
          <p:nvPr/>
        </p:nvSpPr>
        <p:spPr>
          <a:xfrm>
            <a:off x="5577840" y="2980944"/>
            <a:ext cx="6675120" cy="402336"/>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650992" y="3035808"/>
            <a:ext cx="6583680" cy="402336"/>
          </a:xfrm>
          <a:prstGeom prst="rect">
            <a:avLst/>
          </a:prstGeom>
          <a:noFill/>
        </p:spPr>
        <p:txBody>
          <a:bodyPr wrap="square">
            <a:spAutoFit/>
          </a:bodyPr>
          <a:lstStyle/>
          <a:p>
            <a:pPr algn="l"/>
            <a:r>
              <a:rPr sz="1000" b="0" i="0">
                <a:solidFill>
                  <a:srgbClr val="FFFFFF"/>
                </a:solidFill>
              </a:rPr>
              <a:t>YAML config loading, DB URL, SMTP settings</a:t>
            </a:r>
          </a:p>
        </p:txBody>
      </p:sp>
      <p:sp>
        <p:nvSpPr>
          <p:cNvPr id="47" name="Rectangle 46"/>
          <p:cNvSpPr/>
          <p:nvPr/>
        </p:nvSpPr>
        <p:spPr>
          <a:xfrm>
            <a:off x="274320" y="3383280"/>
            <a:ext cx="3200400" cy="402336"/>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47472" y="3438144"/>
            <a:ext cx="3108960" cy="402336"/>
          </a:xfrm>
          <a:prstGeom prst="rect">
            <a:avLst/>
          </a:prstGeom>
          <a:noFill/>
        </p:spPr>
        <p:txBody>
          <a:bodyPr wrap="square">
            <a:spAutoFit/>
          </a:bodyPr>
          <a:lstStyle/>
          <a:p>
            <a:pPr algn="l"/>
            <a:r>
              <a:rPr sz="1000" b="0" i="0">
                <a:solidFill>
                  <a:srgbClr val="FFFFFF"/>
                </a:solidFill>
              </a:rPr>
              <a:t>test_read_xml_chronos_and_save.py</a:t>
            </a:r>
          </a:p>
        </p:txBody>
      </p:sp>
      <p:sp>
        <p:nvSpPr>
          <p:cNvPr id="49" name="Rectangle 48"/>
          <p:cNvSpPr/>
          <p:nvPr/>
        </p:nvSpPr>
        <p:spPr>
          <a:xfrm>
            <a:off x="3474720" y="3383280"/>
            <a:ext cx="640080" cy="402336"/>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547872" y="3438144"/>
            <a:ext cx="548640" cy="402336"/>
          </a:xfrm>
          <a:prstGeom prst="rect">
            <a:avLst/>
          </a:prstGeom>
          <a:noFill/>
        </p:spPr>
        <p:txBody>
          <a:bodyPr wrap="square">
            <a:spAutoFit/>
          </a:bodyPr>
          <a:lstStyle/>
          <a:p>
            <a:pPr algn="l"/>
            <a:r>
              <a:rPr sz="1000" b="0" i="0">
                <a:solidFill>
                  <a:srgbClr val="FFFFFF"/>
                </a:solidFill>
              </a:rPr>
              <a:t>15+</a:t>
            </a:r>
          </a:p>
        </p:txBody>
      </p:sp>
      <p:sp>
        <p:nvSpPr>
          <p:cNvPr id="51" name="Rectangle 50"/>
          <p:cNvSpPr/>
          <p:nvPr/>
        </p:nvSpPr>
        <p:spPr>
          <a:xfrm>
            <a:off x="4114800" y="3383280"/>
            <a:ext cx="1371600" cy="402336"/>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187952" y="3438144"/>
            <a:ext cx="1280160" cy="402336"/>
          </a:xfrm>
          <a:prstGeom prst="rect">
            <a:avLst/>
          </a:prstGeom>
          <a:noFill/>
        </p:spPr>
        <p:txBody>
          <a:bodyPr wrap="square">
            <a:spAutoFit/>
          </a:bodyPr>
          <a:lstStyle/>
          <a:p>
            <a:pPr algn="l"/>
            <a:r>
              <a:rPr sz="1000" b="0" i="0">
                <a:solidFill>
                  <a:srgbClr val="FFFFFF"/>
                </a:solidFill>
              </a:rPr>
              <a:t>Integration</a:t>
            </a:r>
          </a:p>
        </p:txBody>
      </p:sp>
      <p:sp>
        <p:nvSpPr>
          <p:cNvPr id="53" name="Rectangle 52"/>
          <p:cNvSpPr/>
          <p:nvPr/>
        </p:nvSpPr>
        <p:spPr>
          <a:xfrm>
            <a:off x="5577840" y="3383280"/>
            <a:ext cx="6675120" cy="402336"/>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650992" y="3438144"/>
            <a:ext cx="6583680" cy="402336"/>
          </a:xfrm>
          <a:prstGeom prst="rect">
            <a:avLst/>
          </a:prstGeom>
          <a:noFill/>
        </p:spPr>
        <p:txBody>
          <a:bodyPr wrap="square">
            <a:spAutoFit/>
          </a:bodyPr>
          <a:lstStyle/>
          <a:p>
            <a:pPr algn="l"/>
            <a:r>
              <a:rPr sz="1000" b="0" i="0">
                <a:solidFill>
                  <a:srgbClr val="FFFFFF"/>
                </a:solidFill>
              </a:rPr>
              <a:t>Chronos XML import: XSD validation + DB persistence</a:t>
            </a:r>
          </a:p>
        </p:txBody>
      </p:sp>
      <p:sp>
        <p:nvSpPr>
          <p:cNvPr id="55" name="Rectangle 54"/>
          <p:cNvSpPr/>
          <p:nvPr/>
        </p:nvSpPr>
        <p:spPr>
          <a:xfrm>
            <a:off x="274320" y="5029200"/>
            <a:ext cx="2011680" cy="438912"/>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29184" y="5093208"/>
            <a:ext cx="1920240" cy="438912"/>
          </a:xfrm>
          <a:prstGeom prst="rect">
            <a:avLst/>
          </a:prstGeom>
          <a:noFill/>
        </p:spPr>
        <p:txBody>
          <a:bodyPr wrap="square">
            <a:spAutoFit/>
          </a:bodyPr>
          <a:lstStyle/>
          <a:p>
            <a:pPr algn="ctr"/>
            <a:r>
              <a:rPr sz="1150" b="1" i="0">
                <a:solidFill>
                  <a:srgbClr val="0D1B3E"/>
                </a:solidFill>
              </a:rPr>
              <a:t>0 mypy errors</a:t>
            </a:r>
          </a:p>
        </p:txBody>
      </p:sp>
      <p:sp>
        <p:nvSpPr>
          <p:cNvPr id="57" name="Rectangle 56"/>
          <p:cNvSpPr/>
          <p:nvPr/>
        </p:nvSpPr>
        <p:spPr>
          <a:xfrm>
            <a:off x="2423160" y="5029200"/>
            <a:ext cx="2011680" cy="438912"/>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478024" y="5093208"/>
            <a:ext cx="1920240" cy="438912"/>
          </a:xfrm>
          <a:prstGeom prst="rect">
            <a:avLst/>
          </a:prstGeom>
          <a:noFill/>
        </p:spPr>
        <p:txBody>
          <a:bodyPr wrap="square">
            <a:spAutoFit/>
          </a:bodyPr>
          <a:lstStyle/>
          <a:p>
            <a:pPr algn="ctr"/>
            <a:r>
              <a:rPr sz="1150" b="1" i="0">
                <a:solidFill>
                  <a:srgbClr val="0D1B3E"/>
                </a:solidFill>
              </a:rPr>
              <a:t>Ruff compliant</a:t>
            </a:r>
          </a:p>
        </p:txBody>
      </p:sp>
      <p:sp>
        <p:nvSpPr>
          <p:cNvPr id="59" name="Rectangle 58"/>
          <p:cNvSpPr/>
          <p:nvPr/>
        </p:nvSpPr>
        <p:spPr>
          <a:xfrm>
            <a:off x="4572000" y="5029200"/>
            <a:ext cx="2011680" cy="438912"/>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626864" y="5093208"/>
            <a:ext cx="1920240" cy="438912"/>
          </a:xfrm>
          <a:prstGeom prst="rect">
            <a:avLst/>
          </a:prstGeom>
          <a:noFill/>
        </p:spPr>
        <p:txBody>
          <a:bodyPr wrap="square">
            <a:spAutoFit/>
          </a:bodyPr>
          <a:lstStyle/>
          <a:p>
            <a:pPr algn="ctr"/>
            <a:r>
              <a:rPr sz="1150" b="1" i="0">
                <a:solidFill>
                  <a:srgbClr val="0D1B3E"/>
                </a:solidFill>
              </a:rPr>
              <a:t>black formatted</a:t>
            </a:r>
          </a:p>
        </p:txBody>
      </p:sp>
      <p:sp>
        <p:nvSpPr>
          <p:cNvPr id="61" name="Rectangle 60"/>
          <p:cNvSpPr/>
          <p:nvPr/>
        </p:nvSpPr>
        <p:spPr>
          <a:xfrm>
            <a:off x="6720840" y="5029200"/>
            <a:ext cx="2011680" cy="43891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775704" y="5093208"/>
            <a:ext cx="1920240" cy="438912"/>
          </a:xfrm>
          <a:prstGeom prst="rect">
            <a:avLst/>
          </a:prstGeom>
          <a:noFill/>
        </p:spPr>
        <p:txBody>
          <a:bodyPr wrap="square">
            <a:spAutoFit/>
          </a:bodyPr>
          <a:lstStyle/>
          <a:p>
            <a:pPr algn="ctr"/>
            <a:r>
              <a:rPr sz="1150" b="1" i="0">
                <a:solidFill>
                  <a:srgbClr val="0D1B3E"/>
                </a:solidFill>
              </a:rPr>
              <a:t>CI on every commit</a:t>
            </a:r>
          </a:p>
        </p:txBody>
      </p:sp>
      <p:sp>
        <p:nvSpPr>
          <p:cNvPr id="63" name="Rectangle 62"/>
          <p:cNvSpPr/>
          <p:nvPr/>
        </p:nvSpPr>
        <p:spPr>
          <a:xfrm>
            <a:off x="8869680" y="5029200"/>
            <a:ext cx="2011680" cy="43891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924544" y="5093208"/>
            <a:ext cx="1920240" cy="438912"/>
          </a:xfrm>
          <a:prstGeom prst="rect">
            <a:avLst/>
          </a:prstGeom>
          <a:noFill/>
        </p:spPr>
        <p:txBody>
          <a:bodyPr wrap="square">
            <a:spAutoFit/>
          </a:bodyPr>
          <a:lstStyle/>
          <a:p>
            <a:pPr algn="ctr"/>
            <a:r>
              <a:rPr sz="1150" b="1" i="0">
                <a:solidFill>
                  <a:srgbClr val="0D1B3E"/>
                </a:solidFill>
              </a:rPr>
              <a:t>Pre-commit hooks</a:t>
            </a:r>
          </a:p>
        </p:txBody>
      </p:sp>
      <p:sp>
        <p:nvSpPr>
          <p:cNvPr id="65" name="TextBox 64"/>
          <p:cNvSpPr txBox="1"/>
          <p:nvPr/>
        </p:nvSpPr>
        <p:spPr>
          <a:xfrm>
            <a:off x="274320" y="5669280"/>
            <a:ext cx="11612880" cy="411480"/>
          </a:xfrm>
          <a:prstGeom prst="rect">
            <a:avLst/>
          </a:prstGeom>
          <a:noFill/>
        </p:spPr>
        <p:txBody>
          <a:bodyPr wrap="square">
            <a:spAutoFit/>
          </a:bodyPr>
          <a:lstStyle/>
          <a:p>
            <a:pPr algn="l"/>
            <a:r>
              <a:rPr sz="1100" b="0" i="1">
                <a:solidFill>
                  <a:srgbClr val="556078"/>
                </a:solidFill>
              </a:rPr>
              <a:t>Test strategy: calculators fully unit-tested · broker mocked (no DB) · XML import uses real async session</a:t>
            </a:r>
          </a:p>
        </p:txBody>
      </p:sp>
      <p:sp>
        <p:nvSpPr>
          <p:cNvPr id="70" name="TextBox 69"/>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71" name="Rounded Rectangle 70"/>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09 / 20</a:t>
            </a:r>
          </a:p>
        </p:txBody>
      </p:sp>
      <p:sp>
        <p:nvSpPr>
          <p:cNvPr id="72" name="Rectangle 71"/>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8016"/>
            <a:ext cx="10972800" cy="822960"/>
          </a:xfrm>
          <a:prstGeom prst="rect">
            <a:avLst/>
          </a:prstGeom>
          <a:noFill/>
        </p:spPr>
        <p:txBody>
          <a:bodyPr wrap="square">
            <a:spAutoFit/>
          </a:bodyPr>
          <a:lstStyle/>
          <a:p>
            <a:pPr algn="l"/>
            <a:r>
              <a:rPr sz="3000" b="1" i="0">
                <a:solidFill>
                  <a:srgbClr val="FFB700"/>
                </a:solidFill>
              </a:rPr>
              <a:t>Architecture Overview</a:t>
            </a:r>
          </a:p>
        </p:txBody>
      </p:sp>
      <p:sp>
        <p:nvSpPr>
          <p:cNvPr id="6" name="TextBox 5"/>
          <p:cNvSpPr txBox="1"/>
          <p:nvPr/>
        </p:nvSpPr>
        <p:spPr>
          <a:xfrm>
            <a:off x="457200" y="841248"/>
            <a:ext cx="10972800" cy="411480"/>
          </a:xfrm>
          <a:prstGeom prst="rect">
            <a:avLst/>
          </a:prstGeom>
          <a:noFill/>
        </p:spPr>
        <p:txBody>
          <a:bodyPr wrap="square">
            <a:spAutoFit/>
          </a:bodyPr>
          <a:lstStyle/>
          <a:p>
            <a:pPr algn="l"/>
            <a:r>
              <a:rPr sz="1300" b="0" i="1">
                <a:solidFill>
                  <a:srgbClr val="F0F4FF"/>
                </a:solidFill>
              </a:rPr>
              <a:t>Layered unidirectional dependency flow</a:t>
            </a:r>
          </a:p>
        </p:txBody>
      </p:sp>
      <p:pic>
        <p:nvPicPr>
          <p:cNvPr id="7" name="Picture 6" descr="overview-WARRIORFIT_Architectuur.png"/>
          <p:cNvPicPr>
            <a:picLocks noChangeAspect="1"/>
          </p:cNvPicPr>
          <p:nvPr/>
        </p:nvPicPr>
        <p:blipFill>
          <a:blip r:embed="rId2"/>
          <a:stretch>
            <a:fillRect/>
          </a:stretch>
        </p:blipFill>
        <p:spPr>
          <a:xfrm>
            <a:off x="1645920" y="1188720"/>
            <a:ext cx="8869680" cy="5212080"/>
          </a:xfrm>
          <a:prstGeom prst="rect">
            <a:avLst/>
          </a:prstGeom>
        </p:spPr>
      </p:pic>
      <p:sp>
        <p:nvSpPr>
          <p:cNvPr id="12" name="TextBox 11"/>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13" name="Rounded Rectangle 12"/>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10 / 20</a:t>
            </a:r>
          </a:p>
        </p:txBody>
      </p:sp>
      <p:sp>
        <p:nvSpPr>
          <p:cNvPr id="14" name="Rectangle 13"/>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8016"/>
            <a:ext cx="10972800" cy="822960"/>
          </a:xfrm>
          <a:prstGeom prst="rect">
            <a:avLst/>
          </a:prstGeom>
          <a:noFill/>
        </p:spPr>
        <p:txBody>
          <a:bodyPr wrap="square">
            <a:spAutoFit/>
          </a:bodyPr>
          <a:lstStyle/>
          <a:p>
            <a:pPr algn="l"/>
            <a:r>
              <a:rPr sz="3000" b="1" i="0">
                <a:solidFill>
                  <a:srgbClr val="FFB700"/>
                </a:solidFill>
              </a:rPr>
              <a:t>PHEF Test Data Flow</a:t>
            </a:r>
          </a:p>
        </p:txBody>
      </p:sp>
      <p:sp>
        <p:nvSpPr>
          <p:cNvPr id="6" name="TextBox 5"/>
          <p:cNvSpPr txBox="1"/>
          <p:nvPr/>
        </p:nvSpPr>
        <p:spPr>
          <a:xfrm>
            <a:off x="457200" y="841248"/>
            <a:ext cx="10972800" cy="411480"/>
          </a:xfrm>
          <a:prstGeom prst="rect">
            <a:avLst/>
          </a:prstGeom>
          <a:noFill/>
        </p:spPr>
        <p:txBody>
          <a:bodyPr wrap="square">
            <a:spAutoFit/>
          </a:bodyPr>
          <a:lstStyle/>
          <a:p>
            <a:pPr algn="l"/>
            <a:r>
              <a:rPr sz="1300" b="0" i="1">
                <a:solidFill>
                  <a:srgbClr val="F0F4FF"/>
                </a:solidFill>
              </a:rPr>
              <a:t>From PTI form entry → DB → async Broker → HR system</a:t>
            </a:r>
          </a:p>
        </p:txBody>
      </p:sp>
      <p:pic>
        <p:nvPicPr>
          <p:cNvPr id="7" name="Picture 6" descr="test_flow_ui_db_broker.png"/>
          <p:cNvPicPr>
            <a:picLocks noChangeAspect="1"/>
          </p:cNvPicPr>
          <p:nvPr/>
        </p:nvPicPr>
        <p:blipFill>
          <a:blip r:embed="rId2"/>
          <a:stretch>
            <a:fillRect/>
          </a:stretch>
        </p:blipFill>
        <p:spPr>
          <a:xfrm>
            <a:off x="182880" y="1143000"/>
            <a:ext cx="11795760" cy="5394960"/>
          </a:xfrm>
          <a:prstGeom prst="rect">
            <a:avLst/>
          </a:prstGeom>
        </p:spPr>
      </p:pic>
      <p:sp>
        <p:nvSpPr>
          <p:cNvPr id="12" name="TextBox 11"/>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13" name="Rounded Rectangle 12"/>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11 / 20</a:t>
            </a:r>
          </a:p>
        </p:txBody>
      </p:sp>
      <p:sp>
        <p:nvSpPr>
          <p:cNvPr id="14" name="Rectangle 13"/>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8016"/>
            <a:ext cx="10972800" cy="822960"/>
          </a:xfrm>
          <a:prstGeom prst="rect">
            <a:avLst/>
          </a:prstGeom>
          <a:noFill/>
        </p:spPr>
        <p:txBody>
          <a:bodyPr wrap="square">
            <a:spAutoFit/>
          </a:bodyPr>
          <a:lstStyle/>
          <a:p>
            <a:pPr algn="l"/>
            <a:r>
              <a:rPr sz="3000" b="1" i="0">
                <a:solidFill>
                  <a:srgbClr val="FFB700"/>
                </a:solidFill>
              </a:rPr>
              <a:t>PHEF Flow — Step by Step</a:t>
            </a:r>
          </a:p>
        </p:txBody>
      </p:sp>
      <p:sp>
        <p:nvSpPr>
          <p:cNvPr id="6" name="TextBox 5"/>
          <p:cNvSpPr txBox="1"/>
          <p:nvPr/>
        </p:nvSpPr>
        <p:spPr>
          <a:xfrm>
            <a:off x="457200" y="841248"/>
            <a:ext cx="10972800" cy="411480"/>
          </a:xfrm>
          <a:prstGeom prst="rect">
            <a:avLst/>
          </a:prstGeom>
          <a:noFill/>
        </p:spPr>
        <p:txBody>
          <a:bodyPr wrap="square">
            <a:spAutoFit/>
          </a:bodyPr>
          <a:lstStyle/>
          <a:p>
            <a:pPr algn="l"/>
            <a:r>
              <a:rPr sz="1300" b="0" i="1">
                <a:solidFill>
                  <a:srgbClr val="F0F4FF"/>
                </a:solidFill>
              </a:rPr>
              <a:t>Two parallel paths: synchronous save + async HR forwarding</a:t>
            </a:r>
          </a:p>
        </p:txBody>
      </p:sp>
      <p:sp>
        <p:nvSpPr>
          <p:cNvPr id="7" name="Rectangle 6"/>
          <p:cNvSpPr/>
          <p:nvPr/>
        </p:nvSpPr>
        <p:spPr>
          <a:xfrm>
            <a:off x="274320" y="1325880"/>
            <a:ext cx="5486400" cy="347472"/>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362456"/>
            <a:ext cx="5303520" cy="347472"/>
          </a:xfrm>
          <a:prstGeom prst="rect">
            <a:avLst/>
          </a:prstGeom>
          <a:noFill/>
        </p:spPr>
        <p:txBody>
          <a:bodyPr wrap="square">
            <a:spAutoFit/>
          </a:bodyPr>
          <a:lstStyle/>
          <a:p>
            <a:pPr algn="l"/>
            <a:r>
              <a:rPr sz="1250" b="1" i="0">
                <a:solidFill>
                  <a:srgbClr val="FFB700"/>
                </a:solidFill>
              </a:rPr>
              <a:t>1. PTI enters form</a:t>
            </a:r>
          </a:p>
        </p:txBody>
      </p:sp>
      <p:sp>
        <p:nvSpPr>
          <p:cNvPr id="9" name="Rectangle 8"/>
          <p:cNvSpPr/>
          <p:nvPr/>
        </p:nvSpPr>
        <p:spPr>
          <a:xfrm>
            <a:off x="411480" y="1801368"/>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1709928"/>
            <a:ext cx="5120640" cy="347472"/>
          </a:xfrm>
          <a:prstGeom prst="rect">
            <a:avLst/>
          </a:prstGeom>
          <a:noFill/>
        </p:spPr>
        <p:txBody>
          <a:bodyPr wrap="square">
            <a:spAutoFit/>
          </a:bodyPr>
          <a:lstStyle/>
          <a:p>
            <a:pPr algn="l"/>
            <a:r>
              <a:rPr sz="1150" b="0" i="0">
                <a:solidFill>
                  <a:srgbClr val="FFFFFF"/>
                </a:solidFill>
              </a:rPr>
              <a:t>Serial confirmed via BEMIL API</a:t>
            </a:r>
          </a:p>
        </p:txBody>
      </p:sp>
      <p:sp>
        <p:nvSpPr>
          <p:cNvPr id="11" name="Rectangle 10"/>
          <p:cNvSpPr/>
          <p:nvPr/>
        </p:nvSpPr>
        <p:spPr>
          <a:xfrm>
            <a:off x="411480" y="2203704"/>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2112264"/>
            <a:ext cx="5120640" cy="347472"/>
          </a:xfrm>
          <a:prstGeom prst="rect">
            <a:avLst/>
          </a:prstGeom>
          <a:noFill/>
        </p:spPr>
        <p:txBody>
          <a:bodyPr wrap="square">
            <a:spAutoFit/>
          </a:bodyPr>
          <a:lstStyle/>
          <a:p>
            <a:pPr algn="l"/>
            <a:r>
              <a:rPr sz="1150" b="0" i="0">
                <a:solidFill>
                  <a:srgbClr val="FFFFFF"/>
                </a:solidFill>
              </a:rPr>
              <a:t>Live score calculated while typing</a:t>
            </a:r>
          </a:p>
        </p:txBody>
      </p:sp>
      <p:sp>
        <p:nvSpPr>
          <p:cNvPr id="13" name="Rectangle 12"/>
          <p:cNvSpPr/>
          <p:nvPr/>
        </p:nvSpPr>
        <p:spPr>
          <a:xfrm>
            <a:off x="411480" y="2606040"/>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2514600"/>
            <a:ext cx="5120640" cy="347472"/>
          </a:xfrm>
          <a:prstGeom prst="rect">
            <a:avLst/>
          </a:prstGeom>
          <a:noFill/>
        </p:spPr>
        <p:txBody>
          <a:bodyPr wrap="square">
            <a:spAutoFit/>
          </a:bodyPr>
          <a:lstStyle/>
          <a:p>
            <a:pPr algn="l"/>
            <a:r>
              <a:rPr sz="1150" b="0" i="0">
                <a:solidFill>
                  <a:srgbClr val="FFFFFF"/>
                </a:solidFill>
              </a:rPr>
              <a:t>Add button disabled until session + serial validated</a:t>
            </a:r>
          </a:p>
        </p:txBody>
      </p:sp>
      <p:sp>
        <p:nvSpPr>
          <p:cNvPr id="15" name="Rectangle 14"/>
          <p:cNvSpPr/>
          <p:nvPr/>
        </p:nvSpPr>
        <p:spPr>
          <a:xfrm>
            <a:off x="274320" y="3026664"/>
            <a:ext cx="5486400" cy="347472"/>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3063240"/>
            <a:ext cx="5303520" cy="347472"/>
          </a:xfrm>
          <a:prstGeom prst="rect">
            <a:avLst/>
          </a:prstGeom>
          <a:noFill/>
        </p:spPr>
        <p:txBody>
          <a:bodyPr wrap="square">
            <a:spAutoFit/>
          </a:bodyPr>
          <a:lstStyle/>
          <a:p>
            <a:pPr algn="l"/>
            <a:r>
              <a:rPr sz="1250" b="1" i="0">
                <a:solidFill>
                  <a:srgbClr val="FFB700"/>
                </a:solidFill>
              </a:rPr>
              <a:t>2. Controller layer</a:t>
            </a:r>
          </a:p>
        </p:txBody>
      </p:sp>
      <p:sp>
        <p:nvSpPr>
          <p:cNvPr id="17" name="Rectangle 16"/>
          <p:cNvSpPr/>
          <p:nvPr/>
        </p:nvSpPr>
        <p:spPr>
          <a:xfrm>
            <a:off x="411480" y="3502152"/>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3410712"/>
            <a:ext cx="5120640" cy="347472"/>
          </a:xfrm>
          <a:prstGeom prst="rect">
            <a:avLst/>
          </a:prstGeom>
          <a:noFill/>
        </p:spPr>
        <p:txBody>
          <a:bodyPr wrap="square">
            <a:spAutoFit/>
          </a:bodyPr>
          <a:lstStyle/>
          <a:p>
            <a:pPr algn="l"/>
            <a:r>
              <a:rPr sz="1150" b="0" i="0">
                <a:solidFill>
                  <a:srgbClr val="FFFFFF"/>
                </a:solidFill>
              </a:rPr>
              <a:t>Validates time format (mm:ss)</a:t>
            </a:r>
          </a:p>
        </p:txBody>
      </p:sp>
      <p:sp>
        <p:nvSpPr>
          <p:cNvPr id="19" name="Rectangle 18"/>
          <p:cNvSpPr/>
          <p:nvPr/>
        </p:nvSpPr>
        <p:spPr>
          <a:xfrm>
            <a:off x="411480" y="3904488"/>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3813048"/>
            <a:ext cx="5120640" cy="347472"/>
          </a:xfrm>
          <a:prstGeom prst="rect">
            <a:avLst/>
          </a:prstGeom>
          <a:noFill/>
        </p:spPr>
        <p:txBody>
          <a:bodyPr wrap="square">
            <a:spAutoFit/>
          </a:bodyPr>
          <a:lstStyle/>
          <a:p>
            <a:pPr algn="l"/>
            <a:r>
              <a:rPr sz="1150" b="0" i="0">
                <a:solidFill>
                  <a:srgbClr val="FFFFFF"/>
                </a:solidFill>
              </a:rPr>
              <a:t>Builds PhefTest domain object with scores</a:t>
            </a:r>
          </a:p>
        </p:txBody>
      </p:sp>
      <p:sp>
        <p:nvSpPr>
          <p:cNvPr id="21" name="Rectangle 20"/>
          <p:cNvSpPr/>
          <p:nvPr/>
        </p:nvSpPr>
        <p:spPr>
          <a:xfrm>
            <a:off x="274320" y="4325112"/>
            <a:ext cx="5486400" cy="347472"/>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4361688"/>
            <a:ext cx="5303520" cy="347472"/>
          </a:xfrm>
          <a:prstGeom prst="rect">
            <a:avLst/>
          </a:prstGeom>
          <a:noFill/>
        </p:spPr>
        <p:txBody>
          <a:bodyPr wrap="square">
            <a:spAutoFit/>
          </a:bodyPr>
          <a:lstStyle/>
          <a:p>
            <a:pPr algn="l"/>
            <a:r>
              <a:rPr sz="1250" b="1" i="0">
                <a:solidFill>
                  <a:srgbClr val="FFB700"/>
                </a:solidFill>
              </a:rPr>
              <a:t>3. Service layer</a:t>
            </a:r>
          </a:p>
        </p:txBody>
      </p:sp>
      <p:sp>
        <p:nvSpPr>
          <p:cNvPr id="23" name="Rectangle 22"/>
          <p:cNvSpPr/>
          <p:nvPr/>
        </p:nvSpPr>
        <p:spPr>
          <a:xfrm>
            <a:off x="411480" y="4800600"/>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4360" y="4709160"/>
            <a:ext cx="5120640" cy="347472"/>
          </a:xfrm>
          <a:prstGeom prst="rect">
            <a:avLst/>
          </a:prstGeom>
          <a:noFill/>
        </p:spPr>
        <p:txBody>
          <a:bodyPr wrap="square">
            <a:spAutoFit/>
          </a:bodyPr>
          <a:lstStyle/>
          <a:p>
            <a:pPr algn="l"/>
            <a:r>
              <a:rPr sz="1150" b="0" i="0">
                <a:solidFill>
                  <a:srgbClr val="FFFFFF"/>
                </a:solidFill>
              </a:rPr>
              <a:t>Persists test to PostgreSQL (awaited)</a:t>
            </a:r>
          </a:p>
        </p:txBody>
      </p:sp>
      <p:sp>
        <p:nvSpPr>
          <p:cNvPr id="25" name="Rectangle 24"/>
          <p:cNvSpPr/>
          <p:nvPr/>
        </p:nvSpPr>
        <p:spPr>
          <a:xfrm>
            <a:off x="411480" y="5202936"/>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94360" y="5111496"/>
            <a:ext cx="5120640" cy="347472"/>
          </a:xfrm>
          <a:prstGeom prst="rect">
            <a:avLst/>
          </a:prstGeom>
          <a:noFill/>
        </p:spPr>
        <p:txBody>
          <a:bodyPr wrap="square">
            <a:spAutoFit/>
          </a:bodyPr>
          <a:lstStyle/>
          <a:p>
            <a:pPr algn="l"/>
            <a:r>
              <a:rPr sz="1150" b="0" i="0">
                <a:solidFill>
                  <a:srgbClr val="FFFFFF"/>
                </a:solidFill>
              </a:rPr>
              <a:t>Hands DTO to Broker (non-blocking)</a:t>
            </a:r>
          </a:p>
        </p:txBody>
      </p:sp>
      <p:sp>
        <p:nvSpPr>
          <p:cNvPr id="27" name="Rectangle 26"/>
          <p:cNvSpPr/>
          <p:nvPr/>
        </p:nvSpPr>
        <p:spPr>
          <a:xfrm>
            <a:off x="411480" y="5605272"/>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4360" y="5513832"/>
            <a:ext cx="5120640" cy="347472"/>
          </a:xfrm>
          <a:prstGeom prst="rect">
            <a:avLst/>
          </a:prstGeom>
          <a:noFill/>
        </p:spPr>
        <p:txBody>
          <a:bodyPr wrap="square">
            <a:spAutoFit/>
          </a:bodyPr>
          <a:lstStyle/>
          <a:p>
            <a:pPr algn="l"/>
            <a:r>
              <a:rPr sz="1150" b="0" i="0">
                <a:solidFill>
                  <a:srgbClr val="FFFFFF"/>
                </a:solidFill>
              </a:rPr>
              <a:t>Creates audit log + sends email</a:t>
            </a:r>
          </a:p>
        </p:txBody>
      </p:sp>
      <p:sp>
        <p:nvSpPr>
          <p:cNvPr id="29" name="Rectangle 28"/>
          <p:cNvSpPr/>
          <p:nvPr/>
        </p:nvSpPr>
        <p:spPr>
          <a:xfrm>
            <a:off x="6355080" y="1325880"/>
            <a:ext cx="5486400" cy="347472"/>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46520" y="1362456"/>
            <a:ext cx="5303520" cy="347472"/>
          </a:xfrm>
          <a:prstGeom prst="rect">
            <a:avLst/>
          </a:prstGeom>
          <a:noFill/>
        </p:spPr>
        <p:txBody>
          <a:bodyPr wrap="square">
            <a:spAutoFit/>
          </a:bodyPr>
          <a:lstStyle/>
          <a:p>
            <a:pPr algn="l"/>
            <a:r>
              <a:rPr sz="1250" b="1" i="0">
                <a:solidFill>
                  <a:srgbClr val="FFB700"/>
                </a:solidFill>
              </a:rPr>
              <a:t>4. Broker (background)</a:t>
            </a:r>
          </a:p>
        </p:txBody>
      </p:sp>
      <p:sp>
        <p:nvSpPr>
          <p:cNvPr id="31" name="Rectangle 30"/>
          <p:cNvSpPr/>
          <p:nvPr/>
        </p:nvSpPr>
        <p:spPr>
          <a:xfrm>
            <a:off x="6492240" y="1801368"/>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675120" y="1709928"/>
            <a:ext cx="5120640" cy="347472"/>
          </a:xfrm>
          <a:prstGeom prst="rect">
            <a:avLst/>
          </a:prstGeom>
          <a:noFill/>
        </p:spPr>
        <p:txBody>
          <a:bodyPr wrap="square">
            <a:spAutoFit/>
          </a:bodyPr>
          <a:lstStyle/>
          <a:p>
            <a:pPr algn="l"/>
            <a:r>
              <a:rPr sz="1150" b="0" i="0">
                <a:solidFill>
                  <a:srgbClr val="FFFFFF"/>
                </a:solidFill>
              </a:rPr>
              <a:t>Writes to hr_messages table (durable outbox)</a:t>
            </a:r>
          </a:p>
        </p:txBody>
      </p:sp>
      <p:sp>
        <p:nvSpPr>
          <p:cNvPr id="33" name="Rectangle 32"/>
          <p:cNvSpPr/>
          <p:nvPr/>
        </p:nvSpPr>
        <p:spPr>
          <a:xfrm>
            <a:off x="6492240" y="2203704"/>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75120" y="2112264"/>
            <a:ext cx="5120640" cy="347472"/>
          </a:xfrm>
          <a:prstGeom prst="rect">
            <a:avLst/>
          </a:prstGeom>
          <a:noFill/>
        </p:spPr>
        <p:txBody>
          <a:bodyPr wrap="square">
            <a:spAutoFit/>
          </a:bodyPr>
          <a:lstStyle/>
          <a:p>
            <a:pPr algn="l"/>
            <a:r>
              <a:rPr sz="1150" b="0" i="0">
                <a:solidFill>
                  <a:srgbClr val="FFFFFF"/>
                </a:solidFill>
              </a:rPr>
              <a:t>POSTs JSON to HR API every 5 seconds</a:t>
            </a:r>
          </a:p>
        </p:txBody>
      </p:sp>
      <p:sp>
        <p:nvSpPr>
          <p:cNvPr id="35" name="Rectangle 34"/>
          <p:cNvSpPr/>
          <p:nvPr/>
        </p:nvSpPr>
        <p:spPr>
          <a:xfrm>
            <a:off x="6492240" y="2606040"/>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675120" y="2514600"/>
            <a:ext cx="5120640" cy="347472"/>
          </a:xfrm>
          <a:prstGeom prst="rect">
            <a:avLst/>
          </a:prstGeom>
          <a:noFill/>
        </p:spPr>
        <p:txBody>
          <a:bodyPr wrap="square">
            <a:spAutoFit/>
          </a:bodyPr>
          <a:lstStyle/>
          <a:p>
            <a:pPr algn="l"/>
            <a:r>
              <a:rPr sz="1150" b="0" i="0">
                <a:solidFill>
                  <a:srgbClr val="FFFFFF"/>
                </a:solidFill>
              </a:rPr>
              <a:t>Exponential backoff on failure (5 s → 10 min)</a:t>
            </a:r>
          </a:p>
        </p:txBody>
      </p:sp>
      <p:sp>
        <p:nvSpPr>
          <p:cNvPr id="37" name="Rectangle 36"/>
          <p:cNvSpPr/>
          <p:nvPr/>
        </p:nvSpPr>
        <p:spPr>
          <a:xfrm>
            <a:off x="6492240" y="3008376"/>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675120" y="2916936"/>
            <a:ext cx="5120640" cy="347472"/>
          </a:xfrm>
          <a:prstGeom prst="rect">
            <a:avLst/>
          </a:prstGeom>
          <a:noFill/>
        </p:spPr>
        <p:txBody>
          <a:bodyPr wrap="square">
            <a:spAutoFit/>
          </a:bodyPr>
          <a:lstStyle/>
          <a:p>
            <a:pPr algn="l"/>
            <a:r>
              <a:rPr sz="1150" b="0" i="0">
                <a:solidFill>
                  <a:srgbClr val="FFFFFF"/>
                </a:solidFill>
              </a:rPr>
              <a:t>Dead-letter after 10 failed attempts</a:t>
            </a:r>
          </a:p>
        </p:txBody>
      </p:sp>
      <p:sp>
        <p:nvSpPr>
          <p:cNvPr id="39" name="Rectangle 38"/>
          <p:cNvSpPr/>
          <p:nvPr/>
        </p:nvSpPr>
        <p:spPr>
          <a:xfrm>
            <a:off x="6355080" y="3429000"/>
            <a:ext cx="5486400" cy="347472"/>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46520" y="3465576"/>
            <a:ext cx="5303520" cy="347472"/>
          </a:xfrm>
          <a:prstGeom prst="rect">
            <a:avLst/>
          </a:prstGeom>
          <a:noFill/>
        </p:spPr>
        <p:txBody>
          <a:bodyPr wrap="square">
            <a:spAutoFit/>
          </a:bodyPr>
          <a:lstStyle/>
          <a:p>
            <a:pPr algn="l"/>
            <a:r>
              <a:rPr sz="1250" b="1" i="0">
                <a:solidFill>
                  <a:srgbClr val="FFB700"/>
                </a:solidFill>
              </a:rPr>
              <a:t>Key invariants</a:t>
            </a:r>
          </a:p>
        </p:txBody>
      </p:sp>
      <p:sp>
        <p:nvSpPr>
          <p:cNvPr id="41" name="Rectangle 40"/>
          <p:cNvSpPr/>
          <p:nvPr/>
        </p:nvSpPr>
        <p:spPr>
          <a:xfrm>
            <a:off x="6492240" y="3904488"/>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675120" y="3813048"/>
            <a:ext cx="5120640" cy="347472"/>
          </a:xfrm>
          <a:prstGeom prst="rect">
            <a:avLst/>
          </a:prstGeom>
          <a:noFill/>
        </p:spPr>
        <p:txBody>
          <a:bodyPr wrap="square">
            <a:spAutoFit/>
          </a:bodyPr>
          <a:lstStyle/>
          <a:p>
            <a:pPr algn="l"/>
            <a:r>
              <a:rPr sz="1150" b="0" i="0">
                <a:solidFill>
                  <a:srgbClr val="FFFFFF"/>
                </a:solidFill>
              </a:rPr>
              <a:t>User never waits for HR — immediate feedback</a:t>
            </a:r>
          </a:p>
        </p:txBody>
      </p:sp>
      <p:sp>
        <p:nvSpPr>
          <p:cNvPr id="43" name="Rectangle 42"/>
          <p:cNvSpPr/>
          <p:nvPr/>
        </p:nvSpPr>
        <p:spPr>
          <a:xfrm>
            <a:off x="6492240" y="4306824"/>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75120" y="4215384"/>
            <a:ext cx="5120640" cy="347472"/>
          </a:xfrm>
          <a:prstGeom prst="rect">
            <a:avLst/>
          </a:prstGeom>
          <a:noFill/>
        </p:spPr>
        <p:txBody>
          <a:bodyPr wrap="square">
            <a:spAutoFit/>
          </a:bodyPr>
          <a:lstStyle/>
          <a:p>
            <a:pPr algn="l"/>
            <a:r>
              <a:rPr sz="1150" b="0" i="0">
                <a:solidFill>
                  <a:srgbClr val="FFFFFF"/>
                </a:solidFill>
              </a:rPr>
              <a:t>Outbox survives app crash / HR outage</a:t>
            </a:r>
          </a:p>
        </p:txBody>
      </p:sp>
      <p:sp>
        <p:nvSpPr>
          <p:cNvPr id="45" name="Rectangle 44"/>
          <p:cNvSpPr/>
          <p:nvPr/>
        </p:nvSpPr>
        <p:spPr>
          <a:xfrm>
            <a:off x="6492240" y="4709160"/>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675120" y="4617720"/>
            <a:ext cx="5120640" cy="347472"/>
          </a:xfrm>
          <a:prstGeom prst="rect">
            <a:avLst/>
          </a:prstGeom>
          <a:noFill/>
        </p:spPr>
        <p:txBody>
          <a:bodyPr wrap="square">
            <a:spAutoFit/>
          </a:bodyPr>
          <a:lstStyle/>
          <a:p>
            <a:pPr algn="l"/>
            <a:r>
              <a:rPr sz="1150" b="0" i="0">
                <a:solidFill>
                  <a:srgbClr val="FFFFFF"/>
                </a:solidFill>
              </a:rPr>
              <a:t>HR offline → retried indefinitely</a:t>
            </a:r>
          </a:p>
        </p:txBody>
      </p:sp>
      <p:sp>
        <p:nvSpPr>
          <p:cNvPr id="47" name="Rectangle 46"/>
          <p:cNvSpPr/>
          <p:nvPr/>
        </p:nvSpPr>
        <p:spPr>
          <a:xfrm>
            <a:off x="6492240" y="5111496"/>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675120" y="5020056"/>
            <a:ext cx="5120640" cy="347472"/>
          </a:xfrm>
          <a:prstGeom prst="rect">
            <a:avLst/>
          </a:prstGeom>
          <a:noFill/>
        </p:spPr>
        <p:txBody>
          <a:bodyPr wrap="square">
            <a:spAutoFit/>
          </a:bodyPr>
          <a:lstStyle/>
          <a:p>
            <a:pPr algn="l"/>
            <a:r>
              <a:rPr sz="1150" b="0" i="0">
                <a:solidFill>
                  <a:srgbClr val="FFFFFF"/>
                </a:solidFill>
              </a:rPr>
              <a:t>All steps logged in audit trail</a:t>
            </a:r>
          </a:p>
        </p:txBody>
      </p:sp>
      <p:sp>
        <p:nvSpPr>
          <p:cNvPr id="53" name="TextBox 52"/>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54" name="Rounded Rectangle 53"/>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12 / 20</a:t>
            </a:r>
          </a:p>
        </p:txBody>
      </p:sp>
      <p:sp>
        <p:nvSpPr>
          <p:cNvPr id="55" name="Rectangle 54"/>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8016"/>
            <a:ext cx="10972800" cy="822960"/>
          </a:xfrm>
          <a:prstGeom prst="rect">
            <a:avLst/>
          </a:prstGeom>
          <a:noFill/>
        </p:spPr>
        <p:txBody>
          <a:bodyPr wrap="square">
            <a:spAutoFit/>
          </a:bodyPr>
          <a:lstStyle/>
          <a:p>
            <a:pPr algn="l"/>
            <a:r>
              <a:rPr sz="3000" b="1" i="0">
                <a:solidFill>
                  <a:srgbClr val="FFB700"/>
                </a:solidFill>
              </a:rPr>
              <a:t>Flet Cross Application</a:t>
            </a:r>
          </a:p>
        </p:txBody>
      </p:sp>
      <p:sp>
        <p:nvSpPr>
          <p:cNvPr id="6" name="TextBox 5"/>
          <p:cNvSpPr txBox="1"/>
          <p:nvPr/>
        </p:nvSpPr>
        <p:spPr>
          <a:xfrm>
            <a:off x="457200" y="841248"/>
            <a:ext cx="10972800" cy="411480"/>
          </a:xfrm>
          <a:prstGeom prst="rect">
            <a:avLst/>
          </a:prstGeom>
          <a:noFill/>
        </p:spPr>
        <p:txBody>
          <a:bodyPr wrap="square">
            <a:spAutoFit/>
          </a:bodyPr>
          <a:lstStyle/>
          <a:p>
            <a:pPr algn="l"/>
            <a:r>
              <a:rPr sz="1300" b="0" i="1">
                <a:solidFill>
                  <a:srgbClr val="F0F4FF"/>
                </a:solidFill>
              </a:rPr>
              <a:t>Three-component architecture for on-site race timing</a:t>
            </a:r>
          </a:p>
        </p:txBody>
      </p:sp>
      <p:pic>
        <p:nvPicPr>
          <p:cNvPr id="7" name="Picture 6" descr="img_8.png"/>
          <p:cNvPicPr>
            <a:picLocks noChangeAspect="1"/>
          </p:cNvPicPr>
          <p:nvPr/>
        </p:nvPicPr>
        <p:blipFill>
          <a:blip r:embed="rId2"/>
          <a:stretch>
            <a:fillRect/>
          </a:stretch>
        </p:blipFill>
        <p:spPr>
          <a:xfrm>
            <a:off x="274320" y="1234440"/>
            <a:ext cx="5029200" cy="5120640"/>
          </a:xfrm>
          <a:prstGeom prst="rect">
            <a:avLst/>
          </a:prstGeom>
        </p:spPr>
      </p:pic>
      <p:sp>
        <p:nvSpPr>
          <p:cNvPr id="8" name="TextBox 7"/>
          <p:cNvSpPr txBox="1"/>
          <p:nvPr/>
        </p:nvSpPr>
        <p:spPr>
          <a:xfrm>
            <a:off x="5669280" y="1280160"/>
            <a:ext cx="6217920" cy="365760"/>
          </a:xfrm>
          <a:prstGeom prst="rect">
            <a:avLst/>
          </a:prstGeom>
          <a:noFill/>
        </p:spPr>
        <p:txBody>
          <a:bodyPr wrap="square">
            <a:spAutoFit/>
          </a:bodyPr>
          <a:lstStyle/>
          <a:p>
            <a:pPr algn="l"/>
            <a:r>
              <a:rPr sz="1400" b="1" i="0">
                <a:solidFill>
                  <a:srgbClr val="FFB700"/>
                </a:solidFill>
              </a:rPr>
              <a:t>Three Components</a:t>
            </a:r>
          </a:p>
        </p:txBody>
      </p:sp>
      <p:sp>
        <p:nvSpPr>
          <p:cNvPr id="9" name="Rectangle 8"/>
          <p:cNvSpPr/>
          <p:nvPr/>
        </p:nvSpPr>
        <p:spPr>
          <a:xfrm>
            <a:off x="5669280" y="1719072"/>
            <a:ext cx="2377440" cy="38404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42432" y="1773936"/>
            <a:ext cx="2286000" cy="384048"/>
          </a:xfrm>
          <a:prstGeom prst="rect">
            <a:avLst/>
          </a:prstGeom>
          <a:noFill/>
        </p:spPr>
        <p:txBody>
          <a:bodyPr wrap="square">
            <a:spAutoFit/>
          </a:bodyPr>
          <a:lstStyle/>
          <a:p>
            <a:pPr algn="l"/>
            <a:r>
              <a:rPr sz="1100" b="1" i="0">
                <a:solidFill>
                  <a:srgbClr val="0D1B3E"/>
                </a:solidFill>
              </a:rPr>
              <a:t>WarriorFit (Shiny)</a:t>
            </a:r>
          </a:p>
        </p:txBody>
      </p:sp>
      <p:sp>
        <p:nvSpPr>
          <p:cNvPr id="11" name="TextBox 10"/>
          <p:cNvSpPr txBox="1"/>
          <p:nvPr/>
        </p:nvSpPr>
        <p:spPr>
          <a:xfrm>
            <a:off x="8138160" y="1773936"/>
            <a:ext cx="3840480" cy="384048"/>
          </a:xfrm>
          <a:prstGeom prst="rect">
            <a:avLst/>
          </a:prstGeom>
          <a:noFill/>
        </p:spPr>
        <p:txBody>
          <a:bodyPr wrap="square">
            <a:spAutoFit/>
          </a:bodyPr>
          <a:lstStyle/>
          <a:p>
            <a:pPr algn="l"/>
            <a:r>
              <a:rPr sz="1100" b="0" i="0">
                <a:solidFill>
                  <a:srgbClr val="FFFFFF"/>
                </a:solidFill>
              </a:rPr>
              <a:t>Planning, cross session management, statistics dashboard</a:t>
            </a:r>
          </a:p>
        </p:txBody>
      </p:sp>
      <p:sp>
        <p:nvSpPr>
          <p:cNvPr id="12" name="Rectangle 11"/>
          <p:cNvSpPr/>
          <p:nvPr/>
        </p:nvSpPr>
        <p:spPr>
          <a:xfrm>
            <a:off x="5669280" y="2432304"/>
            <a:ext cx="2377440" cy="38404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42432" y="2487168"/>
            <a:ext cx="2286000" cy="384048"/>
          </a:xfrm>
          <a:prstGeom prst="rect">
            <a:avLst/>
          </a:prstGeom>
          <a:noFill/>
        </p:spPr>
        <p:txBody>
          <a:bodyPr wrap="square">
            <a:spAutoFit/>
          </a:bodyPr>
          <a:lstStyle/>
          <a:p>
            <a:pPr algn="l"/>
            <a:r>
              <a:rPr sz="1100" b="1" i="0">
                <a:solidFill>
                  <a:srgbClr val="0D1B3E"/>
                </a:solidFill>
              </a:rPr>
              <a:t>FastAPI Backend</a:t>
            </a:r>
          </a:p>
        </p:txBody>
      </p:sp>
      <p:sp>
        <p:nvSpPr>
          <p:cNvPr id="14" name="TextBox 13"/>
          <p:cNvSpPr txBox="1"/>
          <p:nvPr/>
        </p:nvSpPr>
        <p:spPr>
          <a:xfrm>
            <a:off x="8138160" y="2487168"/>
            <a:ext cx="3840480" cy="384048"/>
          </a:xfrm>
          <a:prstGeom prst="rect">
            <a:avLst/>
          </a:prstGeom>
          <a:noFill/>
        </p:spPr>
        <p:txBody>
          <a:bodyPr wrap="square">
            <a:spAutoFit/>
          </a:bodyPr>
          <a:lstStyle/>
          <a:p>
            <a:pPr algn="l"/>
            <a:r>
              <a:rPr sz="1100" b="0" i="0">
                <a:solidFill>
                  <a:srgbClr val="FFFFFF"/>
                </a:solidFill>
              </a:rPr>
              <a:t>REST API: JWT auth, runner CRUD, shared PostgreSQL</a:t>
            </a:r>
          </a:p>
        </p:txBody>
      </p:sp>
      <p:sp>
        <p:nvSpPr>
          <p:cNvPr id="15" name="Rectangle 14"/>
          <p:cNvSpPr/>
          <p:nvPr/>
        </p:nvSpPr>
        <p:spPr>
          <a:xfrm>
            <a:off x="5669280" y="3145536"/>
            <a:ext cx="2377440" cy="38404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742432" y="3200400"/>
            <a:ext cx="2286000" cy="384048"/>
          </a:xfrm>
          <a:prstGeom prst="rect">
            <a:avLst/>
          </a:prstGeom>
          <a:noFill/>
        </p:spPr>
        <p:txBody>
          <a:bodyPr wrap="square">
            <a:spAutoFit/>
          </a:bodyPr>
          <a:lstStyle/>
          <a:p>
            <a:pPr algn="l"/>
            <a:r>
              <a:rPr sz="1100" b="1" i="0">
                <a:solidFill>
                  <a:srgbClr val="0D1B3E"/>
                </a:solidFill>
              </a:rPr>
              <a:t>Flet Client</a:t>
            </a:r>
          </a:p>
        </p:txBody>
      </p:sp>
      <p:sp>
        <p:nvSpPr>
          <p:cNvPr id="17" name="TextBox 16"/>
          <p:cNvSpPr txBox="1"/>
          <p:nvPr/>
        </p:nvSpPr>
        <p:spPr>
          <a:xfrm>
            <a:off x="8138160" y="3200400"/>
            <a:ext cx="3840480" cy="384048"/>
          </a:xfrm>
          <a:prstGeom prst="rect">
            <a:avLst/>
          </a:prstGeom>
          <a:noFill/>
        </p:spPr>
        <p:txBody>
          <a:bodyPr wrap="square">
            <a:spAutoFit/>
          </a:bodyPr>
          <a:lstStyle/>
          <a:p>
            <a:pPr algn="l"/>
            <a:r>
              <a:rPr sz="1100" b="0" i="0">
                <a:solidFill>
                  <a:srgbClr val="FFFFFF"/>
                </a:solidFill>
              </a:rPr>
              <a:t>Mobile/desktop timer app — PTIs use it on the sports field</a:t>
            </a:r>
          </a:p>
        </p:txBody>
      </p:sp>
      <p:sp>
        <p:nvSpPr>
          <p:cNvPr id="18" name="TextBox 17"/>
          <p:cNvSpPr txBox="1"/>
          <p:nvPr/>
        </p:nvSpPr>
        <p:spPr>
          <a:xfrm>
            <a:off x="5669280" y="3291840"/>
            <a:ext cx="6217920" cy="347472"/>
          </a:xfrm>
          <a:prstGeom prst="rect">
            <a:avLst/>
          </a:prstGeom>
          <a:noFill/>
        </p:spPr>
        <p:txBody>
          <a:bodyPr wrap="square">
            <a:spAutoFit/>
          </a:bodyPr>
          <a:lstStyle/>
          <a:p>
            <a:pPr algn="l"/>
            <a:r>
              <a:rPr sz="1300" b="1" i="0">
                <a:solidFill>
                  <a:srgbClr val="FFB700"/>
                </a:solidFill>
              </a:rPr>
              <a:t>Field workflow</a:t>
            </a:r>
          </a:p>
        </p:txBody>
      </p:sp>
      <p:sp>
        <p:nvSpPr>
          <p:cNvPr id="19" name="Rectangle 18"/>
          <p:cNvSpPr/>
          <p:nvPr/>
        </p:nvSpPr>
        <p:spPr>
          <a:xfrm>
            <a:off x="5669280" y="3749040"/>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833872" y="3657600"/>
            <a:ext cx="5852160" cy="384048"/>
          </a:xfrm>
          <a:prstGeom prst="rect">
            <a:avLst/>
          </a:prstGeom>
          <a:noFill/>
        </p:spPr>
        <p:txBody>
          <a:bodyPr wrap="square">
            <a:spAutoFit/>
          </a:bodyPr>
          <a:lstStyle/>
          <a:p>
            <a:pPr algn="l"/>
            <a:r>
              <a:rPr sz="1300" b="0" i="0">
                <a:solidFill>
                  <a:srgbClr val="FFFFFF"/>
                </a:solidFill>
              </a:rPr>
              <a:t>PTI creates session in WarriorFit (Cross Planning page)</a:t>
            </a:r>
          </a:p>
        </p:txBody>
      </p:sp>
      <p:sp>
        <p:nvSpPr>
          <p:cNvPr id="21" name="Rectangle 20"/>
          <p:cNvSpPr/>
          <p:nvPr/>
        </p:nvSpPr>
        <p:spPr>
          <a:xfrm>
            <a:off x="5669280" y="4187952"/>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33872" y="4096512"/>
            <a:ext cx="5852160" cy="384048"/>
          </a:xfrm>
          <a:prstGeom prst="rect">
            <a:avLst/>
          </a:prstGeom>
          <a:noFill/>
        </p:spPr>
        <p:txBody>
          <a:bodyPr wrap="square">
            <a:spAutoFit/>
          </a:bodyPr>
          <a:lstStyle/>
          <a:p>
            <a:pPr algn="l"/>
            <a:r>
              <a:rPr sz="1300" b="0" i="0">
                <a:solidFill>
                  <a:srgbClr val="FFFFFF"/>
                </a:solidFill>
              </a:rPr>
              <a:t>PTI opens Flet app on tablet — selects session (JWT auth)</a:t>
            </a:r>
          </a:p>
        </p:txBody>
      </p:sp>
      <p:sp>
        <p:nvSpPr>
          <p:cNvPr id="23" name="Rectangle 22"/>
          <p:cNvSpPr/>
          <p:nvPr/>
        </p:nvSpPr>
        <p:spPr>
          <a:xfrm>
            <a:off x="5669280" y="4626864"/>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833872" y="4535424"/>
            <a:ext cx="5852160" cy="384048"/>
          </a:xfrm>
          <a:prstGeom prst="rect">
            <a:avLst/>
          </a:prstGeom>
          <a:noFill/>
        </p:spPr>
        <p:txBody>
          <a:bodyPr wrap="square">
            <a:spAutoFit/>
          </a:bodyPr>
          <a:lstStyle/>
          <a:p>
            <a:pPr algn="l"/>
            <a:r>
              <a:rPr sz="1300" b="0" i="0">
                <a:solidFill>
                  <a:srgbClr val="FFFFFF"/>
                </a:solidFill>
              </a:rPr>
              <a:t>For each finisher: enter serial + time → POST /api/runners/</a:t>
            </a:r>
          </a:p>
        </p:txBody>
      </p:sp>
      <p:sp>
        <p:nvSpPr>
          <p:cNvPr id="25" name="Rectangle 24"/>
          <p:cNvSpPr/>
          <p:nvPr/>
        </p:nvSpPr>
        <p:spPr>
          <a:xfrm>
            <a:off x="5669280" y="5065776"/>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833872" y="4974336"/>
            <a:ext cx="5852160" cy="384048"/>
          </a:xfrm>
          <a:prstGeom prst="rect">
            <a:avLst/>
          </a:prstGeom>
          <a:noFill/>
        </p:spPr>
        <p:txBody>
          <a:bodyPr wrap="square">
            <a:spAutoFit/>
          </a:bodyPr>
          <a:lstStyle/>
          <a:p>
            <a:pPr algn="l"/>
            <a:r>
              <a:rPr sz="1300" b="0" i="0">
                <a:solidFill>
                  <a:srgbClr val="FFFFFF"/>
                </a:solidFill>
              </a:rPr>
              <a:t>WarriorFit auto-shows updated results from shared PostgreSQL</a:t>
            </a:r>
          </a:p>
        </p:txBody>
      </p:sp>
      <p:sp>
        <p:nvSpPr>
          <p:cNvPr id="27" name="Rectangle 26"/>
          <p:cNvSpPr/>
          <p:nvPr/>
        </p:nvSpPr>
        <p:spPr>
          <a:xfrm>
            <a:off x="5669280" y="5504688"/>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833872" y="5413248"/>
            <a:ext cx="5852160" cy="384048"/>
          </a:xfrm>
          <a:prstGeom prst="rect">
            <a:avLst/>
          </a:prstGeom>
          <a:noFill/>
        </p:spPr>
        <p:txBody>
          <a:bodyPr wrap="square">
            <a:spAutoFit/>
          </a:bodyPr>
          <a:lstStyle/>
          <a:p>
            <a:pPr algn="l"/>
            <a:r>
              <a:rPr sz="1300" b="0" i="0">
                <a:solidFill>
                  <a:srgbClr val="FFFFFF"/>
                </a:solidFill>
              </a:rPr>
              <a:t>PTI views top-10 + demographics in Cross Statistics page</a:t>
            </a:r>
          </a:p>
        </p:txBody>
      </p:sp>
      <p:sp>
        <p:nvSpPr>
          <p:cNvPr id="29" name="TextBox 28"/>
          <p:cNvSpPr txBox="1"/>
          <p:nvPr/>
        </p:nvSpPr>
        <p:spPr>
          <a:xfrm>
            <a:off x="5669280" y="6217920"/>
            <a:ext cx="6217920" cy="365760"/>
          </a:xfrm>
          <a:prstGeom prst="rect">
            <a:avLst/>
          </a:prstGeom>
          <a:noFill/>
        </p:spPr>
        <p:txBody>
          <a:bodyPr wrap="square">
            <a:spAutoFit/>
          </a:bodyPr>
          <a:lstStyle/>
          <a:p>
            <a:pPr algn="l"/>
            <a:r>
              <a:rPr sz="1000" b="0" i="1">
                <a:solidFill>
                  <a:srgbClr val="556078"/>
                </a:solidFill>
              </a:rPr>
              <a:t>clientcross.bensoft.be</a:t>
            </a:r>
          </a:p>
        </p:txBody>
      </p:sp>
      <p:sp>
        <p:nvSpPr>
          <p:cNvPr id="34" name="TextBox 33"/>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35" name="Rounded Rectangle 34"/>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13 / 20</a:t>
            </a:r>
          </a:p>
        </p:txBody>
      </p:sp>
      <p:sp>
        <p:nvSpPr>
          <p:cNvPr id="36" name="Rectangle 35"/>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8016"/>
            <a:ext cx="10972800" cy="822960"/>
          </a:xfrm>
          <a:prstGeom prst="rect">
            <a:avLst/>
          </a:prstGeom>
          <a:noFill/>
        </p:spPr>
        <p:txBody>
          <a:bodyPr wrap="square">
            <a:spAutoFit/>
          </a:bodyPr>
          <a:lstStyle/>
          <a:p>
            <a:pPr algn="l"/>
            <a:r>
              <a:rPr sz="3000" b="1" i="0">
                <a:solidFill>
                  <a:srgbClr val="FFB700"/>
                </a:solidFill>
              </a:rPr>
              <a:t>Flet Client — Sequence Diagram</a:t>
            </a:r>
          </a:p>
        </p:txBody>
      </p:sp>
      <p:sp>
        <p:nvSpPr>
          <p:cNvPr id="6" name="TextBox 5"/>
          <p:cNvSpPr txBox="1"/>
          <p:nvPr/>
        </p:nvSpPr>
        <p:spPr>
          <a:xfrm>
            <a:off x="457200" y="841248"/>
            <a:ext cx="10972800" cy="411480"/>
          </a:xfrm>
          <a:prstGeom prst="rect">
            <a:avLst/>
          </a:prstGeom>
          <a:noFill/>
        </p:spPr>
        <p:txBody>
          <a:bodyPr wrap="square">
            <a:spAutoFit/>
          </a:bodyPr>
          <a:lstStyle/>
          <a:p>
            <a:pPr algn="l"/>
            <a:r>
              <a:rPr sz="1300" b="0" i="1">
                <a:solidFill>
                  <a:srgbClr val="F0F4FF"/>
                </a:solidFill>
              </a:rPr>
              <a:t>PTI flow: login → select event → time runners → save results</a:t>
            </a:r>
          </a:p>
        </p:txBody>
      </p:sp>
      <p:pic>
        <p:nvPicPr>
          <p:cNvPr id="7" name="Picture 6" descr="img_7.png"/>
          <p:cNvPicPr>
            <a:picLocks noChangeAspect="1"/>
          </p:cNvPicPr>
          <p:nvPr/>
        </p:nvPicPr>
        <p:blipFill>
          <a:blip r:embed="rId2"/>
          <a:stretch>
            <a:fillRect/>
          </a:stretch>
        </p:blipFill>
        <p:spPr>
          <a:xfrm>
            <a:off x="2286000" y="1143000"/>
            <a:ext cx="7589520" cy="5394960"/>
          </a:xfrm>
          <a:prstGeom prst="rect">
            <a:avLst/>
          </a:prstGeom>
        </p:spPr>
      </p:pic>
      <p:sp>
        <p:nvSpPr>
          <p:cNvPr id="12" name="TextBox 11"/>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13" name="Rounded Rectangle 12"/>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14 / 20</a:t>
            </a:r>
          </a:p>
        </p:txBody>
      </p:sp>
      <p:sp>
        <p:nvSpPr>
          <p:cNvPr id="14" name="Rectangle 13"/>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8016"/>
            <a:ext cx="10972800" cy="822960"/>
          </a:xfrm>
          <a:prstGeom prst="rect">
            <a:avLst/>
          </a:prstGeom>
          <a:noFill/>
        </p:spPr>
        <p:txBody>
          <a:bodyPr wrap="square">
            <a:spAutoFit/>
          </a:bodyPr>
          <a:lstStyle/>
          <a:p>
            <a:pPr algn="l"/>
            <a:r>
              <a:rPr sz="3000" b="1" i="0">
                <a:solidFill>
                  <a:srgbClr val="FFB700"/>
                </a:solidFill>
              </a:rPr>
              <a:t>HR Simulator &amp; Mailpit</a:t>
            </a:r>
          </a:p>
        </p:txBody>
      </p:sp>
      <p:sp>
        <p:nvSpPr>
          <p:cNvPr id="6" name="TextBox 5"/>
          <p:cNvSpPr txBox="1"/>
          <p:nvPr/>
        </p:nvSpPr>
        <p:spPr>
          <a:xfrm>
            <a:off x="457200" y="841248"/>
            <a:ext cx="10972800" cy="411480"/>
          </a:xfrm>
          <a:prstGeom prst="rect">
            <a:avLst/>
          </a:prstGeom>
          <a:noFill/>
        </p:spPr>
        <p:txBody>
          <a:bodyPr wrap="square">
            <a:spAutoFit/>
          </a:bodyPr>
          <a:lstStyle/>
          <a:p>
            <a:pPr algn="l"/>
            <a:r>
              <a:rPr sz="1300" b="0" i="1">
                <a:solidFill>
                  <a:srgbClr val="F0F4FF"/>
                </a:solidFill>
              </a:rPr>
              <a:t>Development infrastructure — test without touching real systems</a:t>
            </a:r>
          </a:p>
        </p:txBody>
      </p:sp>
      <p:sp>
        <p:nvSpPr>
          <p:cNvPr id="7" name="Rectangle 6"/>
          <p:cNvSpPr/>
          <p:nvPr/>
        </p:nvSpPr>
        <p:spPr>
          <a:xfrm>
            <a:off x="274320" y="1280160"/>
            <a:ext cx="5394960" cy="420624"/>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335024"/>
            <a:ext cx="5212080" cy="420624"/>
          </a:xfrm>
          <a:prstGeom prst="rect">
            <a:avLst/>
          </a:prstGeom>
          <a:noFill/>
        </p:spPr>
        <p:txBody>
          <a:bodyPr wrap="square">
            <a:spAutoFit/>
          </a:bodyPr>
          <a:lstStyle/>
          <a:p>
            <a:pPr algn="l"/>
            <a:r>
              <a:rPr sz="1300" b="1" i="0">
                <a:solidFill>
                  <a:srgbClr val="0D1B3E"/>
                </a:solidFill>
              </a:rPr>
              <a:t>HR Simulator  (hr_fatapi_dummy.py)</a:t>
            </a:r>
          </a:p>
        </p:txBody>
      </p:sp>
      <p:sp>
        <p:nvSpPr>
          <p:cNvPr id="9" name="Rectangle 8"/>
          <p:cNvSpPr/>
          <p:nvPr/>
        </p:nvSpPr>
        <p:spPr>
          <a:xfrm>
            <a:off x="365760" y="1874520"/>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0352" y="1783080"/>
            <a:ext cx="11155680" cy="384048"/>
          </a:xfrm>
          <a:prstGeom prst="rect">
            <a:avLst/>
          </a:prstGeom>
          <a:noFill/>
        </p:spPr>
        <p:txBody>
          <a:bodyPr wrap="square">
            <a:spAutoFit/>
          </a:bodyPr>
          <a:lstStyle/>
          <a:p>
            <a:pPr algn="l"/>
            <a:r>
              <a:rPr sz="1300" b="0" i="0">
                <a:solidFill>
                  <a:srgbClr val="FFFFFF"/>
                </a:solidFill>
              </a:rPr>
              <a:t>FastAPI application mimicking the BEMIL HRM REST API</a:t>
            </a:r>
          </a:p>
        </p:txBody>
      </p:sp>
      <p:sp>
        <p:nvSpPr>
          <p:cNvPr id="11" name="Rectangle 10"/>
          <p:cNvSpPr/>
          <p:nvPr/>
        </p:nvSpPr>
        <p:spPr>
          <a:xfrm>
            <a:off x="365760" y="2404872"/>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2313432"/>
            <a:ext cx="11155680" cy="384048"/>
          </a:xfrm>
          <a:prstGeom prst="rect">
            <a:avLst/>
          </a:prstGeom>
          <a:noFill/>
        </p:spPr>
        <p:txBody>
          <a:bodyPr wrap="square">
            <a:spAutoFit/>
          </a:bodyPr>
          <a:lstStyle/>
          <a:p>
            <a:pPr algn="l"/>
            <a:r>
              <a:rPr sz="1300" b="0" i="0">
                <a:solidFill>
                  <a:srgbClr val="FFFFFF"/>
                </a:solidFill>
              </a:rPr>
              <a:t>Accepts POST /api/v1/phef/test with PhefTestDto JSON</a:t>
            </a:r>
          </a:p>
        </p:txBody>
      </p:sp>
      <p:sp>
        <p:nvSpPr>
          <p:cNvPr id="13" name="Rectangle 12"/>
          <p:cNvSpPr/>
          <p:nvPr/>
        </p:nvSpPr>
        <p:spPr>
          <a:xfrm>
            <a:off x="365760" y="2935224"/>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0352" y="2843784"/>
            <a:ext cx="11155680" cy="384048"/>
          </a:xfrm>
          <a:prstGeom prst="rect">
            <a:avLst/>
          </a:prstGeom>
          <a:noFill/>
        </p:spPr>
        <p:txBody>
          <a:bodyPr wrap="square">
            <a:spAutoFit/>
          </a:bodyPr>
          <a:lstStyle/>
          <a:p>
            <a:pPr algn="l"/>
            <a:r>
              <a:rPr sz="1300" b="0" i="0">
                <a:solidFill>
                  <a:srgbClr val="FFFFFF"/>
                </a:solidFill>
              </a:rPr>
              <a:t>Returns { success: true, ack: 'Message enqueued' }</a:t>
            </a:r>
          </a:p>
        </p:txBody>
      </p:sp>
      <p:sp>
        <p:nvSpPr>
          <p:cNvPr id="15" name="Rectangle 14"/>
          <p:cNvSpPr/>
          <p:nvPr/>
        </p:nvSpPr>
        <p:spPr>
          <a:xfrm>
            <a:off x="365760" y="3465576"/>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0352" y="3374136"/>
            <a:ext cx="11155680" cy="384048"/>
          </a:xfrm>
          <a:prstGeom prst="rect">
            <a:avLst/>
          </a:prstGeom>
          <a:noFill/>
        </p:spPr>
        <p:txBody>
          <a:bodyPr wrap="square">
            <a:spAutoFit/>
          </a:bodyPr>
          <a:lstStyle/>
          <a:p>
            <a:pPr algn="l"/>
            <a:r>
              <a:rPr sz="1300" b="0" i="0">
                <a:solidFill>
                  <a:srgbClr val="FFFFFF"/>
                </a:solidFill>
              </a:rPr>
              <a:t>CORS configured for localhost:8005</a:t>
            </a:r>
          </a:p>
        </p:txBody>
      </p:sp>
      <p:sp>
        <p:nvSpPr>
          <p:cNvPr id="17" name="Rectangle 16"/>
          <p:cNvSpPr/>
          <p:nvPr/>
        </p:nvSpPr>
        <p:spPr>
          <a:xfrm>
            <a:off x="365760" y="3995928"/>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0352" y="3904488"/>
            <a:ext cx="11155680" cy="384048"/>
          </a:xfrm>
          <a:prstGeom prst="rect">
            <a:avLst/>
          </a:prstGeom>
          <a:noFill/>
        </p:spPr>
        <p:txBody>
          <a:bodyPr wrap="square">
            <a:spAutoFit/>
          </a:bodyPr>
          <a:lstStyle/>
          <a:p>
            <a:pPr algn="l"/>
            <a:r>
              <a:rPr sz="1300" b="0" i="0">
                <a:solidFill>
                  <a:srgbClr val="FFFFFF"/>
                </a:solidFill>
              </a:rPr>
              <a:t>Validates broker → HR message pipeline end-to-end</a:t>
            </a:r>
          </a:p>
        </p:txBody>
      </p:sp>
      <p:sp>
        <p:nvSpPr>
          <p:cNvPr id="19" name="Rectangle 18"/>
          <p:cNvSpPr/>
          <p:nvPr/>
        </p:nvSpPr>
        <p:spPr>
          <a:xfrm>
            <a:off x="365760" y="4526280"/>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0352" y="4434840"/>
            <a:ext cx="11155680" cy="384048"/>
          </a:xfrm>
          <a:prstGeom prst="rect">
            <a:avLst/>
          </a:prstGeom>
          <a:noFill/>
        </p:spPr>
        <p:txBody>
          <a:bodyPr wrap="square">
            <a:spAutoFit/>
          </a:bodyPr>
          <a:lstStyle/>
          <a:p>
            <a:pPr algn="l"/>
            <a:r>
              <a:rPr sz="1300" b="0" i="0">
                <a:solidFill>
                  <a:srgbClr val="FFFFFF"/>
                </a:solidFill>
              </a:rPr>
              <a:t>In production: replace base URL in config.yml → real HR endpoint</a:t>
            </a:r>
          </a:p>
        </p:txBody>
      </p:sp>
      <p:sp>
        <p:nvSpPr>
          <p:cNvPr id="21" name="Rectangle 20"/>
          <p:cNvSpPr/>
          <p:nvPr/>
        </p:nvSpPr>
        <p:spPr>
          <a:xfrm>
            <a:off x="365760" y="5074920"/>
            <a:ext cx="5394960" cy="1188720"/>
          </a:xfrm>
          <a:prstGeom prst="rect">
            <a:avLst/>
          </a:prstGeom>
          <a:solidFill>
            <a:srgbClr val="0A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5120640"/>
            <a:ext cx="5212080" cy="1097280"/>
          </a:xfrm>
          <a:prstGeom prst="rect">
            <a:avLst/>
          </a:prstGeom>
          <a:noFill/>
        </p:spPr>
        <p:txBody>
          <a:bodyPr wrap="square">
            <a:spAutoFit/>
          </a:bodyPr>
          <a:lstStyle/>
          <a:p>
            <a:pPr algn="l"/>
            <a:r>
              <a:rPr sz="950" b="0" i="0">
                <a:solidFill>
                  <a:srgbClr val="FFB700"/>
                </a:solidFill>
              </a:rPr>
              <a:t>{ "serial_number": "12345678",
  "running_time": 720.0,
  "sideBridge_r": 65.0,
  "sideBridge_l": 58.0,
  "timestamp": "2026-05-01T09:15:00" }</a:t>
            </a:r>
          </a:p>
        </p:txBody>
      </p:sp>
      <p:sp>
        <p:nvSpPr>
          <p:cNvPr id="23" name="Rectangle 22"/>
          <p:cNvSpPr/>
          <p:nvPr/>
        </p:nvSpPr>
        <p:spPr>
          <a:xfrm>
            <a:off x="6217920" y="1280160"/>
            <a:ext cx="5669280" cy="420624"/>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09360" y="1335024"/>
            <a:ext cx="5486400" cy="420624"/>
          </a:xfrm>
          <a:prstGeom prst="rect">
            <a:avLst/>
          </a:prstGeom>
          <a:noFill/>
        </p:spPr>
        <p:txBody>
          <a:bodyPr wrap="square">
            <a:spAutoFit/>
          </a:bodyPr>
          <a:lstStyle/>
          <a:p>
            <a:pPr algn="l"/>
            <a:r>
              <a:rPr sz="1300" b="1" i="0">
                <a:solidFill>
                  <a:srgbClr val="0D1B3E"/>
                </a:solidFill>
              </a:rPr>
              <a:t>Mailpit  (SMTP trap for development)</a:t>
            </a:r>
          </a:p>
        </p:txBody>
      </p:sp>
      <p:sp>
        <p:nvSpPr>
          <p:cNvPr id="25" name="Rectangle 24"/>
          <p:cNvSpPr/>
          <p:nvPr/>
        </p:nvSpPr>
        <p:spPr>
          <a:xfrm>
            <a:off x="6217920" y="1874520"/>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82512" y="1783080"/>
            <a:ext cx="5303520" cy="384048"/>
          </a:xfrm>
          <a:prstGeom prst="rect">
            <a:avLst/>
          </a:prstGeom>
          <a:noFill/>
        </p:spPr>
        <p:txBody>
          <a:bodyPr wrap="square">
            <a:spAutoFit/>
          </a:bodyPr>
          <a:lstStyle/>
          <a:p>
            <a:pPr algn="l"/>
            <a:r>
              <a:rPr sz="1300" b="0" i="0">
                <a:solidFill>
                  <a:srgbClr val="FFFFFF"/>
                </a:solidFill>
              </a:rPr>
              <a:t>SMTP server on port 1025 at 192.168.0.30 — catches all emails</a:t>
            </a:r>
          </a:p>
        </p:txBody>
      </p:sp>
      <p:sp>
        <p:nvSpPr>
          <p:cNvPr id="27" name="Rectangle 26"/>
          <p:cNvSpPr/>
          <p:nvPr/>
        </p:nvSpPr>
        <p:spPr>
          <a:xfrm>
            <a:off x="6217920" y="2386584"/>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82512" y="2295144"/>
            <a:ext cx="5303520" cy="384048"/>
          </a:xfrm>
          <a:prstGeom prst="rect">
            <a:avLst/>
          </a:prstGeom>
          <a:noFill/>
        </p:spPr>
        <p:txBody>
          <a:bodyPr wrap="square">
            <a:spAutoFit/>
          </a:bodyPr>
          <a:lstStyle/>
          <a:p>
            <a:pPr algn="l"/>
            <a:r>
              <a:rPr sz="1300" b="0" i="0">
                <a:solidFill>
                  <a:srgbClr val="FFFFFF"/>
                </a:solidFill>
              </a:rPr>
              <a:t>Web UI at https://mailstub.bensoft.be/ — inspect every message</a:t>
            </a:r>
          </a:p>
        </p:txBody>
      </p:sp>
      <p:sp>
        <p:nvSpPr>
          <p:cNvPr id="29" name="Rectangle 28"/>
          <p:cNvSpPr/>
          <p:nvPr/>
        </p:nvSpPr>
        <p:spPr>
          <a:xfrm>
            <a:off x="6217920" y="2898648"/>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82512" y="2807208"/>
            <a:ext cx="5303520" cy="384048"/>
          </a:xfrm>
          <a:prstGeom prst="rect">
            <a:avLst/>
          </a:prstGeom>
          <a:noFill/>
        </p:spPr>
        <p:txBody>
          <a:bodyPr wrap="square">
            <a:spAutoFit/>
          </a:bodyPr>
          <a:lstStyle/>
          <a:p>
            <a:pPr algn="l"/>
            <a:r>
              <a:rPr sz="1300" b="0" i="0">
                <a:solidFill>
                  <a:srgbClr val="FFFFFF"/>
                </a:solidFill>
              </a:rPr>
              <a:t>No emails reach real recipients during development</a:t>
            </a:r>
          </a:p>
        </p:txBody>
      </p:sp>
      <p:sp>
        <p:nvSpPr>
          <p:cNvPr id="31" name="Rectangle 30"/>
          <p:cNvSpPr/>
          <p:nvPr/>
        </p:nvSpPr>
        <p:spPr>
          <a:xfrm>
            <a:off x="6217920" y="3410712"/>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82512" y="3319272"/>
            <a:ext cx="5303520" cy="384048"/>
          </a:xfrm>
          <a:prstGeom prst="rect">
            <a:avLst/>
          </a:prstGeom>
          <a:noFill/>
        </p:spPr>
        <p:txBody>
          <a:bodyPr wrap="square">
            <a:spAutoFit/>
          </a:bodyPr>
          <a:lstStyle/>
          <a:p>
            <a:pPr algn="l"/>
            <a:r>
              <a:rPr sz="1300" b="0" i="0">
                <a:solidFill>
                  <a:srgbClr val="FFFFFF"/>
                </a:solidFill>
              </a:rPr>
              <a:t>Tests all WarriorFit notification types without sending real mail:</a:t>
            </a:r>
          </a:p>
        </p:txBody>
      </p:sp>
      <p:sp>
        <p:nvSpPr>
          <p:cNvPr id="33" name="Rectangle 32"/>
          <p:cNvSpPr/>
          <p:nvPr/>
        </p:nvSpPr>
        <p:spPr>
          <a:xfrm>
            <a:off x="6492240" y="3913632"/>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75120" y="3840480"/>
            <a:ext cx="5120640" cy="365760"/>
          </a:xfrm>
          <a:prstGeom prst="rect">
            <a:avLst/>
          </a:prstGeom>
          <a:noFill/>
        </p:spPr>
        <p:txBody>
          <a:bodyPr wrap="square">
            <a:spAutoFit/>
          </a:bodyPr>
          <a:lstStyle/>
          <a:p>
            <a:pPr algn="l"/>
            <a:r>
              <a:rPr sz="1100" b="0" i="0">
                <a:solidFill>
                  <a:srgbClr val="F0F4FF"/>
                </a:solidFill>
              </a:rPr>
              <a:t>PHEF / Combat / Swim / Functional test added</a:t>
            </a:r>
          </a:p>
        </p:txBody>
      </p:sp>
      <p:sp>
        <p:nvSpPr>
          <p:cNvPr id="35" name="Rectangle 34"/>
          <p:cNvSpPr/>
          <p:nvPr/>
        </p:nvSpPr>
        <p:spPr>
          <a:xfrm>
            <a:off x="6492240" y="4334256"/>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675120" y="4261104"/>
            <a:ext cx="5120640" cy="365760"/>
          </a:xfrm>
          <a:prstGeom prst="rect">
            <a:avLst/>
          </a:prstGeom>
          <a:noFill/>
        </p:spPr>
        <p:txBody>
          <a:bodyPr wrap="square">
            <a:spAutoFit/>
          </a:bodyPr>
          <a:lstStyle/>
          <a:p>
            <a:pPr algn="l"/>
            <a:r>
              <a:rPr sz="1100" b="0" i="0">
                <a:solidFill>
                  <a:srgbClr val="F0F4FF"/>
                </a:solidFill>
              </a:rPr>
              <a:t>March registration confirmation</a:t>
            </a:r>
          </a:p>
        </p:txBody>
      </p:sp>
      <p:sp>
        <p:nvSpPr>
          <p:cNvPr id="37" name="Rectangle 36"/>
          <p:cNvSpPr/>
          <p:nvPr/>
        </p:nvSpPr>
        <p:spPr>
          <a:xfrm>
            <a:off x="6492240" y="4754880"/>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675120" y="4681728"/>
            <a:ext cx="5120640" cy="365760"/>
          </a:xfrm>
          <a:prstGeom prst="rect">
            <a:avLst/>
          </a:prstGeom>
          <a:noFill/>
        </p:spPr>
        <p:txBody>
          <a:bodyPr wrap="square">
            <a:spAutoFit/>
          </a:bodyPr>
          <a:lstStyle/>
          <a:p>
            <a:pPr algn="l"/>
            <a:r>
              <a:rPr sz="1100" b="0" i="0">
                <a:solidFill>
                  <a:srgbClr val="F0F4FF"/>
                </a:solidFill>
              </a:rPr>
              <a:t>Room reservation created or cancelled</a:t>
            </a:r>
          </a:p>
        </p:txBody>
      </p:sp>
      <p:sp>
        <p:nvSpPr>
          <p:cNvPr id="39" name="Rectangle 38"/>
          <p:cNvSpPr/>
          <p:nvPr/>
        </p:nvSpPr>
        <p:spPr>
          <a:xfrm>
            <a:off x="6492240" y="5175504"/>
            <a:ext cx="54864" cy="20116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675120" y="5102352"/>
            <a:ext cx="5120640" cy="365760"/>
          </a:xfrm>
          <a:prstGeom prst="rect">
            <a:avLst/>
          </a:prstGeom>
          <a:noFill/>
        </p:spPr>
        <p:txBody>
          <a:bodyPr wrap="square">
            <a:spAutoFit/>
          </a:bodyPr>
          <a:lstStyle/>
          <a:p>
            <a:pPr algn="l"/>
            <a:r>
              <a:rPr sz="1100" b="0" i="0">
                <a:solidFill>
                  <a:srgbClr val="F0F4FF"/>
                </a:solidFill>
              </a:rPr>
              <a:t>Test session created by PTI</a:t>
            </a:r>
          </a:p>
        </p:txBody>
      </p:sp>
      <p:sp>
        <p:nvSpPr>
          <p:cNvPr id="41" name="TextBox 40"/>
          <p:cNvSpPr txBox="1"/>
          <p:nvPr/>
        </p:nvSpPr>
        <p:spPr>
          <a:xfrm>
            <a:off x="6217920" y="5440680"/>
            <a:ext cx="5669280" cy="731520"/>
          </a:xfrm>
          <a:prstGeom prst="rect">
            <a:avLst/>
          </a:prstGeom>
          <a:noFill/>
        </p:spPr>
        <p:txBody>
          <a:bodyPr wrap="square">
            <a:spAutoFit/>
          </a:bodyPr>
          <a:lstStyle/>
          <a:p>
            <a:pPr algn="l"/>
            <a:r>
              <a:rPr sz="950" b="0" i="1">
                <a:solidFill>
                  <a:srgbClr val="556078"/>
                </a:solidFill>
              </a:rPr>
              <a:t>WarriorFit config (dev):
  mail.host: 192.168.0.30 · port: 1025 · use_ssl: false</a:t>
            </a:r>
          </a:p>
        </p:txBody>
      </p:sp>
      <p:sp>
        <p:nvSpPr>
          <p:cNvPr id="46" name="TextBox 45"/>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47" name="Rounded Rectangle 46"/>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15 / 20</a:t>
            </a:r>
          </a:p>
        </p:txBody>
      </p:sp>
      <p:sp>
        <p:nvSpPr>
          <p:cNvPr id="48" name="Rectangle 47"/>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Rectangle 81"/>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8016"/>
            <a:ext cx="10972800" cy="822960"/>
          </a:xfrm>
          <a:prstGeom prst="rect">
            <a:avLst/>
          </a:prstGeom>
          <a:noFill/>
        </p:spPr>
        <p:txBody>
          <a:bodyPr wrap="square">
            <a:spAutoFit/>
          </a:bodyPr>
          <a:lstStyle/>
          <a:p>
            <a:pPr algn="l"/>
            <a:r>
              <a:rPr sz="3000" b="1" i="0">
                <a:solidFill>
                  <a:srgbClr val="FFB700"/>
                </a:solidFill>
              </a:rPr>
              <a:t>Tech Stack</a:t>
            </a:r>
          </a:p>
        </p:txBody>
      </p:sp>
      <p:sp>
        <p:nvSpPr>
          <p:cNvPr id="6" name="TextBox 5"/>
          <p:cNvSpPr txBox="1"/>
          <p:nvPr/>
        </p:nvSpPr>
        <p:spPr>
          <a:xfrm>
            <a:off x="457200" y="841248"/>
            <a:ext cx="10972800" cy="411480"/>
          </a:xfrm>
          <a:prstGeom prst="rect">
            <a:avLst/>
          </a:prstGeom>
          <a:noFill/>
        </p:spPr>
        <p:txBody>
          <a:bodyPr wrap="square">
            <a:spAutoFit/>
          </a:bodyPr>
          <a:lstStyle/>
          <a:p>
            <a:pPr algn="l"/>
            <a:r>
              <a:rPr sz="1300" b="0" i="1">
                <a:solidFill>
                  <a:srgbClr val="F0F4FF"/>
                </a:solidFill>
              </a:rPr>
              <a:t>Modern, async-first, production-hardened</a:t>
            </a:r>
          </a:p>
        </p:txBody>
      </p:sp>
      <p:sp>
        <p:nvSpPr>
          <p:cNvPr id="7" name="Rectangle 6"/>
          <p:cNvSpPr/>
          <p:nvPr/>
        </p:nvSpPr>
        <p:spPr>
          <a:xfrm>
            <a:off x="274320" y="1353312"/>
            <a:ext cx="1737360" cy="38404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408176"/>
            <a:ext cx="1645920" cy="384048"/>
          </a:xfrm>
          <a:prstGeom prst="rect">
            <a:avLst/>
          </a:prstGeom>
          <a:noFill/>
        </p:spPr>
        <p:txBody>
          <a:bodyPr wrap="square">
            <a:spAutoFit/>
          </a:bodyPr>
          <a:lstStyle/>
          <a:p>
            <a:pPr algn="l"/>
            <a:r>
              <a:rPr sz="1100" b="1" i="0">
                <a:solidFill>
                  <a:srgbClr val="0D1B3E"/>
                </a:solidFill>
              </a:rPr>
              <a:t>Layer</a:t>
            </a:r>
          </a:p>
        </p:txBody>
      </p:sp>
      <p:sp>
        <p:nvSpPr>
          <p:cNvPr id="9" name="Rectangle 8"/>
          <p:cNvSpPr/>
          <p:nvPr/>
        </p:nvSpPr>
        <p:spPr>
          <a:xfrm>
            <a:off x="2011680" y="1353312"/>
            <a:ext cx="2468880" cy="38404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84832" y="1408176"/>
            <a:ext cx="2377440" cy="384048"/>
          </a:xfrm>
          <a:prstGeom prst="rect">
            <a:avLst/>
          </a:prstGeom>
          <a:noFill/>
        </p:spPr>
        <p:txBody>
          <a:bodyPr wrap="square">
            <a:spAutoFit/>
          </a:bodyPr>
          <a:lstStyle/>
          <a:p>
            <a:pPr algn="l"/>
            <a:r>
              <a:rPr sz="1100" b="1" i="0">
                <a:solidFill>
                  <a:srgbClr val="0D1B3E"/>
                </a:solidFill>
              </a:rPr>
              <a:t>Technology</a:t>
            </a:r>
          </a:p>
        </p:txBody>
      </p:sp>
      <p:sp>
        <p:nvSpPr>
          <p:cNvPr id="11" name="Rectangle 10"/>
          <p:cNvSpPr/>
          <p:nvPr/>
        </p:nvSpPr>
        <p:spPr>
          <a:xfrm>
            <a:off x="4526280" y="1353312"/>
            <a:ext cx="7680960" cy="38404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9432" y="1408176"/>
            <a:ext cx="7589520" cy="384048"/>
          </a:xfrm>
          <a:prstGeom prst="rect">
            <a:avLst/>
          </a:prstGeom>
          <a:noFill/>
        </p:spPr>
        <p:txBody>
          <a:bodyPr wrap="square">
            <a:spAutoFit/>
          </a:bodyPr>
          <a:lstStyle/>
          <a:p>
            <a:pPr algn="l"/>
            <a:r>
              <a:rPr sz="1100" b="1" i="0">
                <a:solidFill>
                  <a:srgbClr val="0D1B3E"/>
                </a:solidFill>
              </a:rPr>
              <a:t>Details</a:t>
            </a:r>
          </a:p>
        </p:txBody>
      </p:sp>
      <p:sp>
        <p:nvSpPr>
          <p:cNvPr id="13" name="Rectangle 12"/>
          <p:cNvSpPr/>
          <p:nvPr/>
        </p:nvSpPr>
        <p:spPr>
          <a:xfrm>
            <a:off x="274320" y="1737360"/>
            <a:ext cx="1737360" cy="38404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792224"/>
            <a:ext cx="1645920" cy="384048"/>
          </a:xfrm>
          <a:prstGeom prst="rect">
            <a:avLst/>
          </a:prstGeom>
          <a:noFill/>
        </p:spPr>
        <p:txBody>
          <a:bodyPr wrap="square">
            <a:spAutoFit/>
          </a:bodyPr>
          <a:lstStyle/>
          <a:p>
            <a:pPr algn="l"/>
            <a:r>
              <a:rPr sz="1000" b="1" i="0">
                <a:solidFill>
                  <a:srgbClr val="FFB700"/>
                </a:solidFill>
              </a:rPr>
              <a:t>Language</a:t>
            </a:r>
          </a:p>
        </p:txBody>
      </p:sp>
      <p:sp>
        <p:nvSpPr>
          <p:cNvPr id="15" name="Rectangle 14"/>
          <p:cNvSpPr/>
          <p:nvPr/>
        </p:nvSpPr>
        <p:spPr>
          <a:xfrm>
            <a:off x="2011680" y="1737360"/>
            <a:ext cx="2468880" cy="38404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084832" y="1792224"/>
            <a:ext cx="2377440" cy="384048"/>
          </a:xfrm>
          <a:prstGeom prst="rect">
            <a:avLst/>
          </a:prstGeom>
          <a:noFill/>
        </p:spPr>
        <p:txBody>
          <a:bodyPr wrap="square">
            <a:spAutoFit/>
          </a:bodyPr>
          <a:lstStyle/>
          <a:p>
            <a:pPr algn="l"/>
            <a:r>
              <a:rPr sz="1000" b="0" i="0">
                <a:solidFill>
                  <a:srgbClr val="FFFFFF"/>
                </a:solidFill>
              </a:rPr>
              <a:t>Python 3.13+</a:t>
            </a:r>
          </a:p>
        </p:txBody>
      </p:sp>
      <p:sp>
        <p:nvSpPr>
          <p:cNvPr id="17" name="Rectangle 16"/>
          <p:cNvSpPr/>
          <p:nvPr/>
        </p:nvSpPr>
        <p:spPr>
          <a:xfrm>
            <a:off x="4526280" y="1737360"/>
            <a:ext cx="7680960" cy="38404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99432" y="1792224"/>
            <a:ext cx="7589520" cy="384048"/>
          </a:xfrm>
          <a:prstGeom prst="rect">
            <a:avLst/>
          </a:prstGeom>
          <a:noFill/>
        </p:spPr>
        <p:txBody>
          <a:bodyPr wrap="square">
            <a:spAutoFit/>
          </a:bodyPr>
          <a:lstStyle/>
          <a:p>
            <a:pPr algn="l"/>
            <a:r>
              <a:rPr sz="1000" b="0" i="0">
                <a:solidFill>
                  <a:srgbClr val="FFFFFF"/>
                </a:solidFill>
              </a:rPr>
              <a:t>Async-first · mypy strict · 21 800 lines</a:t>
            </a:r>
          </a:p>
        </p:txBody>
      </p:sp>
      <p:sp>
        <p:nvSpPr>
          <p:cNvPr id="19" name="Rectangle 18"/>
          <p:cNvSpPr/>
          <p:nvPr/>
        </p:nvSpPr>
        <p:spPr>
          <a:xfrm>
            <a:off x="274320" y="2121408"/>
            <a:ext cx="1737360" cy="3840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7472" y="2176272"/>
            <a:ext cx="1645920" cy="384048"/>
          </a:xfrm>
          <a:prstGeom prst="rect">
            <a:avLst/>
          </a:prstGeom>
          <a:noFill/>
        </p:spPr>
        <p:txBody>
          <a:bodyPr wrap="square">
            <a:spAutoFit/>
          </a:bodyPr>
          <a:lstStyle/>
          <a:p>
            <a:pPr algn="l"/>
            <a:r>
              <a:rPr sz="1000" b="1" i="0">
                <a:solidFill>
                  <a:srgbClr val="FFB700"/>
                </a:solidFill>
              </a:rPr>
              <a:t>Web Framework</a:t>
            </a:r>
          </a:p>
        </p:txBody>
      </p:sp>
      <p:sp>
        <p:nvSpPr>
          <p:cNvPr id="21" name="Rectangle 20"/>
          <p:cNvSpPr/>
          <p:nvPr/>
        </p:nvSpPr>
        <p:spPr>
          <a:xfrm>
            <a:off x="2011680" y="2121408"/>
            <a:ext cx="2468880" cy="3840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084832" y="2176272"/>
            <a:ext cx="2377440" cy="384048"/>
          </a:xfrm>
          <a:prstGeom prst="rect">
            <a:avLst/>
          </a:prstGeom>
          <a:noFill/>
        </p:spPr>
        <p:txBody>
          <a:bodyPr wrap="square">
            <a:spAutoFit/>
          </a:bodyPr>
          <a:lstStyle/>
          <a:p>
            <a:pPr algn="l"/>
            <a:r>
              <a:rPr sz="1000" b="0" i="0">
                <a:solidFill>
                  <a:srgbClr val="FFFFFF"/>
                </a:solidFill>
              </a:rPr>
              <a:t>Shiny for Python</a:t>
            </a:r>
          </a:p>
        </p:txBody>
      </p:sp>
      <p:sp>
        <p:nvSpPr>
          <p:cNvPr id="23" name="Rectangle 22"/>
          <p:cNvSpPr/>
          <p:nvPr/>
        </p:nvSpPr>
        <p:spPr>
          <a:xfrm>
            <a:off x="4526280" y="2121408"/>
            <a:ext cx="7680960" cy="3840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99432" y="2176272"/>
            <a:ext cx="7589520" cy="384048"/>
          </a:xfrm>
          <a:prstGeom prst="rect">
            <a:avLst/>
          </a:prstGeom>
          <a:noFill/>
        </p:spPr>
        <p:txBody>
          <a:bodyPr wrap="square">
            <a:spAutoFit/>
          </a:bodyPr>
          <a:lstStyle/>
          <a:p>
            <a:pPr algn="l"/>
            <a:r>
              <a:rPr sz="1000" b="0" i="0">
                <a:solidFill>
                  <a:srgbClr val="FFFFFF"/>
                </a:solidFill>
              </a:rPr>
              <a:t>Reactive UI · 24 pages · DataGrids · modals</a:t>
            </a:r>
          </a:p>
        </p:txBody>
      </p:sp>
      <p:sp>
        <p:nvSpPr>
          <p:cNvPr id="25" name="Rectangle 24"/>
          <p:cNvSpPr/>
          <p:nvPr/>
        </p:nvSpPr>
        <p:spPr>
          <a:xfrm>
            <a:off x="274320" y="2505456"/>
            <a:ext cx="1737360" cy="38404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47472" y="2560320"/>
            <a:ext cx="1645920" cy="384048"/>
          </a:xfrm>
          <a:prstGeom prst="rect">
            <a:avLst/>
          </a:prstGeom>
          <a:noFill/>
        </p:spPr>
        <p:txBody>
          <a:bodyPr wrap="square">
            <a:spAutoFit/>
          </a:bodyPr>
          <a:lstStyle/>
          <a:p>
            <a:pPr algn="l"/>
            <a:r>
              <a:rPr sz="1000" b="1" i="0">
                <a:solidFill>
                  <a:srgbClr val="FFB700"/>
                </a:solidFill>
              </a:rPr>
              <a:t>ORM</a:t>
            </a:r>
          </a:p>
        </p:txBody>
      </p:sp>
      <p:sp>
        <p:nvSpPr>
          <p:cNvPr id="27" name="Rectangle 26"/>
          <p:cNvSpPr/>
          <p:nvPr/>
        </p:nvSpPr>
        <p:spPr>
          <a:xfrm>
            <a:off x="2011680" y="2505456"/>
            <a:ext cx="2468880" cy="38404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084832" y="2560320"/>
            <a:ext cx="2377440" cy="384048"/>
          </a:xfrm>
          <a:prstGeom prst="rect">
            <a:avLst/>
          </a:prstGeom>
          <a:noFill/>
        </p:spPr>
        <p:txBody>
          <a:bodyPr wrap="square">
            <a:spAutoFit/>
          </a:bodyPr>
          <a:lstStyle/>
          <a:p>
            <a:pPr algn="l"/>
            <a:r>
              <a:rPr sz="1000" b="0" i="0">
                <a:solidFill>
                  <a:srgbClr val="FFFFFF"/>
                </a:solidFill>
              </a:rPr>
              <a:t>SQLAlchemy 2.0 async</a:t>
            </a:r>
          </a:p>
        </p:txBody>
      </p:sp>
      <p:sp>
        <p:nvSpPr>
          <p:cNvPr id="29" name="Rectangle 28"/>
          <p:cNvSpPr/>
          <p:nvPr/>
        </p:nvSpPr>
        <p:spPr>
          <a:xfrm>
            <a:off x="4526280" y="2505456"/>
            <a:ext cx="7680960" cy="38404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99432" y="2560320"/>
            <a:ext cx="7589520" cy="384048"/>
          </a:xfrm>
          <a:prstGeom prst="rect">
            <a:avLst/>
          </a:prstGeom>
          <a:noFill/>
        </p:spPr>
        <p:txBody>
          <a:bodyPr wrap="square">
            <a:spAutoFit/>
          </a:bodyPr>
          <a:lstStyle/>
          <a:p>
            <a:pPr algn="l"/>
            <a:r>
              <a:rPr sz="1000" b="0" i="0">
                <a:solidFill>
                  <a:srgbClr val="FFFFFF"/>
                </a:solidFill>
              </a:rPr>
              <a:t>AsyncSession · polymorphic STI · Alembic migrations</a:t>
            </a:r>
          </a:p>
        </p:txBody>
      </p:sp>
      <p:sp>
        <p:nvSpPr>
          <p:cNvPr id="31" name="Rectangle 30"/>
          <p:cNvSpPr/>
          <p:nvPr/>
        </p:nvSpPr>
        <p:spPr>
          <a:xfrm>
            <a:off x="274320" y="2889504"/>
            <a:ext cx="1737360" cy="3840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2944368"/>
            <a:ext cx="1645920" cy="384048"/>
          </a:xfrm>
          <a:prstGeom prst="rect">
            <a:avLst/>
          </a:prstGeom>
          <a:noFill/>
        </p:spPr>
        <p:txBody>
          <a:bodyPr wrap="square">
            <a:spAutoFit/>
          </a:bodyPr>
          <a:lstStyle/>
          <a:p>
            <a:pPr algn="l"/>
            <a:r>
              <a:rPr sz="1000" b="1" i="0">
                <a:solidFill>
                  <a:srgbClr val="FFB700"/>
                </a:solidFill>
              </a:rPr>
              <a:t>Database</a:t>
            </a:r>
          </a:p>
        </p:txBody>
      </p:sp>
      <p:sp>
        <p:nvSpPr>
          <p:cNvPr id="33" name="Rectangle 32"/>
          <p:cNvSpPr/>
          <p:nvPr/>
        </p:nvSpPr>
        <p:spPr>
          <a:xfrm>
            <a:off x="2011680" y="2889504"/>
            <a:ext cx="2468880" cy="3840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084832" y="2944368"/>
            <a:ext cx="2377440" cy="384048"/>
          </a:xfrm>
          <a:prstGeom prst="rect">
            <a:avLst/>
          </a:prstGeom>
          <a:noFill/>
        </p:spPr>
        <p:txBody>
          <a:bodyPr wrap="square">
            <a:spAutoFit/>
          </a:bodyPr>
          <a:lstStyle/>
          <a:p>
            <a:pPr algn="l"/>
            <a:r>
              <a:rPr sz="1000" b="0" i="0">
                <a:solidFill>
                  <a:srgbClr val="FFFFFF"/>
                </a:solidFill>
              </a:rPr>
              <a:t>PostgreSQL + asyncpg</a:t>
            </a:r>
          </a:p>
        </p:txBody>
      </p:sp>
      <p:sp>
        <p:nvSpPr>
          <p:cNvPr id="35" name="Rectangle 34"/>
          <p:cNvSpPr/>
          <p:nvPr/>
        </p:nvSpPr>
        <p:spPr>
          <a:xfrm>
            <a:off x="4526280" y="2889504"/>
            <a:ext cx="7680960" cy="3840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99432" y="2944368"/>
            <a:ext cx="7589520" cy="384048"/>
          </a:xfrm>
          <a:prstGeom prst="rect">
            <a:avLst/>
          </a:prstGeom>
          <a:noFill/>
        </p:spPr>
        <p:txBody>
          <a:bodyPr wrap="square">
            <a:spAutoFit/>
          </a:bodyPr>
          <a:lstStyle/>
          <a:p>
            <a:pPr algn="l"/>
            <a:r>
              <a:rPr sz="1000" b="0" i="0">
                <a:solidFill>
                  <a:srgbClr val="FFFFFF"/>
                </a:solidFill>
              </a:rPr>
              <a:t>Pool: size=20, max_overflow=30 · TLS in prod</a:t>
            </a:r>
          </a:p>
        </p:txBody>
      </p:sp>
      <p:sp>
        <p:nvSpPr>
          <p:cNvPr id="37" name="Rectangle 36"/>
          <p:cNvSpPr/>
          <p:nvPr/>
        </p:nvSpPr>
        <p:spPr>
          <a:xfrm>
            <a:off x="274320" y="3273552"/>
            <a:ext cx="1737360" cy="38404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47472" y="3328416"/>
            <a:ext cx="1645920" cy="384048"/>
          </a:xfrm>
          <a:prstGeom prst="rect">
            <a:avLst/>
          </a:prstGeom>
          <a:noFill/>
        </p:spPr>
        <p:txBody>
          <a:bodyPr wrap="square">
            <a:spAutoFit/>
          </a:bodyPr>
          <a:lstStyle/>
          <a:p>
            <a:pPr algn="l"/>
            <a:r>
              <a:rPr sz="1000" b="1" i="0">
                <a:solidFill>
                  <a:srgbClr val="FFB700"/>
                </a:solidFill>
              </a:rPr>
              <a:t>Charts</a:t>
            </a:r>
          </a:p>
        </p:txBody>
      </p:sp>
      <p:sp>
        <p:nvSpPr>
          <p:cNvPr id="39" name="Rectangle 38"/>
          <p:cNvSpPr/>
          <p:nvPr/>
        </p:nvSpPr>
        <p:spPr>
          <a:xfrm>
            <a:off x="2011680" y="3273552"/>
            <a:ext cx="2468880" cy="38404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084832" y="3328416"/>
            <a:ext cx="2377440" cy="384048"/>
          </a:xfrm>
          <a:prstGeom prst="rect">
            <a:avLst/>
          </a:prstGeom>
          <a:noFill/>
        </p:spPr>
        <p:txBody>
          <a:bodyPr wrap="square">
            <a:spAutoFit/>
          </a:bodyPr>
          <a:lstStyle/>
          <a:p>
            <a:pPr algn="l"/>
            <a:r>
              <a:rPr sz="1000" b="0" i="0">
                <a:solidFill>
                  <a:srgbClr val="FFFFFF"/>
                </a:solidFill>
              </a:rPr>
              <a:t>Plotly</a:t>
            </a:r>
          </a:p>
        </p:txBody>
      </p:sp>
      <p:sp>
        <p:nvSpPr>
          <p:cNvPr id="41" name="Rectangle 40"/>
          <p:cNvSpPr/>
          <p:nvPr/>
        </p:nvSpPr>
        <p:spPr>
          <a:xfrm>
            <a:off x="4526280" y="3273552"/>
            <a:ext cx="7680960" cy="38404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599432" y="3328416"/>
            <a:ext cx="7589520" cy="384048"/>
          </a:xfrm>
          <a:prstGeom prst="rect">
            <a:avLst/>
          </a:prstGeom>
          <a:noFill/>
        </p:spPr>
        <p:txBody>
          <a:bodyPr wrap="square">
            <a:spAutoFit/>
          </a:bodyPr>
          <a:lstStyle/>
          <a:p>
            <a:pPr algn="l"/>
            <a:r>
              <a:rPr sz="1000" b="0" i="0">
                <a:solidFill>
                  <a:srgbClr val="FFFFFF"/>
                </a:solidFill>
              </a:rPr>
              <a:t>Interactive dashboards · auto-resize on tab switch</a:t>
            </a:r>
          </a:p>
        </p:txBody>
      </p:sp>
      <p:sp>
        <p:nvSpPr>
          <p:cNvPr id="43" name="Rectangle 42"/>
          <p:cNvSpPr/>
          <p:nvPr/>
        </p:nvSpPr>
        <p:spPr>
          <a:xfrm>
            <a:off x="274320" y="3657600"/>
            <a:ext cx="1737360" cy="3840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47472" y="3712464"/>
            <a:ext cx="1645920" cy="384048"/>
          </a:xfrm>
          <a:prstGeom prst="rect">
            <a:avLst/>
          </a:prstGeom>
          <a:noFill/>
        </p:spPr>
        <p:txBody>
          <a:bodyPr wrap="square">
            <a:spAutoFit/>
          </a:bodyPr>
          <a:lstStyle/>
          <a:p>
            <a:pPr algn="l"/>
            <a:r>
              <a:rPr sz="1000" b="1" i="0">
                <a:solidFill>
                  <a:srgbClr val="FFB700"/>
                </a:solidFill>
              </a:rPr>
              <a:t>DI</a:t>
            </a:r>
          </a:p>
        </p:txBody>
      </p:sp>
      <p:sp>
        <p:nvSpPr>
          <p:cNvPr id="45" name="Rectangle 44"/>
          <p:cNvSpPr/>
          <p:nvPr/>
        </p:nvSpPr>
        <p:spPr>
          <a:xfrm>
            <a:off x="2011680" y="3657600"/>
            <a:ext cx="2468880" cy="3840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084832" y="3712464"/>
            <a:ext cx="2377440" cy="384048"/>
          </a:xfrm>
          <a:prstGeom prst="rect">
            <a:avLst/>
          </a:prstGeom>
          <a:noFill/>
        </p:spPr>
        <p:txBody>
          <a:bodyPr wrap="square">
            <a:spAutoFit/>
          </a:bodyPr>
          <a:lstStyle/>
          <a:p>
            <a:pPr algn="l"/>
            <a:r>
              <a:rPr sz="1000" b="0" i="0">
                <a:solidFill>
                  <a:srgbClr val="FFFFFF"/>
                </a:solidFill>
              </a:rPr>
              <a:t>dependency-injector</a:t>
            </a:r>
          </a:p>
        </p:txBody>
      </p:sp>
      <p:sp>
        <p:nvSpPr>
          <p:cNvPr id="47" name="Rectangle 46"/>
          <p:cNvSpPr/>
          <p:nvPr/>
        </p:nvSpPr>
        <p:spPr>
          <a:xfrm>
            <a:off x="4526280" y="3657600"/>
            <a:ext cx="7680960" cy="3840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599432" y="3712464"/>
            <a:ext cx="7589520" cy="384048"/>
          </a:xfrm>
          <a:prstGeom prst="rect">
            <a:avLst/>
          </a:prstGeom>
          <a:noFill/>
        </p:spPr>
        <p:txBody>
          <a:bodyPr wrap="square">
            <a:spAutoFit/>
          </a:bodyPr>
          <a:lstStyle/>
          <a:p>
            <a:pPr algn="l"/>
            <a:r>
              <a:rPr sz="1000" b="0" i="0">
                <a:solidFill>
                  <a:srgbClr val="FFFFFF"/>
                </a:solidFill>
              </a:rPr>
              <a:t>DeclarativeContainer · 40+ wired singletons</a:t>
            </a:r>
          </a:p>
        </p:txBody>
      </p:sp>
      <p:sp>
        <p:nvSpPr>
          <p:cNvPr id="49" name="Rectangle 48"/>
          <p:cNvSpPr/>
          <p:nvPr/>
        </p:nvSpPr>
        <p:spPr>
          <a:xfrm>
            <a:off x="274320" y="4041648"/>
            <a:ext cx="1737360" cy="38404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4096512"/>
            <a:ext cx="1645920" cy="384048"/>
          </a:xfrm>
          <a:prstGeom prst="rect">
            <a:avLst/>
          </a:prstGeom>
          <a:noFill/>
        </p:spPr>
        <p:txBody>
          <a:bodyPr wrap="square">
            <a:spAutoFit/>
          </a:bodyPr>
          <a:lstStyle/>
          <a:p>
            <a:pPr algn="l"/>
            <a:r>
              <a:rPr sz="1000" b="1" i="0">
                <a:solidFill>
                  <a:srgbClr val="FFB700"/>
                </a:solidFill>
              </a:rPr>
              <a:t>Security</a:t>
            </a:r>
          </a:p>
        </p:txBody>
      </p:sp>
      <p:sp>
        <p:nvSpPr>
          <p:cNvPr id="51" name="Rectangle 50"/>
          <p:cNvSpPr/>
          <p:nvPr/>
        </p:nvSpPr>
        <p:spPr>
          <a:xfrm>
            <a:off x="2011680" y="4041648"/>
            <a:ext cx="2468880" cy="38404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084832" y="4096512"/>
            <a:ext cx="2377440" cy="384048"/>
          </a:xfrm>
          <a:prstGeom prst="rect">
            <a:avLst/>
          </a:prstGeom>
          <a:noFill/>
        </p:spPr>
        <p:txBody>
          <a:bodyPr wrap="square">
            <a:spAutoFit/>
          </a:bodyPr>
          <a:lstStyle/>
          <a:p>
            <a:pPr algn="l"/>
            <a:r>
              <a:rPr sz="1000" b="0" i="0">
                <a:solidFill>
                  <a:srgbClr val="FFFFFF"/>
                </a:solidFill>
              </a:rPr>
              <a:t>Argon2id</a:t>
            </a:r>
          </a:p>
        </p:txBody>
      </p:sp>
      <p:sp>
        <p:nvSpPr>
          <p:cNvPr id="53" name="Rectangle 52"/>
          <p:cNvSpPr/>
          <p:nvPr/>
        </p:nvSpPr>
        <p:spPr>
          <a:xfrm>
            <a:off x="4526280" y="4041648"/>
            <a:ext cx="7680960" cy="38404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599432" y="4096512"/>
            <a:ext cx="7589520" cy="384048"/>
          </a:xfrm>
          <a:prstGeom prst="rect">
            <a:avLst/>
          </a:prstGeom>
          <a:noFill/>
        </p:spPr>
        <p:txBody>
          <a:bodyPr wrap="square">
            <a:spAutoFit/>
          </a:bodyPr>
          <a:lstStyle/>
          <a:p>
            <a:pPr algn="l"/>
            <a:r>
              <a:rPr sz="1000" b="0" i="0">
                <a:solidFill>
                  <a:srgbClr val="FFFFFF"/>
                </a:solidFill>
              </a:rPr>
              <a:t>Memory-hard hashing · 10-min session timeout · RBAC</a:t>
            </a:r>
          </a:p>
        </p:txBody>
      </p:sp>
      <p:sp>
        <p:nvSpPr>
          <p:cNvPr id="55" name="Rectangle 54"/>
          <p:cNvSpPr/>
          <p:nvPr/>
        </p:nvSpPr>
        <p:spPr>
          <a:xfrm>
            <a:off x="274320" y="4425696"/>
            <a:ext cx="1737360" cy="3840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47472" y="4480560"/>
            <a:ext cx="1645920" cy="384048"/>
          </a:xfrm>
          <a:prstGeom prst="rect">
            <a:avLst/>
          </a:prstGeom>
          <a:noFill/>
        </p:spPr>
        <p:txBody>
          <a:bodyPr wrap="square">
            <a:spAutoFit/>
          </a:bodyPr>
          <a:lstStyle/>
          <a:p>
            <a:pPr algn="l"/>
            <a:r>
              <a:rPr sz="1000" b="1" i="0">
                <a:solidFill>
                  <a:srgbClr val="FFB700"/>
                </a:solidFill>
              </a:rPr>
              <a:t>Field App</a:t>
            </a:r>
          </a:p>
        </p:txBody>
      </p:sp>
      <p:sp>
        <p:nvSpPr>
          <p:cNvPr id="57" name="Rectangle 56"/>
          <p:cNvSpPr/>
          <p:nvPr/>
        </p:nvSpPr>
        <p:spPr>
          <a:xfrm>
            <a:off x="2011680" y="4425696"/>
            <a:ext cx="2468880" cy="3840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084832" y="4480560"/>
            <a:ext cx="2377440" cy="384048"/>
          </a:xfrm>
          <a:prstGeom prst="rect">
            <a:avLst/>
          </a:prstGeom>
          <a:noFill/>
        </p:spPr>
        <p:txBody>
          <a:bodyPr wrap="square">
            <a:spAutoFit/>
          </a:bodyPr>
          <a:lstStyle/>
          <a:p>
            <a:pPr algn="l"/>
            <a:r>
              <a:rPr sz="1000" b="0" i="0">
                <a:solidFill>
                  <a:srgbClr val="FFFFFF"/>
                </a:solidFill>
              </a:rPr>
              <a:t>Flet</a:t>
            </a:r>
          </a:p>
        </p:txBody>
      </p:sp>
      <p:sp>
        <p:nvSpPr>
          <p:cNvPr id="59" name="Rectangle 58"/>
          <p:cNvSpPr/>
          <p:nvPr/>
        </p:nvSpPr>
        <p:spPr>
          <a:xfrm>
            <a:off x="4526280" y="4425696"/>
            <a:ext cx="7680960" cy="3840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599432" y="4480560"/>
            <a:ext cx="7589520" cy="384048"/>
          </a:xfrm>
          <a:prstGeom prst="rect">
            <a:avLst/>
          </a:prstGeom>
          <a:noFill/>
        </p:spPr>
        <p:txBody>
          <a:bodyPr wrap="square">
            <a:spAutoFit/>
          </a:bodyPr>
          <a:lstStyle/>
          <a:p>
            <a:pPr algn="l"/>
            <a:r>
              <a:rPr sz="1000" b="0" i="0">
                <a:solidFill>
                  <a:srgbClr val="FFFFFF"/>
                </a:solidFill>
              </a:rPr>
              <a:t>Mobile/desktop cross-country timer app</a:t>
            </a:r>
          </a:p>
        </p:txBody>
      </p:sp>
      <p:sp>
        <p:nvSpPr>
          <p:cNvPr id="61" name="Rectangle 60"/>
          <p:cNvSpPr/>
          <p:nvPr/>
        </p:nvSpPr>
        <p:spPr>
          <a:xfrm>
            <a:off x="274320" y="4809744"/>
            <a:ext cx="1737360" cy="38404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347472" y="4864608"/>
            <a:ext cx="1645920" cy="384048"/>
          </a:xfrm>
          <a:prstGeom prst="rect">
            <a:avLst/>
          </a:prstGeom>
          <a:noFill/>
        </p:spPr>
        <p:txBody>
          <a:bodyPr wrap="square">
            <a:spAutoFit/>
          </a:bodyPr>
          <a:lstStyle/>
          <a:p>
            <a:pPr algn="l"/>
            <a:r>
              <a:rPr sz="1000" b="1" i="0">
                <a:solidFill>
                  <a:srgbClr val="FFB700"/>
                </a:solidFill>
              </a:rPr>
              <a:t>API</a:t>
            </a:r>
          </a:p>
        </p:txBody>
      </p:sp>
      <p:sp>
        <p:nvSpPr>
          <p:cNvPr id="63" name="Rectangle 62"/>
          <p:cNvSpPr/>
          <p:nvPr/>
        </p:nvSpPr>
        <p:spPr>
          <a:xfrm>
            <a:off x="2011680" y="4809744"/>
            <a:ext cx="2468880" cy="38404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2084832" y="4864608"/>
            <a:ext cx="2377440" cy="384048"/>
          </a:xfrm>
          <a:prstGeom prst="rect">
            <a:avLst/>
          </a:prstGeom>
          <a:noFill/>
        </p:spPr>
        <p:txBody>
          <a:bodyPr wrap="square">
            <a:spAutoFit/>
          </a:bodyPr>
          <a:lstStyle/>
          <a:p>
            <a:pPr algn="l"/>
            <a:r>
              <a:rPr sz="1000" b="0" i="0">
                <a:solidFill>
                  <a:srgbClr val="FFFFFF"/>
                </a:solidFill>
              </a:rPr>
              <a:t>FastAPI</a:t>
            </a:r>
          </a:p>
        </p:txBody>
      </p:sp>
      <p:sp>
        <p:nvSpPr>
          <p:cNvPr id="65" name="Rectangle 64"/>
          <p:cNvSpPr/>
          <p:nvPr/>
        </p:nvSpPr>
        <p:spPr>
          <a:xfrm>
            <a:off x="4526280" y="4809744"/>
            <a:ext cx="7680960" cy="38404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599432" y="4864608"/>
            <a:ext cx="7589520" cy="384048"/>
          </a:xfrm>
          <a:prstGeom prst="rect">
            <a:avLst/>
          </a:prstGeom>
          <a:noFill/>
        </p:spPr>
        <p:txBody>
          <a:bodyPr wrap="square">
            <a:spAutoFit/>
          </a:bodyPr>
          <a:lstStyle/>
          <a:p>
            <a:pPr algn="l"/>
            <a:r>
              <a:rPr sz="1000" b="0" i="0">
                <a:solidFill>
                  <a:srgbClr val="FFFFFF"/>
                </a:solidFill>
              </a:rPr>
              <a:t>REST backend for Flet · JWT auth · Uvicorn</a:t>
            </a:r>
          </a:p>
        </p:txBody>
      </p:sp>
      <p:sp>
        <p:nvSpPr>
          <p:cNvPr id="67" name="Rectangle 66"/>
          <p:cNvSpPr/>
          <p:nvPr/>
        </p:nvSpPr>
        <p:spPr>
          <a:xfrm>
            <a:off x="274320" y="5193792"/>
            <a:ext cx="1737360" cy="3840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47472" y="5248656"/>
            <a:ext cx="1645920" cy="384048"/>
          </a:xfrm>
          <a:prstGeom prst="rect">
            <a:avLst/>
          </a:prstGeom>
          <a:noFill/>
        </p:spPr>
        <p:txBody>
          <a:bodyPr wrap="square">
            <a:spAutoFit/>
          </a:bodyPr>
          <a:lstStyle/>
          <a:p>
            <a:pPr algn="l"/>
            <a:r>
              <a:rPr sz="1000" b="1" i="0">
                <a:solidFill>
                  <a:srgbClr val="FFB700"/>
                </a:solidFill>
              </a:rPr>
              <a:t>Dev Tools</a:t>
            </a:r>
          </a:p>
        </p:txBody>
      </p:sp>
      <p:sp>
        <p:nvSpPr>
          <p:cNvPr id="69" name="Rectangle 68"/>
          <p:cNvSpPr/>
          <p:nvPr/>
        </p:nvSpPr>
        <p:spPr>
          <a:xfrm>
            <a:off x="2011680" y="5193792"/>
            <a:ext cx="2468880" cy="3840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2084832" y="5248656"/>
            <a:ext cx="2377440" cy="384048"/>
          </a:xfrm>
          <a:prstGeom prst="rect">
            <a:avLst/>
          </a:prstGeom>
          <a:noFill/>
        </p:spPr>
        <p:txBody>
          <a:bodyPr wrap="square">
            <a:spAutoFit/>
          </a:bodyPr>
          <a:lstStyle/>
          <a:p>
            <a:pPr algn="l"/>
            <a:r>
              <a:rPr sz="1000" b="0" i="0">
                <a:solidFill>
                  <a:srgbClr val="FFFFFF"/>
                </a:solidFill>
              </a:rPr>
              <a:t>Mailpit + HR Simulator</a:t>
            </a:r>
          </a:p>
        </p:txBody>
      </p:sp>
      <p:sp>
        <p:nvSpPr>
          <p:cNvPr id="71" name="Rectangle 70"/>
          <p:cNvSpPr/>
          <p:nvPr/>
        </p:nvSpPr>
        <p:spPr>
          <a:xfrm>
            <a:off x="4526280" y="5193792"/>
            <a:ext cx="7680960" cy="3840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599432" y="5248656"/>
            <a:ext cx="7589520" cy="384048"/>
          </a:xfrm>
          <a:prstGeom prst="rect">
            <a:avLst/>
          </a:prstGeom>
          <a:noFill/>
        </p:spPr>
        <p:txBody>
          <a:bodyPr wrap="square">
            <a:spAutoFit/>
          </a:bodyPr>
          <a:lstStyle/>
          <a:p>
            <a:pPr algn="l"/>
            <a:r>
              <a:rPr sz="1000" b="0" i="0">
                <a:solidFill>
                  <a:srgbClr val="FFFFFF"/>
                </a:solidFill>
              </a:rPr>
              <a:t>SMTP trap + BEMIL API stub for local testing</a:t>
            </a:r>
          </a:p>
        </p:txBody>
      </p:sp>
      <p:sp>
        <p:nvSpPr>
          <p:cNvPr id="73" name="Rectangle 72"/>
          <p:cNvSpPr/>
          <p:nvPr/>
        </p:nvSpPr>
        <p:spPr>
          <a:xfrm>
            <a:off x="274320" y="5577840"/>
            <a:ext cx="1737360" cy="38404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347472" y="5632704"/>
            <a:ext cx="1645920" cy="384048"/>
          </a:xfrm>
          <a:prstGeom prst="rect">
            <a:avLst/>
          </a:prstGeom>
          <a:noFill/>
        </p:spPr>
        <p:txBody>
          <a:bodyPr wrap="square">
            <a:spAutoFit/>
          </a:bodyPr>
          <a:lstStyle/>
          <a:p>
            <a:pPr algn="l"/>
            <a:r>
              <a:rPr sz="1000" b="1" i="0">
                <a:solidFill>
                  <a:srgbClr val="FFB700"/>
                </a:solidFill>
              </a:rPr>
              <a:t>CI/CD</a:t>
            </a:r>
          </a:p>
        </p:txBody>
      </p:sp>
      <p:sp>
        <p:nvSpPr>
          <p:cNvPr id="75" name="Rectangle 74"/>
          <p:cNvSpPr/>
          <p:nvPr/>
        </p:nvSpPr>
        <p:spPr>
          <a:xfrm>
            <a:off x="2011680" y="5577840"/>
            <a:ext cx="2468880" cy="38404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2084832" y="5632704"/>
            <a:ext cx="2377440" cy="384048"/>
          </a:xfrm>
          <a:prstGeom prst="rect">
            <a:avLst/>
          </a:prstGeom>
          <a:noFill/>
        </p:spPr>
        <p:txBody>
          <a:bodyPr wrap="square">
            <a:spAutoFit/>
          </a:bodyPr>
          <a:lstStyle/>
          <a:p>
            <a:pPr algn="l"/>
            <a:r>
              <a:rPr sz="1000" b="0" i="0">
                <a:solidFill>
                  <a:srgbClr val="FFFFFF"/>
                </a:solidFill>
              </a:rPr>
              <a:t>GitHub Actions + Docker</a:t>
            </a:r>
          </a:p>
        </p:txBody>
      </p:sp>
      <p:sp>
        <p:nvSpPr>
          <p:cNvPr id="77" name="Rectangle 76"/>
          <p:cNvSpPr/>
          <p:nvPr/>
        </p:nvSpPr>
        <p:spPr>
          <a:xfrm>
            <a:off x="4526280" y="5577840"/>
            <a:ext cx="7680960" cy="38404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4599432" y="5632704"/>
            <a:ext cx="7589520" cy="384048"/>
          </a:xfrm>
          <a:prstGeom prst="rect">
            <a:avLst/>
          </a:prstGeom>
          <a:noFill/>
        </p:spPr>
        <p:txBody>
          <a:bodyPr wrap="square">
            <a:spAutoFit/>
          </a:bodyPr>
          <a:lstStyle/>
          <a:p>
            <a:pPr algn="l"/>
            <a:r>
              <a:rPr sz="1000" b="0" i="0">
                <a:solidFill>
                  <a:srgbClr val="FFFFFF"/>
                </a:solidFill>
              </a:rPr>
              <a:t>Ruff · black · mypy · Docker image · Nginx HTTPS</a:t>
            </a:r>
          </a:p>
        </p:txBody>
      </p:sp>
      <p:sp>
        <p:nvSpPr>
          <p:cNvPr id="83" name="TextBox 82"/>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84" name="Rounded Rectangle 83"/>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16 / 20</a:t>
            </a:r>
          </a:p>
        </p:txBody>
      </p:sp>
      <p:sp>
        <p:nvSpPr>
          <p:cNvPr id="85" name="Rectangle 84"/>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8016"/>
            <a:ext cx="10972800" cy="822960"/>
          </a:xfrm>
          <a:prstGeom prst="rect">
            <a:avLst/>
          </a:prstGeom>
          <a:noFill/>
        </p:spPr>
        <p:txBody>
          <a:bodyPr wrap="square">
            <a:spAutoFit/>
          </a:bodyPr>
          <a:lstStyle/>
          <a:p>
            <a:pPr algn="l"/>
            <a:r>
              <a:rPr sz="3000" b="1" i="0">
                <a:solidFill>
                  <a:srgbClr val="FFB700"/>
                </a:solidFill>
              </a:rPr>
              <a:t>Development Journey</a:t>
            </a:r>
          </a:p>
        </p:txBody>
      </p:sp>
      <p:sp>
        <p:nvSpPr>
          <p:cNvPr id="6" name="TextBox 5"/>
          <p:cNvSpPr txBox="1"/>
          <p:nvPr/>
        </p:nvSpPr>
        <p:spPr>
          <a:xfrm>
            <a:off x="457200" y="841248"/>
            <a:ext cx="10972800" cy="411480"/>
          </a:xfrm>
          <a:prstGeom prst="rect">
            <a:avLst/>
          </a:prstGeom>
          <a:noFill/>
        </p:spPr>
        <p:txBody>
          <a:bodyPr wrap="square">
            <a:spAutoFit/>
          </a:bodyPr>
          <a:lstStyle/>
          <a:p>
            <a:pPr algn="l"/>
            <a:r>
              <a:rPr sz="1300" b="0" i="1">
                <a:solidFill>
                  <a:srgbClr val="F0F4FF"/>
                </a:solidFill>
              </a:rPr>
              <a:t>Agile — 4 phases, continuous delivery, 946 commits</a:t>
            </a:r>
          </a:p>
        </p:txBody>
      </p:sp>
      <p:sp>
        <p:nvSpPr>
          <p:cNvPr id="7" name="Rectangle 6"/>
          <p:cNvSpPr/>
          <p:nvPr/>
        </p:nvSpPr>
        <p:spPr>
          <a:xfrm>
            <a:off x="274320" y="1325880"/>
            <a:ext cx="2148840" cy="59436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417320"/>
            <a:ext cx="2011680" cy="594360"/>
          </a:xfrm>
          <a:prstGeom prst="rect">
            <a:avLst/>
          </a:prstGeom>
          <a:noFill/>
        </p:spPr>
        <p:txBody>
          <a:bodyPr wrap="square">
            <a:spAutoFit/>
          </a:bodyPr>
          <a:lstStyle/>
          <a:p>
            <a:pPr algn="l"/>
            <a:r>
              <a:rPr sz="1050" b="1" i="0">
                <a:solidFill>
                  <a:srgbClr val="FFB700"/>
                </a:solidFill>
              </a:rPr>
              <a:t>Sep–Oct 2025</a:t>
            </a:r>
          </a:p>
        </p:txBody>
      </p:sp>
      <p:sp>
        <p:nvSpPr>
          <p:cNvPr id="9" name="Rectangle 8"/>
          <p:cNvSpPr/>
          <p:nvPr/>
        </p:nvSpPr>
        <p:spPr>
          <a:xfrm>
            <a:off x="2468880" y="1325880"/>
            <a:ext cx="2514600" cy="594360"/>
          </a:xfrm>
          <a:prstGeom prst="rect">
            <a:avLst/>
          </a:prstGeom>
          <a:solidFill>
            <a:srgbClr val="1422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42032" y="1417320"/>
            <a:ext cx="2423160" cy="594360"/>
          </a:xfrm>
          <a:prstGeom prst="rect">
            <a:avLst/>
          </a:prstGeom>
          <a:noFill/>
        </p:spPr>
        <p:txBody>
          <a:bodyPr wrap="square">
            <a:spAutoFit/>
          </a:bodyPr>
          <a:lstStyle/>
          <a:p>
            <a:pPr algn="l"/>
            <a:r>
              <a:rPr sz="1100" b="1" i="0">
                <a:solidFill>
                  <a:srgbClr val="FFFFFF"/>
                </a:solidFill>
              </a:rPr>
              <a:t>Phase 1: Prototype</a:t>
            </a:r>
          </a:p>
        </p:txBody>
      </p:sp>
      <p:sp>
        <p:nvSpPr>
          <p:cNvPr id="11" name="Rectangle 10"/>
          <p:cNvSpPr/>
          <p:nvPr/>
        </p:nvSpPr>
        <p:spPr>
          <a:xfrm>
            <a:off x="5029200" y="1325880"/>
            <a:ext cx="7040880" cy="5943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120640" y="1417320"/>
            <a:ext cx="6949440" cy="594360"/>
          </a:xfrm>
          <a:prstGeom prst="rect">
            <a:avLst/>
          </a:prstGeom>
          <a:noFill/>
        </p:spPr>
        <p:txBody>
          <a:bodyPr wrap="square">
            <a:spAutoFit/>
          </a:bodyPr>
          <a:lstStyle/>
          <a:p>
            <a:pPr algn="l"/>
            <a:r>
              <a:rPr sz="1100" b="0" i="0">
                <a:solidFill>
                  <a:srgbClr val="FFFFFF"/>
                </a:solidFill>
              </a:rPr>
              <a:t>Flat structure · god-class DBService · monolithic pages · first test types</a:t>
            </a:r>
          </a:p>
        </p:txBody>
      </p:sp>
      <p:sp>
        <p:nvSpPr>
          <p:cNvPr id="13" name="Rectangle 12"/>
          <p:cNvSpPr/>
          <p:nvPr/>
        </p:nvSpPr>
        <p:spPr>
          <a:xfrm>
            <a:off x="274320" y="2093976"/>
            <a:ext cx="2148840" cy="59436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2185416"/>
            <a:ext cx="2011680" cy="594360"/>
          </a:xfrm>
          <a:prstGeom prst="rect">
            <a:avLst/>
          </a:prstGeom>
          <a:noFill/>
        </p:spPr>
        <p:txBody>
          <a:bodyPr wrap="square">
            <a:spAutoFit/>
          </a:bodyPr>
          <a:lstStyle/>
          <a:p>
            <a:pPr algn="l"/>
            <a:r>
              <a:rPr sz="1050" b="1" i="0">
                <a:solidFill>
                  <a:srgbClr val="FFB700"/>
                </a:solidFill>
              </a:rPr>
              <a:t>Oct–Dec 2025</a:t>
            </a:r>
          </a:p>
        </p:txBody>
      </p:sp>
      <p:sp>
        <p:nvSpPr>
          <p:cNvPr id="15" name="Rectangle 14"/>
          <p:cNvSpPr/>
          <p:nvPr/>
        </p:nvSpPr>
        <p:spPr>
          <a:xfrm>
            <a:off x="2468880" y="2093976"/>
            <a:ext cx="2514600" cy="594360"/>
          </a:xfrm>
          <a:prstGeom prst="rect">
            <a:avLst/>
          </a:prstGeom>
          <a:solidFill>
            <a:srgbClr val="1422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42032" y="2185416"/>
            <a:ext cx="2423160" cy="594360"/>
          </a:xfrm>
          <a:prstGeom prst="rect">
            <a:avLst/>
          </a:prstGeom>
          <a:noFill/>
        </p:spPr>
        <p:txBody>
          <a:bodyPr wrap="square">
            <a:spAutoFit/>
          </a:bodyPr>
          <a:lstStyle/>
          <a:p>
            <a:pPr algn="l"/>
            <a:r>
              <a:rPr sz="1100" b="1" i="0">
                <a:solidFill>
                  <a:srgbClr val="FFFFFF"/>
                </a:solidFill>
              </a:rPr>
              <a:t>Phase 2: Feature Growth</a:t>
            </a:r>
          </a:p>
        </p:txBody>
      </p:sp>
      <p:sp>
        <p:nvSpPr>
          <p:cNvPr id="17" name="Rectangle 16"/>
          <p:cNvSpPr/>
          <p:nvPr/>
        </p:nvSpPr>
        <p:spPr>
          <a:xfrm>
            <a:off x="5029200" y="2093976"/>
            <a:ext cx="7040880" cy="5943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120640" y="2185416"/>
            <a:ext cx="6949440" cy="594360"/>
          </a:xfrm>
          <a:prstGeom prst="rect">
            <a:avLst/>
          </a:prstGeom>
          <a:noFill/>
        </p:spPr>
        <p:txBody>
          <a:bodyPr wrap="square">
            <a:spAutoFit/>
          </a:bodyPr>
          <a:lstStyle/>
          <a:p>
            <a:pPr algn="l"/>
            <a:r>
              <a:rPr sz="1100" b="0" i="0">
                <a:solidFill>
                  <a:srgbClr val="FFFFFF"/>
                </a:solidFill>
              </a:rPr>
              <a:t>Business logic extraction · RBAC · calculators · config management · March/Cross</a:t>
            </a:r>
          </a:p>
        </p:txBody>
      </p:sp>
      <p:sp>
        <p:nvSpPr>
          <p:cNvPr id="19" name="Rectangle 18"/>
          <p:cNvSpPr/>
          <p:nvPr/>
        </p:nvSpPr>
        <p:spPr>
          <a:xfrm>
            <a:off x="274320" y="2862072"/>
            <a:ext cx="2148840" cy="59436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7472" y="2953512"/>
            <a:ext cx="2011680" cy="594360"/>
          </a:xfrm>
          <a:prstGeom prst="rect">
            <a:avLst/>
          </a:prstGeom>
          <a:noFill/>
        </p:spPr>
        <p:txBody>
          <a:bodyPr wrap="square">
            <a:spAutoFit/>
          </a:bodyPr>
          <a:lstStyle/>
          <a:p>
            <a:pPr algn="l"/>
            <a:r>
              <a:rPr sz="1050" b="1" i="0">
                <a:solidFill>
                  <a:srgbClr val="FFB700"/>
                </a:solidFill>
              </a:rPr>
              <a:t>Dec 2025–Feb 2026</a:t>
            </a:r>
          </a:p>
        </p:txBody>
      </p:sp>
      <p:sp>
        <p:nvSpPr>
          <p:cNvPr id="21" name="Rectangle 20"/>
          <p:cNvSpPr/>
          <p:nvPr/>
        </p:nvSpPr>
        <p:spPr>
          <a:xfrm>
            <a:off x="2468880" y="2862072"/>
            <a:ext cx="2514600" cy="594360"/>
          </a:xfrm>
          <a:prstGeom prst="rect">
            <a:avLst/>
          </a:prstGeom>
          <a:solidFill>
            <a:srgbClr val="1422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542032" y="2953512"/>
            <a:ext cx="2423160" cy="594360"/>
          </a:xfrm>
          <a:prstGeom prst="rect">
            <a:avLst/>
          </a:prstGeom>
          <a:noFill/>
        </p:spPr>
        <p:txBody>
          <a:bodyPr wrap="square">
            <a:spAutoFit/>
          </a:bodyPr>
          <a:lstStyle/>
          <a:p>
            <a:pPr algn="l"/>
            <a:r>
              <a:rPr sz="1100" b="1" i="0">
                <a:solidFill>
                  <a:srgbClr val="FFFFFF"/>
                </a:solidFill>
              </a:rPr>
              <a:t>Phase 3: Architecture</a:t>
            </a:r>
          </a:p>
        </p:txBody>
      </p:sp>
      <p:sp>
        <p:nvSpPr>
          <p:cNvPr id="23" name="Rectangle 22"/>
          <p:cNvSpPr/>
          <p:nvPr/>
        </p:nvSpPr>
        <p:spPr>
          <a:xfrm>
            <a:off x="5029200" y="2862072"/>
            <a:ext cx="7040880" cy="5943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20640" y="2953512"/>
            <a:ext cx="6949440" cy="594360"/>
          </a:xfrm>
          <a:prstGeom prst="rect">
            <a:avLst/>
          </a:prstGeom>
          <a:noFill/>
        </p:spPr>
        <p:txBody>
          <a:bodyPr wrap="square">
            <a:spAutoFit/>
          </a:bodyPr>
          <a:lstStyle/>
          <a:p>
            <a:pPr algn="l"/>
            <a:r>
              <a:rPr sz="1100" b="0" i="0">
                <a:solidFill>
                  <a:srgbClr val="FFFFFF"/>
                </a:solidFill>
              </a:rPr>
              <a:t>DI container · layered design · async sessions · audit logging · Flet cross app</a:t>
            </a:r>
          </a:p>
        </p:txBody>
      </p:sp>
      <p:sp>
        <p:nvSpPr>
          <p:cNvPr id="25" name="Rectangle 24"/>
          <p:cNvSpPr/>
          <p:nvPr/>
        </p:nvSpPr>
        <p:spPr>
          <a:xfrm>
            <a:off x="274320" y="3630168"/>
            <a:ext cx="2148840" cy="59436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47472" y="3721608"/>
            <a:ext cx="2011680" cy="594360"/>
          </a:xfrm>
          <a:prstGeom prst="rect">
            <a:avLst/>
          </a:prstGeom>
          <a:noFill/>
        </p:spPr>
        <p:txBody>
          <a:bodyPr wrap="square">
            <a:spAutoFit/>
          </a:bodyPr>
          <a:lstStyle/>
          <a:p>
            <a:pPr algn="l"/>
            <a:r>
              <a:rPr sz="1050" b="1" i="0">
                <a:solidFill>
                  <a:srgbClr val="FFB700"/>
                </a:solidFill>
              </a:rPr>
              <a:t>Feb–May 2026</a:t>
            </a:r>
          </a:p>
        </p:txBody>
      </p:sp>
      <p:sp>
        <p:nvSpPr>
          <p:cNvPr id="27" name="Rectangle 26"/>
          <p:cNvSpPr/>
          <p:nvPr/>
        </p:nvSpPr>
        <p:spPr>
          <a:xfrm>
            <a:off x="2468880" y="3630168"/>
            <a:ext cx="2514600" cy="594360"/>
          </a:xfrm>
          <a:prstGeom prst="rect">
            <a:avLst/>
          </a:prstGeom>
          <a:solidFill>
            <a:srgbClr val="1422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542032" y="3721608"/>
            <a:ext cx="2423160" cy="594360"/>
          </a:xfrm>
          <a:prstGeom prst="rect">
            <a:avLst/>
          </a:prstGeom>
          <a:noFill/>
        </p:spPr>
        <p:txBody>
          <a:bodyPr wrap="square">
            <a:spAutoFit/>
          </a:bodyPr>
          <a:lstStyle/>
          <a:p>
            <a:pPr algn="l"/>
            <a:r>
              <a:rPr sz="1100" b="1" i="0">
                <a:solidFill>
                  <a:srgbClr val="FFFFFF"/>
                </a:solidFill>
              </a:rPr>
              <a:t>Phase 4: Hardening</a:t>
            </a:r>
          </a:p>
        </p:txBody>
      </p:sp>
      <p:sp>
        <p:nvSpPr>
          <p:cNvPr id="29" name="Rectangle 28"/>
          <p:cNvSpPr/>
          <p:nvPr/>
        </p:nvSpPr>
        <p:spPr>
          <a:xfrm>
            <a:off x="5029200" y="3630168"/>
            <a:ext cx="7040880" cy="5943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120640" y="3721608"/>
            <a:ext cx="6949440" cy="594360"/>
          </a:xfrm>
          <a:prstGeom prst="rect">
            <a:avLst/>
          </a:prstGeom>
          <a:noFill/>
        </p:spPr>
        <p:txBody>
          <a:bodyPr wrap="square">
            <a:spAutoFit/>
          </a:bodyPr>
          <a:lstStyle/>
          <a:p>
            <a:pPr algn="l"/>
            <a:r>
              <a:rPr sz="1100" b="0" i="0">
                <a:solidFill>
                  <a:srgbClr val="FFFFFF"/>
                </a:solidFill>
              </a:rPr>
              <a:t>CI/CD · Docker · mypy strict · GDPR · security · HR simulator · Mailpit</a:t>
            </a:r>
          </a:p>
        </p:txBody>
      </p:sp>
      <p:sp>
        <p:nvSpPr>
          <p:cNvPr id="31" name="Rectangle 30"/>
          <p:cNvSpPr/>
          <p:nvPr/>
        </p:nvSpPr>
        <p:spPr>
          <a:xfrm>
            <a:off x="274320" y="5257800"/>
            <a:ext cx="1783080" cy="502920"/>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20040" y="5330952"/>
            <a:ext cx="1709928" cy="502920"/>
          </a:xfrm>
          <a:prstGeom prst="rect">
            <a:avLst/>
          </a:prstGeom>
          <a:noFill/>
        </p:spPr>
        <p:txBody>
          <a:bodyPr wrap="square">
            <a:spAutoFit/>
          </a:bodyPr>
          <a:lstStyle/>
          <a:p>
            <a:pPr algn="ctr"/>
            <a:r>
              <a:rPr sz="1150" b="1" i="0">
                <a:solidFill>
                  <a:srgbClr val="0D1B3E"/>
                </a:solidFill>
              </a:rPr>
              <a:t>946 commits</a:t>
            </a:r>
          </a:p>
        </p:txBody>
      </p:sp>
      <p:sp>
        <p:nvSpPr>
          <p:cNvPr id="33" name="Rectangle 32"/>
          <p:cNvSpPr/>
          <p:nvPr/>
        </p:nvSpPr>
        <p:spPr>
          <a:xfrm>
            <a:off x="2240280" y="5257800"/>
            <a:ext cx="1783080" cy="502920"/>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286000" y="5330952"/>
            <a:ext cx="1709928" cy="502920"/>
          </a:xfrm>
          <a:prstGeom prst="rect">
            <a:avLst/>
          </a:prstGeom>
          <a:noFill/>
        </p:spPr>
        <p:txBody>
          <a:bodyPr wrap="square">
            <a:spAutoFit/>
          </a:bodyPr>
          <a:lstStyle/>
          <a:p>
            <a:pPr algn="ctr"/>
            <a:r>
              <a:rPr sz="1150" b="1" i="0">
                <a:solidFill>
                  <a:srgbClr val="0D1B3E"/>
                </a:solidFill>
              </a:rPr>
              <a:t>21 800 lines</a:t>
            </a:r>
          </a:p>
        </p:txBody>
      </p:sp>
      <p:sp>
        <p:nvSpPr>
          <p:cNvPr id="35" name="Rectangle 34"/>
          <p:cNvSpPr/>
          <p:nvPr/>
        </p:nvSpPr>
        <p:spPr>
          <a:xfrm>
            <a:off x="4206240" y="5257800"/>
            <a:ext cx="1783080" cy="50292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251960" y="5330952"/>
            <a:ext cx="1709928" cy="502920"/>
          </a:xfrm>
          <a:prstGeom prst="rect">
            <a:avLst/>
          </a:prstGeom>
          <a:noFill/>
        </p:spPr>
        <p:txBody>
          <a:bodyPr wrap="square">
            <a:spAutoFit/>
          </a:bodyPr>
          <a:lstStyle/>
          <a:p>
            <a:pPr algn="ctr"/>
            <a:r>
              <a:rPr sz="1150" b="1" i="0">
                <a:solidFill>
                  <a:srgbClr val="0D1B3E"/>
                </a:solidFill>
              </a:rPr>
              <a:t>80 user stories</a:t>
            </a:r>
          </a:p>
        </p:txBody>
      </p:sp>
      <p:sp>
        <p:nvSpPr>
          <p:cNvPr id="37" name="Rectangle 36"/>
          <p:cNvSpPr/>
          <p:nvPr/>
        </p:nvSpPr>
        <p:spPr>
          <a:xfrm>
            <a:off x="6172200" y="5257800"/>
            <a:ext cx="1783080" cy="502920"/>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17920" y="5330952"/>
            <a:ext cx="1709928" cy="502920"/>
          </a:xfrm>
          <a:prstGeom prst="rect">
            <a:avLst/>
          </a:prstGeom>
          <a:noFill/>
        </p:spPr>
        <p:txBody>
          <a:bodyPr wrap="square">
            <a:spAutoFit/>
          </a:bodyPr>
          <a:lstStyle/>
          <a:p>
            <a:pPr algn="ctr"/>
            <a:r>
              <a:rPr sz="1150" b="1" i="0">
                <a:solidFill>
                  <a:srgbClr val="0D1B3E"/>
                </a:solidFill>
              </a:rPr>
              <a:t>231 story points</a:t>
            </a:r>
          </a:p>
        </p:txBody>
      </p:sp>
      <p:sp>
        <p:nvSpPr>
          <p:cNvPr id="39" name="Rectangle 38"/>
          <p:cNvSpPr/>
          <p:nvPr/>
        </p:nvSpPr>
        <p:spPr>
          <a:xfrm>
            <a:off x="8138160" y="5257800"/>
            <a:ext cx="1783080" cy="5029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183880" y="5330952"/>
            <a:ext cx="1709928" cy="502920"/>
          </a:xfrm>
          <a:prstGeom prst="rect">
            <a:avLst/>
          </a:prstGeom>
          <a:noFill/>
        </p:spPr>
        <p:txBody>
          <a:bodyPr wrap="square">
            <a:spAutoFit/>
          </a:bodyPr>
          <a:lstStyle/>
          <a:p>
            <a:pPr algn="ctr"/>
            <a:r>
              <a:rPr sz="1150" b="1" i="0">
                <a:solidFill>
                  <a:srgbClr val="0D1B3E"/>
                </a:solidFill>
              </a:rPr>
              <a:t>0 mypy errors</a:t>
            </a:r>
          </a:p>
        </p:txBody>
      </p:sp>
      <p:sp>
        <p:nvSpPr>
          <p:cNvPr id="41" name="Rectangle 40"/>
          <p:cNvSpPr/>
          <p:nvPr/>
        </p:nvSpPr>
        <p:spPr>
          <a:xfrm>
            <a:off x="10104120" y="5257800"/>
            <a:ext cx="1783080" cy="5029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149840" y="5330952"/>
            <a:ext cx="1709928" cy="502920"/>
          </a:xfrm>
          <a:prstGeom prst="rect">
            <a:avLst/>
          </a:prstGeom>
          <a:noFill/>
        </p:spPr>
        <p:txBody>
          <a:bodyPr wrap="square">
            <a:spAutoFit/>
          </a:bodyPr>
          <a:lstStyle/>
          <a:p>
            <a:pPr algn="ctr"/>
            <a:r>
              <a:rPr sz="1150" b="1" i="0">
                <a:solidFill>
                  <a:srgbClr val="0D1B3E"/>
                </a:solidFill>
              </a:rPr>
              <a:t>All stories done</a:t>
            </a:r>
          </a:p>
        </p:txBody>
      </p:sp>
      <p:sp>
        <p:nvSpPr>
          <p:cNvPr id="47" name="TextBox 46"/>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48" name="Rounded Rectangle 47"/>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17 / 20</a:t>
            </a:r>
          </a:p>
        </p:txBody>
      </p:sp>
      <p:sp>
        <p:nvSpPr>
          <p:cNvPr id="49" name="Rectangle 48"/>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8016"/>
            <a:ext cx="10972800" cy="822960"/>
          </a:xfrm>
          <a:prstGeom prst="rect">
            <a:avLst/>
          </a:prstGeom>
          <a:noFill/>
        </p:spPr>
        <p:txBody>
          <a:bodyPr wrap="square">
            <a:spAutoFit/>
          </a:bodyPr>
          <a:lstStyle/>
          <a:p>
            <a:pPr algn="l"/>
            <a:r>
              <a:rPr sz="3000" b="1" i="0">
                <a:solidFill>
                  <a:srgbClr val="FFB700"/>
                </a:solidFill>
              </a:rPr>
              <a:t>Security Highlights</a:t>
            </a:r>
          </a:p>
        </p:txBody>
      </p:sp>
      <p:sp>
        <p:nvSpPr>
          <p:cNvPr id="6" name="TextBox 5"/>
          <p:cNvSpPr txBox="1"/>
          <p:nvPr/>
        </p:nvSpPr>
        <p:spPr>
          <a:xfrm>
            <a:off x="457200" y="841248"/>
            <a:ext cx="10972800" cy="411480"/>
          </a:xfrm>
          <a:prstGeom prst="rect">
            <a:avLst/>
          </a:prstGeom>
          <a:noFill/>
        </p:spPr>
        <p:txBody>
          <a:bodyPr wrap="square">
            <a:spAutoFit/>
          </a:bodyPr>
          <a:lstStyle/>
          <a:p>
            <a:pPr algn="l"/>
            <a:r>
              <a:rPr sz="1300" b="0" i="1">
                <a:solidFill>
                  <a:srgbClr val="F0F4FF"/>
                </a:solidFill>
              </a:rPr>
              <a:t>Defence-grade from day one</a:t>
            </a:r>
          </a:p>
        </p:txBody>
      </p:sp>
      <p:sp>
        <p:nvSpPr>
          <p:cNvPr id="7" name="Rectangle 6"/>
          <p:cNvSpPr/>
          <p:nvPr/>
        </p:nvSpPr>
        <p:spPr>
          <a:xfrm>
            <a:off x="274320" y="1371600"/>
            <a:ext cx="438912" cy="402336"/>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389888"/>
            <a:ext cx="438912" cy="402336"/>
          </a:xfrm>
          <a:prstGeom prst="rect">
            <a:avLst/>
          </a:prstGeom>
          <a:noFill/>
        </p:spPr>
        <p:txBody>
          <a:bodyPr wrap="square">
            <a:spAutoFit/>
          </a:bodyPr>
          <a:lstStyle/>
          <a:p>
            <a:pPr algn="ctr"/>
            <a:r>
              <a:rPr sz="1600" b="1" i="0">
                <a:solidFill>
                  <a:srgbClr val="0D1B3E"/>
                </a:solidFill>
              </a:rPr>
              <a:t>✓</a:t>
            </a:r>
          </a:p>
        </p:txBody>
      </p:sp>
      <p:sp>
        <p:nvSpPr>
          <p:cNvPr id="9" name="TextBox 8"/>
          <p:cNvSpPr txBox="1"/>
          <p:nvPr/>
        </p:nvSpPr>
        <p:spPr>
          <a:xfrm>
            <a:off x="822960" y="1408176"/>
            <a:ext cx="3108960" cy="402336"/>
          </a:xfrm>
          <a:prstGeom prst="rect">
            <a:avLst/>
          </a:prstGeom>
          <a:noFill/>
        </p:spPr>
        <p:txBody>
          <a:bodyPr wrap="square">
            <a:spAutoFit/>
          </a:bodyPr>
          <a:lstStyle/>
          <a:p>
            <a:pPr algn="l"/>
            <a:r>
              <a:rPr sz="1150" b="1" i="0">
                <a:solidFill>
                  <a:srgbClr val="FFB700"/>
                </a:solidFill>
              </a:rPr>
              <a:t>Argon2id password hashing</a:t>
            </a:r>
          </a:p>
        </p:txBody>
      </p:sp>
      <p:sp>
        <p:nvSpPr>
          <p:cNvPr id="10" name="TextBox 9"/>
          <p:cNvSpPr txBox="1"/>
          <p:nvPr/>
        </p:nvSpPr>
        <p:spPr>
          <a:xfrm>
            <a:off x="4023360" y="1408176"/>
            <a:ext cx="8229600" cy="402336"/>
          </a:xfrm>
          <a:prstGeom prst="rect">
            <a:avLst/>
          </a:prstGeom>
          <a:noFill/>
        </p:spPr>
        <p:txBody>
          <a:bodyPr wrap="square">
            <a:spAutoFit/>
          </a:bodyPr>
          <a:lstStyle/>
          <a:p>
            <a:pPr algn="l"/>
            <a:r>
              <a:rPr sz="1150" b="0" i="0">
                <a:solidFill>
                  <a:srgbClr val="FFFFFF"/>
                </a:solidFill>
              </a:rPr>
              <a:t>OWASP-recommended memory-hard algorithm, tuned for production hardware</a:t>
            </a:r>
          </a:p>
        </p:txBody>
      </p:sp>
      <p:sp>
        <p:nvSpPr>
          <p:cNvPr id="11" name="Rectangle 10"/>
          <p:cNvSpPr/>
          <p:nvPr/>
        </p:nvSpPr>
        <p:spPr>
          <a:xfrm>
            <a:off x="274320" y="1975104"/>
            <a:ext cx="438912" cy="402336"/>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4320" y="1993392"/>
            <a:ext cx="438912" cy="402336"/>
          </a:xfrm>
          <a:prstGeom prst="rect">
            <a:avLst/>
          </a:prstGeom>
          <a:noFill/>
        </p:spPr>
        <p:txBody>
          <a:bodyPr wrap="square">
            <a:spAutoFit/>
          </a:bodyPr>
          <a:lstStyle/>
          <a:p>
            <a:pPr algn="ctr"/>
            <a:r>
              <a:rPr sz="1600" b="1" i="0">
                <a:solidFill>
                  <a:srgbClr val="0D1B3E"/>
                </a:solidFill>
              </a:rPr>
              <a:t>✓</a:t>
            </a:r>
          </a:p>
        </p:txBody>
      </p:sp>
      <p:sp>
        <p:nvSpPr>
          <p:cNvPr id="13" name="TextBox 12"/>
          <p:cNvSpPr txBox="1"/>
          <p:nvPr/>
        </p:nvSpPr>
        <p:spPr>
          <a:xfrm>
            <a:off x="822960" y="2011680"/>
            <a:ext cx="3108960" cy="402336"/>
          </a:xfrm>
          <a:prstGeom prst="rect">
            <a:avLst/>
          </a:prstGeom>
          <a:noFill/>
        </p:spPr>
        <p:txBody>
          <a:bodyPr wrap="square">
            <a:spAutoFit/>
          </a:bodyPr>
          <a:lstStyle/>
          <a:p>
            <a:pPr algn="l"/>
            <a:r>
              <a:rPr sz="1150" b="1" i="0">
                <a:solidFill>
                  <a:srgbClr val="FFB700"/>
                </a:solidFill>
              </a:rPr>
              <a:t>Session auto-logout</a:t>
            </a:r>
          </a:p>
        </p:txBody>
      </p:sp>
      <p:sp>
        <p:nvSpPr>
          <p:cNvPr id="14" name="TextBox 13"/>
          <p:cNvSpPr txBox="1"/>
          <p:nvPr/>
        </p:nvSpPr>
        <p:spPr>
          <a:xfrm>
            <a:off x="4023360" y="2011680"/>
            <a:ext cx="8229600" cy="402336"/>
          </a:xfrm>
          <a:prstGeom prst="rect">
            <a:avLst/>
          </a:prstGeom>
          <a:noFill/>
        </p:spPr>
        <p:txBody>
          <a:bodyPr wrap="square">
            <a:spAutoFit/>
          </a:bodyPr>
          <a:lstStyle/>
          <a:p>
            <a:pPr algn="l"/>
            <a:r>
              <a:rPr sz="1150" b="0" i="0">
                <a:solidFill>
                  <a:srgbClr val="FFFFFF"/>
                </a:solidFill>
              </a:rPr>
              <a:t>10-minute inactivity timeout with server-side session invalidation</a:t>
            </a:r>
          </a:p>
        </p:txBody>
      </p:sp>
      <p:sp>
        <p:nvSpPr>
          <p:cNvPr id="15" name="Rectangle 14"/>
          <p:cNvSpPr/>
          <p:nvPr/>
        </p:nvSpPr>
        <p:spPr>
          <a:xfrm>
            <a:off x="274320" y="2578608"/>
            <a:ext cx="438912" cy="402336"/>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4320" y="2596896"/>
            <a:ext cx="438912" cy="402336"/>
          </a:xfrm>
          <a:prstGeom prst="rect">
            <a:avLst/>
          </a:prstGeom>
          <a:noFill/>
        </p:spPr>
        <p:txBody>
          <a:bodyPr wrap="square">
            <a:spAutoFit/>
          </a:bodyPr>
          <a:lstStyle/>
          <a:p>
            <a:pPr algn="ctr"/>
            <a:r>
              <a:rPr sz="1600" b="1" i="0">
                <a:solidFill>
                  <a:srgbClr val="0D1B3E"/>
                </a:solidFill>
              </a:rPr>
              <a:t>✓</a:t>
            </a:r>
          </a:p>
        </p:txBody>
      </p:sp>
      <p:sp>
        <p:nvSpPr>
          <p:cNvPr id="17" name="TextBox 16"/>
          <p:cNvSpPr txBox="1"/>
          <p:nvPr/>
        </p:nvSpPr>
        <p:spPr>
          <a:xfrm>
            <a:off x="822960" y="2615184"/>
            <a:ext cx="3108960" cy="402336"/>
          </a:xfrm>
          <a:prstGeom prst="rect">
            <a:avLst/>
          </a:prstGeom>
          <a:noFill/>
        </p:spPr>
        <p:txBody>
          <a:bodyPr wrap="square">
            <a:spAutoFit/>
          </a:bodyPr>
          <a:lstStyle/>
          <a:p>
            <a:pPr algn="l"/>
            <a:r>
              <a:rPr sz="1150" b="1" i="0">
                <a:solidFill>
                  <a:srgbClr val="FFB700"/>
                </a:solidFill>
              </a:rPr>
              <a:t>RBAC at every route</a:t>
            </a:r>
          </a:p>
        </p:txBody>
      </p:sp>
      <p:sp>
        <p:nvSpPr>
          <p:cNvPr id="18" name="TextBox 17"/>
          <p:cNvSpPr txBox="1"/>
          <p:nvPr/>
        </p:nvSpPr>
        <p:spPr>
          <a:xfrm>
            <a:off x="4023360" y="2615184"/>
            <a:ext cx="8229600" cy="402336"/>
          </a:xfrm>
          <a:prstGeom prst="rect">
            <a:avLst/>
          </a:prstGeom>
          <a:noFill/>
        </p:spPr>
        <p:txBody>
          <a:bodyPr wrap="square">
            <a:spAutoFit/>
          </a:bodyPr>
          <a:lstStyle/>
          <a:p>
            <a:pPr algn="l"/>
            <a:r>
              <a:rPr sz="1150" b="0" i="0">
                <a:solidFill>
                  <a:srgbClr val="FFFFFF"/>
                </a:solidFill>
              </a:rPr>
              <a:t>allowed_roles guard on every PageSpec — no client-side trust</a:t>
            </a:r>
          </a:p>
        </p:txBody>
      </p:sp>
      <p:sp>
        <p:nvSpPr>
          <p:cNvPr id="19" name="Rectangle 18"/>
          <p:cNvSpPr/>
          <p:nvPr/>
        </p:nvSpPr>
        <p:spPr>
          <a:xfrm>
            <a:off x="274320" y="3182112"/>
            <a:ext cx="438912" cy="402336"/>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4320" y="3200400"/>
            <a:ext cx="438912" cy="402336"/>
          </a:xfrm>
          <a:prstGeom prst="rect">
            <a:avLst/>
          </a:prstGeom>
          <a:noFill/>
        </p:spPr>
        <p:txBody>
          <a:bodyPr wrap="square">
            <a:spAutoFit/>
          </a:bodyPr>
          <a:lstStyle/>
          <a:p>
            <a:pPr algn="ctr"/>
            <a:r>
              <a:rPr sz="1600" b="1" i="0">
                <a:solidFill>
                  <a:srgbClr val="0D1B3E"/>
                </a:solidFill>
              </a:rPr>
              <a:t>✓</a:t>
            </a:r>
          </a:p>
        </p:txBody>
      </p:sp>
      <p:sp>
        <p:nvSpPr>
          <p:cNvPr id="21" name="TextBox 20"/>
          <p:cNvSpPr txBox="1"/>
          <p:nvPr/>
        </p:nvSpPr>
        <p:spPr>
          <a:xfrm>
            <a:off x="822960" y="3218688"/>
            <a:ext cx="3108960" cy="402336"/>
          </a:xfrm>
          <a:prstGeom prst="rect">
            <a:avLst/>
          </a:prstGeom>
          <a:noFill/>
        </p:spPr>
        <p:txBody>
          <a:bodyPr wrap="square">
            <a:spAutoFit/>
          </a:bodyPr>
          <a:lstStyle/>
          <a:p>
            <a:pPr algn="l"/>
            <a:r>
              <a:rPr sz="1150" b="1" i="0">
                <a:solidFill>
                  <a:srgbClr val="FFB700"/>
                </a:solidFill>
              </a:rPr>
              <a:t>Full audit trail</a:t>
            </a:r>
          </a:p>
        </p:txBody>
      </p:sp>
      <p:sp>
        <p:nvSpPr>
          <p:cNvPr id="22" name="TextBox 21"/>
          <p:cNvSpPr txBox="1"/>
          <p:nvPr/>
        </p:nvSpPr>
        <p:spPr>
          <a:xfrm>
            <a:off x="4023360" y="3218688"/>
            <a:ext cx="8229600" cy="402336"/>
          </a:xfrm>
          <a:prstGeom prst="rect">
            <a:avLst/>
          </a:prstGeom>
          <a:noFill/>
        </p:spPr>
        <p:txBody>
          <a:bodyPr wrap="square">
            <a:spAutoFit/>
          </a:bodyPr>
          <a:lstStyle/>
          <a:p>
            <a:pPr algn="l"/>
            <a:r>
              <a:rPr sz="1150" b="0" i="0">
                <a:solidFill>
                  <a:srgbClr val="FFFFFF"/>
                </a:solidFill>
              </a:rPr>
              <a:t>Login attempts, failures, data access — all logged with IP address</a:t>
            </a:r>
          </a:p>
        </p:txBody>
      </p:sp>
      <p:sp>
        <p:nvSpPr>
          <p:cNvPr id="23" name="Rectangle 22"/>
          <p:cNvSpPr/>
          <p:nvPr/>
        </p:nvSpPr>
        <p:spPr>
          <a:xfrm>
            <a:off x="274320" y="3785616"/>
            <a:ext cx="438912" cy="402336"/>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74320" y="3803904"/>
            <a:ext cx="438912" cy="402336"/>
          </a:xfrm>
          <a:prstGeom prst="rect">
            <a:avLst/>
          </a:prstGeom>
          <a:noFill/>
        </p:spPr>
        <p:txBody>
          <a:bodyPr wrap="square">
            <a:spAutoFit/>
          </a:bodyPr>
          <a:lstStyle/>
          <a:p>
            <a:pPr algn="ctr"/>
            <a:r>
              <a:rPr sz="1600" b="1" i="0">
                <a:solidFill>
                  <a:srgbClr val="0D1B3E"/>
                </a:solidFill>
              </a:rPr>
              <a:t>✓</a:t>
            </a:r>
          </a:p>
        </p:txBody>
      </p:sp>
      <p:sp>
        <p:nvSpPr>
          <p:cNvPr id="25" name="TextBox 24"/>
          <p:cNvSpPr txBox="1"/>
          <p:nvPr/>
        </p:nvSpPr>
        <p:spPr>
          <a:xfrm>
            <a:off x="822960" y="3822192"/>
            <a:ext cx="3108960" cy="402336"/>
          </a:xfrm>
          <a:prstGeom prst="rect">
            <a:avLst/>
          </a:prstGeom>
          <a:noFill/>
        </p:spPr>
        <p:txBody>
          <a:bodyPr wrap="square">
            <a:spAutoFit/>
          </a:bodyPr>
          <a:lstStyle/>
          <a:p>
            <a:pPr algn="l"/>
            <a:r>
              <a:rPr sz="1150" b="1" i="0">
                <a:solidFill>
                  <a:srgbClr val="FFB700"/>
                </a:solidFill>
              </a:rPr>
              <a:t>PostgreSQL TLS</a:t>
            </a:r>
          </a:p>
        </p:txBody>
      </p:sp>
      <p:sp>
        <p:nvSpPr>
          <p:cNvPr id="26" name="TextBox 25"/>
          <p:cNvSpPr txBox="1"/>
          <p:nvPr/>
        </p:nvSpPr>
        <p:spPr>
          <a:xfrm>
            <a:off x="4023360" y="3822192"/>
            <a:ext cx="8229600" cy="402336"/>
          </a:xfrm>
          <a:prstGeom prst="rect">
            <a:avLst/>
          </a:prstGeom>
          <a:noFill/>
        </p:spPr>
        <p:txBody>
          <a:bodyPr wrap="square">
            <a:spAutoFit/>
          </a:bodyPr>
          <a:lstStyle/>
          <a:p>
            <a:pPr algn="l"/>
            <a:r>
              <a:rPr sz="1150" b="0" i="0">
                <a:solidFill>
                  <a:srgbClr val="FFFFFF"/>
                </a:solidFill>
              </a:rPr>
              <a:t>sslmode=verify-full in production — certificate validation enforced</a:t>
            </a:r>
          </a:p>
        </p:txBody>
      </p:sp>
      <p:sp>
        <p:nvSpPr>
          <p:cNvPr id="27" name="Rectangle 26"/>
          <p:cNvSpPr/>
          <p:nvPr/>
        </p:nvSpPr>
        <p:spPr>
          <a:xfrm>
            <a:off x="274320" y="4389120"/>
            <a:ext cx="438912" cy="402336"/>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4320" y="4407408"/>
            <a:ext cx="438912" cy="402336"/>
          </a:xfrm>
          <a:prstGeom prst="rect">
            <a:avLst/>
          </a:prstGeom>
          <a:noFill/>
        </p:spPr>
        <p:txBody>
          <a:bodyPr wrap="square">
            <a:spAutoFit/>
          </a:bodyPr>
          <a:lstStyle/>
          <a:p>
            <a:pPr algn="ctr"/>
            <a:r>
              <a:rPr sz="1600" b="1" i="0">
                <a:solidFill>
                  <a:srgbClr val="0D1B3E"/>
                </a:solidFill>
              </a:rPr>
              <a:t>✓</a:t>
            </a:r>
          </a:p>
        </p:txBody>
      </p:sp>
      <p:sp>
        <p:nvSpPr>
          <p:cNvPr id="29" name="TextBox 28"/>
          <p:cNvSpPr txBox="1"/>
          <p:nvPr/>
        </p:nvSpPr>
        <p:spPr>
          <a:xfrm>
            <a:off x="822960" y="4425696"/>
            <a:ext cx="3108960" cy="402336"/>
          </a:xfrm>
          <a:prstGeom prst="rect">
            <a:avLst/>
          </a:prstGeom>
          <a:noFill/>
        </p:spPr>
        <p:txBody>
          <a:bodyPr wrap="square">
            <a:spAutoFit/>
          </a:bodyPr>
          <a:lstStyle/>
          <a:p>
            <a:pPr algn="l"/>
            <a:r>
              <a:rPr sz="1150" b="1" i="0">
                <a:solidFill>
                  <a:srgbClr val="FFB700"/>
                </a:solidFill>
              </a:rPr>
              <a:t>No secrets in Docker image</a:t>
            </a:r>
          </a:p>
        </p:txBody>
      </p:sp>
      <p:sp>
        <p:nvSpPr>
          <p:cNvPr id="30" name="TextBox 29"/>
          <p:cNvSpPr txBox="1"/>
          <p:nvPr/>
        </p:nvSpPr>
        <p:spPr>
          <a:xfrm>
            <a:off x="4023360" y="4425696"/>
            <a:ext cx="8229600" cy="402336"/>
          </a:xfrm>
          <a:prstGeom prst="rect">
            <a:avLst/>
          </a:prstGeom>
          <a:noFill/>
        </p:spPr>
        <p:txBody>
          <a:bodyPr wrap="square">
            <a:spAutoFit/>
          </a:bodyPr>
          <a:lstStyle/>
          <a:p>
            <a:pPr algn="l"/>
            <a:r>
              <a:rPr sz="1150" b="0" i="0">
                <a:solidFill>
                  <a:srgbClr val="FFFFFF"/>
                </a:solidFill>
              </a:rPr>
              <a:t>WF_SECRET_KEY and DB credentials injected at runtime via environment</a:t>
            </a:r>
          </a:p>
        </p:txBody>
      </p:sp>
      <p:sp>
        <p:nvSpPr>
          <p:cNvPr id="31" name="Rectangle 30"/>
          <p:cNvSpPr/>
          <p:nvPr/>
        </p:nvSpPr>
        <p:spPr>
          <a:xfrm>
            <a:off x="274320" y="4992624"/>
            <a:ext cx="438912" cy="402336"/>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74320" y="5010912"/>
            <a:ext cx="438912" cy="402336"/>
          </a:xfrm>
          <a:prstGeom prst="rect">
            <a:avLst/>
          </a:prstGeom>
          <a:noFill/>
        </p:spPr>
        <p:txBody>
          <a:bodyPr wrap="square">
            <a:spAutoFit/>
          </a:bodyPr>
          <a:lstStyle/>
          <a:p>
            <a:pPr algn="ctr"/>
            <a:r>
              <a:rPr sz="1600" b="1" i="0">
                <a:solidFill>
                  <a:srgbClr val="0D1B3E"/>
                </a:solidFill>
              </a:rPr>
              <a:t>✓</a:t>
            </a:r>
          </a:p>
        </p:txBody>
      </p:sp>
      <p:sp>
        <p:nvSpPr>
          <p:cNvPr id="33" name="TextBox 32"/>
          <p:cNvSpPr txBox="1"/>
          <p:nvPr/>
        </p:nvSpPr>
        <p:spPr>
          <a:xfrm>
            <a:off x="822960" y="5029200"/>
            <a:ext cx="3108960" cy="402336"/>
          </a:xfrm>
          <a:prstGeom prst="rect">
            <a:avLst/>
          </a:prstGeom>
          <a:noFill/>
        </p:spPr>
        <p:txBody>
          <a:bodyPr wrap="square">
            <a:spAutoFit/>
          </a:bodyPr>
          <a:lstStyle/>
          <a:p>
            <a:pPr algn="l"/>
            <a:r>
              <a:rPr sz="1150" b="1" i="0">
                <a:solidFill>
                  <a:srgbClr val="FFB700"/>
                </a:solidFill>
              </a:rPr>
              <a:t>OWASP Top 10 assessment</a:t>
            </a:r>
          </a:p>
        </p:txBody>
      </p:sp>
      <p:sp>
        <p:nvSpPr>
          <p:cNvPr id="34" name="TextBox 33"/>
          <p:cNvSpPr txBox="1"/>
          <p:nvPr/>
        </p:nvSpPr>
        <p:spPr>
          <a:xfrm>
            <a:off x="4023360" y="5029200"/>
            <a:ext cx="8229600" cy="402336"/>
          </a:xfrm>
          <a:prstGeom prst="rect">
            <a:avLst/>
          </a:prstGeom>
          <a:noFill/>
        </p:spPr>
        <p:txBody>
          <a:bodyPr wrap="square">
            <a:spAutoFit/>
          </a:bodyPr>
          <a:lstStyle/>
          <a:p>
            <a:pPr algn="l"/>
            <a:r>
              <a:rPr sz="1150" b="0" i="0">
                <a:solidFill>
                  <a:srgbClr val="FFFFFF"/>
                </a:solidFill>
              </a:rPr>
              <a:t>Completed and documented in SECURITY.md</a:t>
            </a:r>
          </a:p>
        </p:txBody>
      </p:sp>
      <p:sp>
        <p:nvSpPr>
          <p:cNvPr id="39" name="TextBox 38"/>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40" name="Rounded Rectangle 39"/>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18 / 20</a:t>
            </a:r>
          </a:p>
        </p:txBody>
      </p:sp>
      <p:sp>
        <p:nvSpPr>
          <p:cNvPr id="41" name="Rectangle 40"/>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8016"/>
            <a:ext cx="10972800" cy="822960"/>
          </a:xfrm>
          <a:prstGeom prst="rect">
            <a:avLst/>
          </a:prstGeom>
          <a:noFill/>
        </p:spPr>
        <p:txBody>
          <a:bodyPr wrap="square">
            <a:spAutoFit/>
          </a:bodyPr>
          <a:lstStyle/>
          <a:p>
            <a:pPr algn="l"/>
            <a:r>
              <a:rPr sz="3000" b="1" i="0">
                <a:solidFill>
                  <a:srgbClr val="FFB700"/>
                </a:solidFill>
              </a:rPr>
              <a:t>What's Next</a:t>
            </a:r>
          </a:p>
        </p:txBody>
      </p:sp>
      <p:sp>
        <p:nvSpPr>
          <p:cNvPr id="6" name="TextBox 5"/>
          <p:cNvSpPr txBox="1"/>
          <p:nvPr/>
        </p:nvSpPr>
        <p:spPr>
          <a:xfrm>
            <a:off x="457200" y="841248"/>
            <a:ext cx="10972800" cy="411480"/>
          </a:xfrm>
          <a:prstGeom prst="rect">
            <a:avLst/>
          </a:prstGeom>
          <a:noFill/>
        </p:spPr>
        <p:txBody>
          <a:bodyPr wrap="square">
            <a:spAutoFit/>
          </a:bodyPr>
          <a:lstStyle/>
          <a:p>
            <a:pPr algn="l"/>
            <a:r>
              <a:rPr sz="1300" b="0" i="1">
                <a:solidFill>
                  <a:srgbClr val="F0F4FF"/>
                </a:solidFill>
              </a:rPr>
              <a:t>Vision beyond the current release</a:t>
            </a:r>
          </a:p>
        </p:txBody>
      </p:sp>
      <p:sp>
        <p:nvSpPr>
          <p:cNvPr id="7" name="Rectangle 6"/>
          <p:cNvSpPr/>
          <p:nvPr/>
        </p:nvSpPr>
        <p:spPr>
          <a:xfrm>
            <a:off x="274320" y="1417320"/>
            <a:ext cx="3520440" cy="47548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490472"/>
            <a:ext cx="3383280" cy="475488"/>
          </a:xfrm>
          <a:prstGeom prst="rect">
            <a:avLst/>
          </a:prstGeom>
          <a:noFill/>
        </p:spPr>
        <p:txBody>
          <a:bodyPr wrap="square">
            <a:spAutoFit/>
          </a:bodyPr>
          <a:lstStyle/>
          <a:p>
            <a:pPr algn="l"/>
            <a:r>
              <a:rPr sz="1200" b="1" i="0">
                <a:solidFill>
                  <a:srgbClr val="0D1B3E"/>
                </a:solidFill>
              </a:rPr>
              <a:t>Mobile-responsive layout</a:t>
            </a:r>
          </a:p>
        </p:txBody>
      </p:sp>
      <p:sp>
        <p:nvSpPr>
          <p:cNvPr id="9" name="TextBox 8"/>
          <p:cNvSpPr txBox="1"/>
          <p:nvPr/>
        </p:nvSpPr>
        <p:spPr>
          <a:xfrm>
            <a:off x="3913632" y="1490472"/>
            <a:ext cx="8046720" cy="475488"/>
          </a:xfrm>
          <a:prstGeom prst="rect">
            <a:avLst/>
          </a:prstGeom>
          <a:noFill/>
        </p:spPr>
        <p:txBody>
          <a:bodyPr wrap="square">
            <a:spAutoFit/>
          </a:bodyPr>
          <a:lstStyle/>
          <a:p>
            <a:pPr algn="l"/>
            <a:r>
              <a:rPr sz="1250" b="0" i="0">
                <a:solidFill>
                  <a:srgbClr val="FFFFFF"/>
                </a:solidFill>
              </a:rPr>
              <a:t>Optimized for tablets used on the sports field</a:t>
            </a:r>
          </a:p>
        </p:txBody>
      </p:sp>
      <p:sp>
        <p:nvSpPr>
          <p:cNvPr id="10" name="Rectangle 9"/>
          <p:cNvSpPr/>
          <p:nvPr/>
        </p:nvSpPr>
        <p:spPr>
          <a:xfrm>
            <a:off x="274320" y="2185416"/>
            <a:ext cx="3520440" cy="47548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7472" y="2258568"/>
            <a:ext cx="3383280" cy="475488"/>
          </a:xfrm>
          <a:prstGeom prst="rect">
            <a:avLst/>
          </a:prstGeom>
          <a:noFill/>
        </p:spPr>
        <p:txBody>
          <a:bodyPr wrap="square">
            <a:spAutoFit/>
          </a:bodyPr>
          <a:lstStyle/>
          <a:p>
            <a:pPr algn="l"/>
            <a:r>
              <a:rPr sz="1200" b="1" i="0">
                <a:solidFill>
                  <a:srgbClr val="0D1B3E"/>
                </a:solidFill>
              </a:rPr>
              <a:t>Offline mode</a:t>
            </a:r>
          </a:p>
        </p:txBody>
      </p:sp>
      <p:sp>
        <p:nvSpPr>
          <p:cNvPr id="12" name="TextBox 11"/>
          <p:cNvSpPr txBox="1"/>
          <p:nvPr/>
        </p:nvSpPr>
        <p:spPr>
          <a:xfrm>
            <a:off x="3913632" y="2258568"/>
            <a:ext cx="8046720" cy="475488"/>
          </a:xfrm>
          <a:prstGeom prst="rect">
            <a:avLst/>
          </a:prstGeom>
          <a:noFill/>
        </p:spPr>
        <p:txBody>
          <a:bodyPr wrap="square">
            <a:spAutoFit/>
          </a:bodyPr>
          <a:lstStyle/>
          <a:p>
            <a:pPr algn="l"/>
            <a:r>
              <a:rPr sz="1250" b="0" i="0">
                <a:solidFill>
                  <a:srgbClr val="FFFFFF"/>
                </a:solidFill>
              </a:rPr>
              <a:t>Service worker for result capture without connectivity</a:t>
            </a:r>
          </a:p>
        </p:txBody>
      </p:sp>
      <p:sp>
        <p:nvSpPr>
          <p:cNvPr id="13" name="Rectangle 12"/>
          <p:cNvSpPr/>
          <p:nvPr/>
        </p:nvSpPr>
        <p:spPr>
          <a:xfrm>
            <a:off x="274320" y="2953512"/>
            <a:ext cx="3520440" cy="47548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3026664"/>
            <a:ext cx="3383280" cy="475488"/>
          </a:xfrm>
          <a:prstGeom prst="rect">
            <a:avLst/>
          </a:prstGeom>
          <a:noFill/>
        </p:spPr>
        <p:txBody>
          <a:bodyPr wrap="square">
            <a:spAutoFit/>
          </a:bodyPr>
          <a:lstStyle/>
          <a:p>
            <a:pPr algn="l"/>
            <a:r>
              <a:rPr sz="1200" b="1" i="0">
                <a:solidFill>
                  <a:srgbClr val="0D1B3E"/>
                </a:solidFill>
              </a:rPr>
              <a:t>Notification system</a:t>
            </a:r>
          </a:p>
        </p:txBody>
      </p:sp>
      <p:sp>
        <p:nvSpPr>
          <p:cNvPr id="15" name="TextBox 14"/>
          <p:cNvSpPr txBox="1"/>
          <p:nvPr/>
        </p:nvSpPr>
        <p:spPr>
          <a:xfrm>
            <a:off x="3913632" y="3026664"/>
            <a:ext cx="8046720" cy="475488"/>
          </a:xfrm>
          <a:prstGeom prst="rect">
            <a:avLst/>
          </a:prstGeom>
          <a:noFill/>
        </p:spPr>
        <p:txBody>
          <a:bodyPr wrap="square">
            <a:spAutoFit/>
          </a:bodyPr>
          <a:lstStyle/>
          <a:p>
            <a:pPr algn="l"/>
            <a:r>
              <a:rPr sz="1250" b="0" i="0">
                <a:solidFill>
                  <a:srgbClr val="FFFFFF"/>
                </a:solidFill>
              </a:rPr>
              <a:t>Email alerts for expiring test deadlines and overdue sessions</a:t>
            </a:r>
          </a:p>
        </p:txBody>
      </p:sp>
      <p:sp>
        <p:nvSpPr>
          <p:cNvPr id="16" name="Rectangle 15"/>
          <p:cNvSpPr/>
          <p:nvPr/>
        </p:nvSpPr>
        <p:spPr>
          <a:xfrm>
            <a:off x="274320" y="3721608"/>
            <a:ext cx="3520440" cy="47548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7472" y="3794760"/>
            <a:ext cx="3383280" cy="475488"/>
          </a:xfrm>
          <a:prstGeom prst="rect">
            <a:avLst/>
          </a:prstGeom>
          <a:noFill/>
        </p:spPr>
        <p:txBody>
          <a:bodyPr wrap="square">
            <a:spAutoFit/>
          </a:bodyPr>
          <a:lstStyle/>
          <a:p>
            <a:pPr algn="l"/>
            <a:r>
              <a:rPr sz="1200" b="1" i="0">
                <a:solidFill>
                  <a:srgbClr val="0D1B3E"/>
                </a:solidFill>
              </a:rPr>
              <a:t>Multi-unit / battalion view</a:t>
            </a:r>
          </a:p>
        </p:txBody>
      </p:sp>
      <p:sp>
        <p:nvSpPr>
          <p:cNvPr id="18" name="TextBox 17"/>
          <p:cNvSpPr txBox="1"/>
          <p:nvPr/>
        </p:nvSpPr>
        <p:spPr>
          <a:xfrm>
            <a:off x="3913632" y="3794760"/>
            <a:ext cx="8046720" cy="475488"/>
          </a:xfrm>
          <a:prstGeom prst="rect">
            <a:avLst/>
          </a:prstGeom>
          <a:noFill/>
        </p:spPr>
        <p:txBody>
          <a:bodyPr wrap="square">
            <a:spAutoFit/>
          </a:bodyPr>
          <a:lstStyle/>
          <a:p>
            <a:pPr algn="l"/>
            <a:r>
              <a:rPr sz="1250" b="0" i="0">
                <a:solidFill>
                  <a:srgbClr val="FFFFFF"/>
                </a:solidFill>
              </a:rPr>
              <a:t>Aggregated command-level dashboards across units</a:t>
            </a:r>
          </a:p>
        </p:txBody>
      </p:sp>
      <p:sp>
        <p:nvSpPr>
          <p:cNvPr id="19" name="Rectangle 18"/>
          <p:cNvSpPr/>
          <p:nvPr/>
        </p:nvSpPr>
        <p:spPr>
          <a:xfrm>
            <a:off x="274320" y="4489704"/>
            <a:ext cx="3520440" cy="47548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7472" y="4562856"/>
            <a:ext cx="3383280" cy="475488"/>
          </a:xfrm>
          <a:prstGeom prst="rect">
            <a:avLst/>
          </a:prstGeom>
          <a:noFill/>
        </p:spPr>
        <p:txBody>
          <a:bodyPr wrap="square">
            <a:spAutoFit/>
          </a:bodyPr>
          <a:lstStyle/>
          <a:p>
            <a:pPr algn="l"/>
            <a:r>
              <a:rPr sz="1200" b="1" i="0">
                <a:solidFill>
                  <a:srgbClr val="0D1B3E"/>
                </a:solidFill>
              </a:rPr>
              <a:t>Live HR integration</a:t>
            </a:r>
          </a:p>
        </p:txBody>
      </p:sp>
      <p:sp>
        <p:nvSpPr>
          <p:cNvPr id="21" name="TextBox 20"/>
          <p:cNvSpPr txBox="1"/>
          <p:nvPr/>
        </p:nvSpPr>
        <p:spPr>
          <a:xfrm>
            <a:off x="3913632" y="4562856"/>
            <a:ext cx="8046720" cy="475488"/>
          </a:xfrm>
          <a:prstGeom prst="rect">
            <a:avLst/>
          </a:prstGeom>
          <a:noFill/>
        </p:spPr>
        <p:txBody>
          <a:bodyPr wrap="square">
            <a:spAutoFit/>
          </a:bodyPr>
          <a:lstStyle/>
          <a:p>
            <a:pPr algn="l"/>
            <a:r>
              <a:rPr sz="1250" b="0" i="0">
                <a:solidFill>
                  <a:srgbClr val="FFFFFF"/>
                </a:solidFill>
              </a:rPr>
              <a:t>Connect broker to real BEMIL HR API endpoint</a:t>
            </a:r>
          </a:p>
        </p:txBody>
      </p:sp>
      <p:sp>
        <p:nvSpPr>
          <p:cNvPr id="22" name="Rectangle 21"/>
          <p:cNvSpPr/>
          <p:nvPr/>
        </p:nvSpPr>
        <p:spPr>
          <a:xfrm>
            <a:off x="274320" y="5257800"/>
            <a:ext cx="3520440" cy="475488"/>
          </a:xfrm>
          <a:prstGeom prst="rect">
            <a:avLst/>
          </a:prstGeom>
          <a:solidFill>
            <a:srgbClr val="1A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5330952"/>
            <a:ext cx="3383280" cy="475488"/>
          </a:xfrm>
          <a:prstGeom prst="rect">
            <a:avLst/>
          </a:prstGeom>
          <a:noFill/>
        </p:spPr>
        <p:txBody>
          <a:bodyPr wrap="square">
            <a:spAutoFit/>
          </a:bodyPr>
          <a:lstStyle/>
          <a:p>
            <a:pPr algn="l"/>
            <a:r>
              <a:rPr sz="1200" b="1" i="0">
                <a:solidFill>
                  <a:srgbClr val="0D1B3E"/>
                </a:solidFill>
              </a:rPr>
              <a:t>Extended test types</a:t>
            </a:r>
          </a:p>
        </p:txBody>
      </p:sp>
      <p:sp>
        <p:nvSpPr>
          <p:cNvPr id="24" name="TextBox 23"/>
          <p:cNvSpPr txBox="1"/>
          <p:nvPr/>
        </p:nvSpPr>
        <p:spPr>
          <a:xfrm>
            <a:off x="3913632" y="5330952"/>
            <a:ext cx="8046720" cy="475488"/>
          </a:xfrm>
          <a:prstGeom prst="rect">
            <a:avLst/>
          </a:prstGeom>
          <a:noFill/>
        </p:spPr>
        <p:txBody>
          <a:bodyPr wrap="square">
            <a:spAutoFit/>
          </a:bodyPr>
          <a:lstStyle/>
          <a:p>
            <a:pPr algn="l"/>
            <a:r>
              <a:rPr sz="1250" b="0" i="0">
                <a:solidFill>
                  <a:srgbClr val="FFFFFF"/>
                </a:solidFill>
              </a:rPr>
              <a:t>Additional Belgian Defence-specific evaluations</a:t>
            </a:r>
          </a:p>
        </p:txBody>
      </p:sp>
      <p:sp>
        <p:nvSpPr>
          <p:cNvPr id="29" name="TextBox 28"/>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30" name="Rounded Rectangle 29"/>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19 / 20</a:t>
            </a:r>
          </a:p>
        </p:txBody>
      </p:sp>
      <p:sp>
        <p:nvSpPr>
          <p:cNvPr id="31" name="Rectangle 30"/>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6519672"/>
            <a:ext cx="12188952" cy="27432"/>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0" y="6547104"/>
            <a:ext cx="12188952" cy="310896"/>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0"/>
            <a:ext cx="12188952" cy="54864"/>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0"/>
            <a:ext cx="256032" cy="6858000"/>
          </a:xfrm>
          <a:prstGeom prst="rect">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972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48272"/>
            <a:ext cx="12188952" cy="10972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188720"/>
            <a:ext cx="10058400" cy="1371600"/>
          </a:xfrm>
          <a:prstGeom prst="rect">
            <a:avLst/>
          </a:prstGeom>
          <a:noFill/>
        </p:spPr>
        <p:txBody>
          <a:bodyPr wrap="square">
            <a:spAutoFit/>
          </a:bodyPr>
          <a:lstStyle/>
          <a:p>
            <a:pPr algn="ctr"/>
            <a:r>
              <a:rPr sz="6400" b="1" i="0">
                <a:solidFill>
                  <a:srgbClr val="FFB700"/>
                </a:solidFill>
              </a:rPr>
              <a:t>Questions?</a:t>
            </a:r>
          </a:p>
        </p:txBody>
      </p:sp>
      <p:sp>
        <p:nvSpPr>
          <p:cNvPr id="6" name="Rectangle 5"/>
          <p:cNvSpPr/>
          <p:nvPr/>
        </p:nvSpPr>
        <p:spPr>
          <a:xfrm>
            <a:off x="3657600" y="2697480"/>
            <a:ext cx="4846320" cy="36576"/>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834640"/>
            <a:ext cx="10058400" cy="548640"/>
          </a:xfrm>
          <a:prstGeom prst="rect">
            <a:avLst/>
          </a:prstGeom>
          <a:noFill/>
        </p:spPr>
        <p:txBody>
          <a:bodyPr wrap="square">
            <a:spAutoFit/>
          </a:bodyPr>
          <a:lstStyle/>
          <a:p>
            <a:pPr algn="ctr"/>
            <a:r>
              <a:rPr sz="1800" b="1" i="0">
                <a:solidFill>
                  <a:srgbClr val="FFFFFF"/>
                </a:solidFill>
              </a:rPr>
              <a:t>Benoit Goethals</a:t>
            </a:r>
          </a:p>
        </p:txBody>
      </p:sp>
      <p:sp>
        <p:nvSpPr>
          <p:cNvPr id="8" name="TextBox 7"/>
          <p:cNvSpPr txBox="1"/>
          <p:nvPr/>
        </p:nvSpPr>
        <p:spPr>
          <a:xfrm>
            <a:off x="914400" y="3337560"/>
            <a:ext cx="10058400" cy="457200"/>
          </a:xfrm>
          <a:prstGeom prst="rect">
            <a:avLst/>
          </a:prstGeom>
          <a:noFill/>
        </p:spPr>
        <p:txBody>
          <a:bodyPr wrap="square">
            <a:spAutoFit/>
          </a:bodyPr>
          <a:lstStyle/>
          <a:p>
            <a:pPr algn="ctr"/>
            <a:r>
              <a:rPr sz="1400" b="0" i="0">
                <a:solidFill>
                  <a:srgbClr val="F0F4FF"/>
                </a:solidFill>
              </a:rPr>
              <a:t>benoit.goethals@gmail.com</a:t>
            </a:r>
          </a:p>
        </p:txBody>
      </p:sp>
      <p:sp>
        <p:nvSpPr>
          <p:cNvPr id="9" name="TextBox 8"/>
          <p:cNvSpPr txBox="1"/>
          <p:nvPr/>
        </p:nvSpPr>
        <p:spPr>
          <a:xfrm>
            <a:off x="914400" y="4069080"/>
            <a:ext cx="10058400" cy="384048"/>
          </a:xfrm>
          <a:prstGeom prst="rect">
            <a:avLst/>
          </a:prstGeom>
          <a:noFill/>
        </p:spPr>
        <p:txBody>
          <a:bodyPr wrap="square">
            <a:spAutoFit/>
          </a:bodyPr>
          <a:lstStyle/>
          <a:p>
            <a:pPr algn="ctr"/>
            <a:r>
              <a:rPr sz="1200" b="0" i="1">
                <a:solidFill>
                  <a:srgbClr val="556078"/>
                </a:solidFill>
              </a:rPr>
              <a:t>WarriorFit:     https://test.warriorfit.bensoft.be/</a:t>
            </a:r>
          </a:p>
        </p:txBody>
      </p:sp>
      <p:sp>
        <p:nvSpPr>
          <p:cNvPr id="10" name="TextBox 9"/>
          <p:cNvSpPr txBox="1"/>
          <p:nvPr/>
        </p:nvSpPr>
        <p:spPr>
          <a:xfrm>
            <a:off x="914400" y="4489704"/>
            <a:ext cx="10058400" cy="384048"/>
          </a:xfrm>
          <a:prstGeom prst="rect">
            <a:avLst/>
          </a:prstGeom>
          <a:noFill/>
        </p:spPr>
        <p:txBody>
          <a:bodyPr wrap="square">
            <a:spAutoFit/>
          </a:bodyPr>
          <a:lstStyle/>
          <a:p>
            <a:pPr algn="ctr"/>
            <a:r>
              <a:rPr sz="1200" b="0" i="1">
                <a:solidFill>
                  <a:srgbClr val="556078"/>
                </a:solidFill>
              </a:rPr>
              <a:t>Cross client:   https://clientcross.bensoft.be/</a:t>
            </a:r>
          </a:p>
        </p:txBody>
      </p:sp>
      <p:sp>
        <p:nvSpPr>
          <p:cNvPr id="11" name="TextBox 10"/>
          <p:cNvSpPr txBox="1"/>
          <p:nvPr/>
        </p:nvSpPr>
        <p:spPr>
          <a:xfrm>
            <a:off x="914400" y="4910328"/>
            <a:ext cx="10058400" cy="384048"/>
          </a:xfrm>
          <a:prstGeom prst="rect">
            <a:avLst/>
          </a:prstGeom>
          <a:noFill/>
        </p:spPr>
        <p:txBody>
          <a:bodyPr wrap="square">
            <a:spAutoFit/>
          </a:bodyPr>
          <a:lstStyle/>
          <a:p>
            <a:pPr algn="ctr"/>
            <a:r>
              <a:rPr sz="1200" b="0" i="1">
                <a:solidFill>
                  <a:srgbClr val="556078"/>
                </a:solidFill>
              </a:rPr>
              <a:t>Mailpit:        https://mailstub.bensoft.be/</a:t>
            </a:r>
          </a:p>
        </p:txBody>
      </p:sp>
      <p:sp>
        <p:nvSpPr>
          <p:cNvPr id="12" name="TextBox 11"/>
          <p:cNvSpPr txBox="1"/>
          <p:nvPr/>
        </p:nvSpPr>
        <p:spPr>
          <a:xfrm>
            <a:off x="914400" y="5330952"/>
            <a:ext cx="10058400" cy="384048"/>
          </a:xfrm>
          <a:prstGeom prst="rect">
            <a:avLst/>
          </a:prstGeom>
          <a:noFill/>
        </p:spPr>
        <p:txBody>
          <a:bodyPr wrap="square">
            <a:spAutoFit/>
          </a:bodyPr>
          <a:lstStyle/>
          <a:p>
            <a:pPr algn="ctr"/>
            <a:r>
              <a:rPr sz="1200" b="0" i="1">
                <a:solidFill>
                  <a:srgbClr val="556078"/>
                </a:solidFill>
              </a:rPr>
              <a:t>Demo video:     https://youtu.be/wZveSgpKTf8</a:t>
            </a:r>
          </a:p>
        </p:txBody>
      </p:sp>
      <p:sp>
        <p:nvSpPr>
          <p:cNvPr id="17" name="TextBox 16"/>
          <p:cNvSpPr txBox="1"/>
          <p:nvPr/>
        </p:nvSpPr>
        <p:spPr>
          <a:xfrm>
            <a:off x="411480" y="6565392"/>
            <a:ext cx="8229600" cy="274320"/>
          </a:xfrm>
          <a:prstGeom prst="rect">
            <a:avLst/>
          </a:prstGeom>
          <a:noFill/>
        </p:spPr>
        <p:txBody>
          <a:bodyPr wrap="square" lIns="0" tIns="0" rIns="0" bIns="0" anchor="ctr">
            <a:spAutoFit/>
          </a:bodyPr>
          <a:lstStyle/>
          <a:p>
            <a:pPr algn="l"/>
            <a:r>
              <a:rPr sz="1000" b="0">
                <a:solidFill>
                  <a:srgbClr val="FFFFFF"/>
                </a:solidFill>
                <a:latin typeface="Calibri"/>
              </a:rPr>
              <a:t>WarriorFit  ·  Benoit Goethals  ·  May 2026</a:t>
            </a:r>
          </a:p>
        </p:txBody>
      </p:sp>
      <p:sp>
        <p:nvSpPr>
          <p:cNvPr id="18" name="Rounded Rectangle 17"/>
          <p:cNvSpPr/>
          <p:nvPr/>
        </p:nvSpPr>
        <p:spPr>
          <a:xfrm>
            <a:off x="10954512" y="6583680"/>
            <a:ext cx="914400" cy="237744"/>
          </a:xfrm>
          <a:prstGeom prst="roundRect">
            <a:avLst>
              <a:gd name="adj" fmla="val 50000"/>
            </a:avLst>
          </a:prstGeom>
          <a:solidFill>
            <a:srgbClr val="C89B3C"/>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B1F3A"/>
                </a:solidFill>
              </a:rPr>
              <a:t>20 / 20</a:t>
            </a:r>
          </a:p>
        </p:txBody>
      </p:sp>
      <p:sp>
        <p:nvSpPr>
          <p:cNvPr id="19" name="Rectangle 18"/>
          <p:cNvSpPr/>
          <p:nvPr/>
        </p:nvSpPr>
        <p:spPr>
          <a:xfrm>
            <a:off x="10177272" y="109728"/>
            <a:ext cx="1645920" cy="201168"/>
          </a:xfrm>
          <a:prstGeom prst="rect">
            <a:avLst/>
          </a:prstGeom>
          <a:solidFill>
            <a:srgbClr val="0B1F3A"/>
          </a:solidFill>
          <a:ln w="6350">
            <a:solidFill>
              <a:srgbClr val="C89B3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C89B3C"/>
                </a:solidFill>
                <a:latin typeface="Consolas"/>
              </a:rPr>
              <a:t>▌  UNCLASSIFIED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2383</Words>
  <Application>Microsoft Macintosh PowerPoint</Application>
  <PresentationFormat>Custom</PresentationFormat>
  <Paragraphs>449</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Benoit Goethals</cp:lastModifiedBy>
  <cp:revision>4</cp:revision>
  <dcterms:created xsi:type="dcterms:W3CDTF">2013-01-27T09:14:16Z</dcterms:created>
  <dcterms:modified xsi:type="dcterms:W3CDTF">2026-05-20T17:22:27Z</dcterms:modified>
  <cp:category/>
</cp:coreProperties>
</file>