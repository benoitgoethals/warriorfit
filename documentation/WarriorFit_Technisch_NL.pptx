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6" r:id="rId3"/>
    <p:sldId id="257" r:id="rId4"/>
    <p:sldId id="258" r:id="rId5"/>
    <p:sldId id="277" r:id="rId6"/>
    <p:sldId id="279" r:id="rId7"/>
    <p:sldId id="259" r:id="rId8"/>
    <p:sldId id="263" r:id="rId9"/>
    <p:sldId id="284" r:id="rId10"/>
    <p:sldId id="283" r:id="rId11"/>
    <p:sldId id="275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97"/>
    <p:restoredTop sz="94631"/>
  </p:normalViewPr>
  <p:slideViewPr>
    <p:cSldViewPr snapToGrid="0" snapToObjects="1">
      <p:cViewPr varScale="1">
        <p:scale>
          <a:sx n="149" d="100"/>
          <a:sy n="149" d="100"/>
        </p:scale>
        <p:origin x="103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348DCF-422B-CE47-AD03-2404ECB4BCFB}" type="datetimeFigureOut">
              <a:rPr lang="en-BE" smtClean="0"/>
              <a:t>6/24/26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11C5A2-6844-DC44-92D7-B5E8680DCEC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893160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BE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Role-Based Access Control</a:t>
            </a:r>
            <a:r>
              <a:rPr lang="en-BE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11C5A2-6844-DC44-92D7-B5E8680DCECE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726954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FitnessTest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= base met id,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serial_number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type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Subtypes: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PhefTest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CombatTestParatrooper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CombatSwimmingTest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FunctionalTest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,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MfftEvalTest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(2026)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polymorphic_identity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→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mfft_eval_test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Discriminator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ook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in PG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enum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typefitnesstest</a:t>
            </a:r>
            <a:endParaRPr lang="en-GB" sz="1200" b="0" dirty="0">
              <a:solidFill>
                <a:srgbClr val="222222"/>
              </a:solidFill>
              <a:latin typeface="Calibri"/>
            </a:endParaRP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selectin_polymorphic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in alle queries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voor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eager-loading</a:t>
            </a:r>
          </a:p>
          <a:p>
            <a:pPr algn="l"/>
            <a:r>
              <a:rPr lang="en-GB" sz="1200" b="0" dirty="0">
                <a:solidFill>
                  <a:srgbClr val="222222"/>
                </a:solidFill>
                <a:latin typeface="Calibri"/>
              </a:rPr>
              <a:t>• 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Eén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FitnessTestRepository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</a:t>
            </a:r>
            <a:r>
              <a:rPr lang="en-GB" sz="1200" b="0" dirty="0" err="1">
                <a:solidFill>
                  <a:srgbClr val="222222"/>
                </a:solidFill>
                <a:latin typeface="Calibri"/>
              </a:rPr>
              <a:t>serveert</a:t>
            </a:r>
            <a:r>
              <a:rPr lang="en-GB" sz="1200" b="0" dirty="0">
                <a:solidFill>
                  <a:srgbClr val="222222"/>
                </a:solidFill>
                <a:latin typeface="Calibri"/>
              </a:rPr>
              <a:t> alle subtypes</a:t>
            </a:r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11C5A2-6844-DC44-92D7-B5E8680DCECE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35223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237744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 dirty="0">
                <a:solidFill>
                  <a:srgbClr val="FFC107"/>
                </a:solidFill>
                <a:latin typeface="Calibri"/>
              </a:rPr>
              <a:t>⚔  TECHNISCHE VOORSTELLING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WarriorFit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20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200" b="1">
                <a:solidFill>
                  <a:srgbClr val="FFC107"/>
                </a:solidFill>
                <a:latin typeface="Calibri"/>
              </a:rPr>
              <a:t>Architectuur · Stack · Patronen · Security · Eval MFFT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C3B091"/>
                </a:solidFill>
                <a:latin typeface="Calibri"/>
              </a:rPr>
              <a:t>Shiny for Python · SQLAlchemy async · PostgreSQL · dependency-injector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>
                <a:solidFill>
                  <a:srgbClr val="C3B091"/>
                </a:solidFill>
                <a:latin typeface="Calibri"/>
              </a:rPr>
              <a:t>Benoit Goethals  ·  Academiejaar 2025-2026  ·  ~1 050 commits · 273 SP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oster with text and images&#10;&#10;AI-generated content may be incorrect.">
            <a:extLst>
              <a:ext uri="{FF2B5EF4-FFF2-40B4-BE49-F238E27FC236}">
                <a16:creationId xmlns:a16="http://schemas.microsoft.com/office/drawing/2014/main" id="{A3CFBF23-E9ED-619F-B608-33655316C8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119" y="101070"/>
            <a:ext cx="9983788" cy="6655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15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TECHNOLOGIE-STACK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Pure Python, volledig async, één gedeelde codebase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2743200" cy="1828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Shiny for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1.4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Reactive web UI · 24 pagina's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94560"/>
            <a:ext cx="2743200" cy="1828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SQLAlchemy 2.x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asyncio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ORM · joined-table inheritance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94560"/>
            <a:ext cx="274320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16 · SSL/TLS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Persistentie + audit + outbox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26880" y="2194560"/>
            <a:ext cx="2743200" cy="18288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237744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dependency-injector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88036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Singleton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4612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DI container · 40+ singletons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06240"/>
            <a:ext cx="2743200" cy="18288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Plotly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express+graph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Dashboards · histograms · gauges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206240"/>
            <a:ext cx="2743200" cy="18288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Argon2id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via passlib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Password hashing · non-blocking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206240"/>
            <a:ext cx="2743200" cy="18288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reportlab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A4 / landscape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PDF rapporten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4206240"/>
            <a:ext cx="2743200" cy="18288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326880" y="43891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4892040"/>
            <a:ext cx="2743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F5F1E6"/>
                </a:solidFill>
                <a:latin typeface="Calibri"/>
              </a:rPr>
              <a:t>asyncio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257800"/>
            <a:ext cx="27432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F5F1E6"/>
                </a:solidFill>
                <a:latin typeface="Calibri"/>
              </a:rPr>
              <a:t>171 groen · 30 MFFT-tests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Python 3.13+  ·  uv voor afhankelijkheden  ·  ruff (line-length 100) + mypy strict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ARCHITECTUUR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754" y="91440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 dirty="0" err="1">
                <a:solidFill>
                  <a:srgbClr val="222222"/>
                </a:solidFill>
                <a:latin typeface="Calibri"/>
              </a:rPr>
              <a:t>Gelaagde</a:t>
            </a:r>
            <a:r>
              <a:rPr sz="3200" b="1" dirty="0">
                <a:solidFill>
                  <a:srgbClr val="222222"/>
                </a:solidFill>
                <a:latin typeface="Calibri"/>
              </a:rPr>
              <a:t>, </a:t>
            </a:r>
            <a:r>
              <a:rPr sz="3200" b="1" dirty="0" err="1">
                <a:solidFill>
                  <a:srgbClr val="222222"/>
                </a:solidFill>
                <a:latin typeface="Calibri"/>
              </a:rPr>
              <a:t>unidirectionele</a:t>
            </a:r>
            <a:r>
              <a:rPr sz="3200" b="1" dirty="0">
                <a:solidFill>
                  <a:srgbClr val="222222"/>
                </a:solidFill>
                <a:latin typeface="Calibri"/>
              </a:rPr>
              <a:t> </a:t>
            </a:r>
            <a:r>
              <a:rPr sz="3200" b="1" dirty="0" err="1">
                <a:solidFill>
                  <a:srgbClr val="222222"/>
                </a:solidFill>
                <a:latin typeface="Calibri"/>
              </a:rPr>
              <a:t>afhankelijkheidsstroom</a:t>
            </a:r>
            <a:endParaRPr sz="3200" b="1" dirty="0">
              <a:solidFill>
                <a:srgbClr val="222222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4864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24942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UI · Shiny Pages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4203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24 pagina's · RBAC per 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71800"/>
            <a:ext cx="54864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02666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1927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21 controllers · reactive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5486400" cy="64008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3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Services + Broker + Calculators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96511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Async business logic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26279"/>
            <a:ext cx="5486400" cy="64008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581143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Repositories (async)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73751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Polymorphic FitnessTest queries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03520"/>
            <a:ext cx="5486400" cy="64008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358384"/>
            <a:ext cx="51206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ORM Models +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50992"/>
            <a:ext cx="5120640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F5F1E6"/>
                </a:solidFill>
                <a:latin typeface="Calibri"/>
              </a:rPr>
              <a:t>Joined-table inheritance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114800"/>
            <a:ext cx="365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400" b="1">
                <a:solidFill>
                  <a:srgbClr val="334218"/>
                </a:solidFill>
                <a:latin typeface="Calibri"/>
              </a:rPr>
              <a:t>↓</a:t>
            </a:r>
          </a:p>
        </p:txBody>
      </p:sp>
      <p:pic>
        <p:nvPicPr>
          <p:cNvPr id="22" name="Picture 21" descr="overview-WARRIORFIT_Architectuu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26867"/>
            <a:ext cx="5029200" cy="354162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643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PROJECT TIJDLIJN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64305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9 maanden van prototype naar productie-pilot  ·  Sep 2025 → Q3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8640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66671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964702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662733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60764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58795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756826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54857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52888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850919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548950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246981" y="1470000"/>
            <a:ext cx="698031" cy="4485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945012" y="1470000"/>
            <a:ext cx="698031" cy="4485000"/>
          </a:xfrm>
          <a:prstGeom prst="rect">
            <a:avLst/>
          </a:prstGeom>
          <a:solidFill>
            <a:srgbClr val="CCC7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548950" y="1800000"/>
            <a:ext cx="2094093" cy="4175000"/>
          </a:xfrm>
          <a:prstGeom prst="rect">
            <a:avLst/>
          </a:prstGeom>
          <a:solidFill>
            <a:srgbClr val="EB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72640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22222"/>
                </a:solidFill>
              </a:rPr>
              <a:t>Sep '25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0671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Okt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702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Nov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6733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Dec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64764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22222"/>
                </a:solidFill>
              </a:rPr>
              <a:t>Jan '26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2795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Feb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0826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Mrt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8857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Apr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888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Mei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4919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Jun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2950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Jul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0981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222222"/>
                </a:solidFill>
              </a:rPr>
              <a:t>Aug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49012" y="1520000"/>
            <a:ext cx="690031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22222"/>
                </a:solidFill>
              </a:rPr>
              <a:t>Sep '26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8764" y="1470000"/>
            <a:ext cx="24000" cy="4485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1990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8640" y="1990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640" y="1830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Fundament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640" y="2050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Sep 2025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73640" y="1840000"/>
            <a:ext cx="688031" cy="57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548640" y="2695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48640" y="269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3640" y="2535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Testmodules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3640" y="2755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Okt 2025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71671" y="2545000"/>
            <a:ext cx="688031" cy="57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548640" y="3400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48640" y="3400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3640" y="3240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Broker &amp; Docker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3640" y="3460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Nov 2025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69702" y="3250000"/>
            <a:ext cx="688031" cy="57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48640" y="4105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8640" y="410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640" y="3945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Stabilisatie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3640" y="4165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Dec '25–Feb '26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667733" y="3955000"/>
            <a:ext cx="2084093" cy="5700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722733" y="3995000"/>
            <a:ext cx="2004093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334218"/>
                </a:solidFill>
              </a:rPr>
              <a:t>Cross App · Status pagina  ·  Config per environment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810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4810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3640" y="4650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Security &amp; UX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3640" y="4870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Mrt–Mei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761826" y="4660000"/>
            <a:ext cx="2084093" cy="57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816826" y="4700000"/>
            <a:ext cx="2004093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F5F1E6"/>
                </a:solidFill>
              </a:rPr>
              <a:t>Argon2id  ·  GDPR/AVG consent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515000"/>
            <a:ext cx="270000" cy="27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515000"/>
            <a:ext cx="27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34218"/>
                </a:solidFill>
              </a:rPr>
              <a:t>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3640" y="5355000"/>
            <a:ext cx="1655000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</a:rPr>
              <a:t>MFFT &amp; I18N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3640" y="5575000"/>
            <a:ext cx="1655000" cy="1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555555"/>
                </a:solidFill>
              </a:rPr>
              <a:t>Jun 2026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855919" y="5365000"/>
            <a:ext cx="688031" cy="57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368076" y="1790000"/>
            <a:ext cx="36000" cy="4195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ounded Rectangle 66"/>
          <p:cNvSpPr/>
          <p:nvPr/>
        </p:nvSpPr>
        <p:spPr>
          <a:xfrm>
            <a:off x="9156076" y="6015000"/>
            <a:ext cx="460000" cy="20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156076" y="6015000"/>
            <a:ext cx="46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334218"/>
                </a:solidFill>
              </a:rPr>
              <a:t>▼  Vandaag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53950" y="5365000"/>
            <a:ext cx="2084093" cy="570000"/>
          </a:xfrm>
          <a:prstGeom prst="roundRect">
            <a:avLst/>
          </a:prstGeom>
          <a:solidFill>
            <a:srgbClr val="C3B091"/>
          </a:solidFill>
          <a:ln w="12700">
            <a:solidFill>
              <a:srgbClr val="4A5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608950" y="5425000"/>
            <a:ext cx="2014093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34218"/>
                </a:solidFill>
              </a:rPr>
              <a:t>→  Productie-pilot  (gepland Q3 2026)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88950" y="1480000"/>
            <a:ext cx="2014093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</a:rPr>
              <a:t>← gepland 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WarriorFit  ·  Technische voorstelling  ·  Benoit Goethals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19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16430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</a:rPr>
              <a:t>BACKLOG HIËRARCHIE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164305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</a:rPr>
              <a:t>Epics  →  User Stories  →  Test Cases  ·  94 / 94 stories opgeleverd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0000"/>
            <a:ext cx="3498138" cy="220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460000"/>
            <a:ext cx="3498138" cy="33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25000"/>
            <a:ext cx="3498138" cy="165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88640" y="1520000"/>
            <a:ext cx="3418138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EPIC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640" y="1795000"/>
            <a:ext cx="3418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FFC107"/>
                </a:solidFill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640" y="2220000"/>
            <a:ext cx="3418138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dirty="0">
                <a:solidFill>
                  <a:srgbClr val="F5F1E6"/>
                </a:solidFill>
              </a:rPr>
              <a:t>epics  ·  273 SP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8640" y="2450000"/>
            <a:ext cx="3258138" cy="20000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8640" y="2500000"/>
            <a:ext cx="3358138" cy="1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F1E6"/>
                </a:solidFill>
              </a:rPr>
              <a:t>Must / Should / Could / Won't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Per module of functionaliteitsdomein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Grootst: E21 MFFT (30 SP)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E8 Cross (28 SP)  ·  E20 GDPR (25 SP)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Beheerd in GitHub Issues &amp; Projects</a:t>
            </a:r>
          </a:p>
        </p:txBody>
      </p:sp>
      <p:sp>
        <p:nvSpPr>
          <p:cNvPr id="14" name="Can 13"/>
          <p:cNvSpPr/>
          <p:nvPr/>
        </p:nvSpPr>
        <p:spPr>
          <a:xfrm>
            <a:off x="4056778" y="2360000"/>
            <a:ext cx="280000" cy="400000"/>
          </a:xfrm>
          <a:prstGeom prst="can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346778" y="1460000"/>
            <a:ext cx="3498138" cy="220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346778" y="1460000"/>
            <a:ext cx="3498138" cy="33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346778" y="1625000"/>
            <a:ext cx="3498138" cy="165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6778" y="1520000"/>
            <a:ext cx="3418138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USER STORY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6778" y="1820000"/>
            <a:ext cx="3418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dirty="0">
                <a:solidFill>
                  <a:srgbClr val="FFC107"/>
                </a:solidFill>
              </a:rPr>
              <a:t>94</a:t>
            </a:r>
            <a:endParaRPr sz="3600" b="1" dirty="0">
              <a:solidFill>
                <a:srgbClr val="FFC107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86778" y="2220000"/>
            <a:ext cx="3418138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F5F1E6"/>
                </a:solidFill>
              </a:rPr>
              <a:t>stories  ·  Ø 2.9 SP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66778" y="2450000"/>
            <a:ext cx="3258138" cy="20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16778" y="2500000"/>
            <a:ext cx="3358138" cy="1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5F1E6"/>
                </a:solidFill>
              </a:rPr>
              <a:t>"Als [rol] wil ik [actie]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 zodat [resultaat]"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Acceptance criteria per story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MoSCoW-prioriteit per epic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Functioneel + niet-functioneel</a:t>
            </a:r>
          </a:p>
          <a:p>
            <a:pPr algn="l"/>
            <a:r>
              <a:rPr sz="900" b="0">
                <a:solidFill>
                  <a:srgbClr val="F5F1E6"/>
                </a:solidFill>
              </a:rPr>
              <a:t>Alle 94 stories opgeleverd ✓</a:t>
            </a:r>
          </a:p>
        </p:txBody>
      </p:sp>
      <p:sp>
        <p:nvSpPr>
          <p:cNvPr id="23" name="Can 22"/>
          <p:cNvSpPr/>
          <p:nvPr/>
        </p:nvSpPr>
        <p:spPr>
          <a:xfrm>
            <a:off x="7854916" y="2360000"/>
            <a:ext cx="280000" cy="400000"/>
          </a:xfrm>
          <a:prstGeom prst="can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144916" y="1460000"/>
            <a:ext cx="3498138" cy="22000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144916" y="1460000"/>
            <a:ext cx="3498138" cy="33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44916" y="1625000"/>
            <a:ext cx="3498138" cy="165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84916" y="1520000"/>
            <a:ext cx="3418138" cy="2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TEST 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4916" y="1820000"/>
            <a:ext cx="341813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C107"/>
                </a:solidFill>
              </a:rPr>
              <a:t>171+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4916" y="2220000"/>
            <a:ext cx="3418138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>
                <a:solidFill>
                  <a:srgbClr val="222222"/>
                </a:solidFill>
              </a:rPr>
              <a:t>geautomatiseerde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64916" y="2450000"/>
            <a:ext cx="3258138" cy="20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14916" y="2500000"/>
            <a:ext cx="3358138" cy="11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22222"/>
                </a:solidFill>
              </a:rPr>
              <a:t>pytest + asyncio testrunner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PhefCalculator: score + grades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MfftEvalCalculator: 30 tests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BrokerService: DTO · lifecycle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ApplicationConfig: YAML load</a:t>
            </a:r>
          </a:p>
          <a:p>
            <a:pPr algn="l"/>
            <a:r>
              <a:rPr sz="900" b="0">
                <a:solidFill>
                  <a:srgbClr val="222222"/>
                </a:solidFill>
              </a:rPr>
              <a:t>+ manuele UI / security tests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20000"/>
            <a:ext cx="11094415" cy="26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950000"/>
            <a:ext cx="11094415" cy="130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8640" y="3860000"/>
            <a:ext cx="10934415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C107"/>
                </a:solidFill>
              </a:rPr>
              <a:t>TOP 8 EPICS  ·  Story Points  ·  alle 22 epics 100 % opgeleverd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E21  MFFT Eval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98640" y="4125000"/>
            <a:ext cx="8844415" cy="21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373055" y="41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30 SP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E8   Cross &amp; Statistics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498640" y="4425000"/>
            <a:ext cx="8254787" cy="21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3427" y="44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28 SP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7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E20  GDPR / Privacy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98640" y="4725000"/>
            <a:ext cx="7370345" cy="21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898985" y="47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25 SP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0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E3   PHEF Test Input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98640" y="5025000"/>
            <a:ext cx="5306649" cy="21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835289" y="50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18 SP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3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E1   User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498640" y="5325000"/>
            <a:ext cx="5306649" cy="21000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835289" y="53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18 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6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E2   Session Planning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498640" y="5625000"/>
            <a:ext cx="4422207" cy="210000"/>
          </a:xfrm>
          <a:prstGeom prst="roundRect">
            <a:avLst/>
          </a:prstGeom>
          <a:solidFill>
            <a:srgbClr val="C3B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50847" y="56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15 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9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E10  Individual History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498640" y="5925000"/>
            <a:ext cx="4422207" cy="210000"/>
          </a:xfrm>
          <a:prstGeom prst="round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950847" y="59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15 SP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15000"/>
            <a:ext cx="193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22222"/>
                </a:solidFill>
              </a:rPr>
              <a:t>E6   Functional Test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498640" y="6225000"/>
            <a:ext cx="3537766" cy="210000"/>
          </a:xfrm>
          <a:prstGeom prst="round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66406" y="6215000"/>
            <a:ext cx="28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555555"/>
                </a:solidFill>
              </a:rPr>
              <a:t>12 SP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</a:rPr>
              <a:t>WarriorFit  ·  Technische voorstelling  ·  Benoit Goethals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</a:rPr>
              <a:t>21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4 / 20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C7014-910A-AD78-B9A7-55374ABC1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31" y="337596"/>
            <a:ext cx="9661369" cy="64409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FFC107"/>
                </a:solidFill>
                <a:latin typeface="Calibri"/>
              </a:rPr>
              <a:t>POLYMORPHIC FITNESSTEST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1097280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200" b="1">
                <a:solidFill>
                  <a:srgbClr val="222222"/>
                </a:solidFill>
                <a:latin typeface="Calibri"/>
              </a:rPr>
              <a:t>Joined-table inheritance via type-discriminator</a:t>
            </a:r>
          </a:p>
        </p:txBody>
      </p:sp>
      <p:pic>
        <p:nvPicPr>
          <p:cNvPr id="6" name="Picture 5" descr="datamod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92505"/>
            <a:ext cx="11094720" cy="4813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WarriorFit  ·  Technische voorstelling  ·  Benoit Goethals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55555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 descr="Systeemarchitectuur en rapportagestructuur">
            <a:extLst>
              <a:ext uri="{FF2B5EF4-FFF2-40B4-BE49-F238E27FC236}">
                <a16:creationId xmlns:a16="http://schemas.microsoft.com/office/drawing/2014/main" id="{33C1E0B2-E84E-57C5-789B-C48136ED14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961260" cy="196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 descr="A diagram of a software flowchart&#10;&#10;AI-generated content may be incorrect.">
            <a:extLst>
              <a:ext uri="{FF2B5EF4-FFF2-40B4-BE49-F238E27FC236}">
                <a16:creationId xmlns:a16="http://schemas.microsoft.com/office/drawing/2014/main" id="{F97CAEED-10EC-0A69-1F5B-8CCA5651A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13" y="25875"/>
            <a:ext cx="10280590" cy="6853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374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A5D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9" name="TB"/>
          <p:cNvSpPr txBox="1">
            <a:spLocks noGrp="1"/>
          </p:cNvSpPr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b="1" dirty="0">
                <a:solidFill>
                  <a:srgbClr val="FFC107"/>
                </a:solidFill>
              </a:rPr>
              <a:t>SECURITY &amp; AVG/GDPR</a:t>
            </a:r>
          </a:p>
        </p:txBody>
      </p:sp>
      <p:sp>
        <p:nvSpPr>
          <p:cNvPr id="4" name="TB"/>
          <p:cNvSpPr txBox="1">
            <a:spLocks noGrp="1"/>
          </p:cNvSpPr>
          <p:nvPr/>
        </p:nvSpPr>
        <p:spPr>
          <a:xfrm>
            <a:off x="548640" y="868680"/>
            <a:ext cx="109728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3200" b="1" dirty="0">
                <a:solidFill>
                  <a:srgbClr val="222222"/>
                </a:solidFill>
              </a:rPr>
              <a:t>OWASP · NIST CSF 2.0 · PostgreSQL TLS  ·  Art. 7/15/17/20 AVG</a:t>
            </a:r>
          </a:p>
        </p:txBody>
      </p:sp>
      <p:sp>
        <p:nvSpPr>
          <p:cNvPr id="5" name="TB"/>
          <p:cNvSpPr txBox="1">
            <a:spLocks noGrp="1"/>
          </p:cNvSpPr>
          <p:nvPr/>
        </p:nvSpPr>
        <p:spPr>
          <a:xfrm>
            <a:off x="548640" y="1520000"/>
            <a:ext cx="3400000" cy="50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600" b="1" dirty="0">
                <a:solidFill>
                  <a:srgbClr val="FFC107"/>
                </a:solidFill>
              </a:rPr>
              <a:t>Authenticatie &amp; Authorisatie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Argon2id (passlib), non-blocking</a:t>
            </a:r>
          </a:p>
          <a:p>
            <a:r>
              <a:rPr lang="nl-BE" sz="1200" dirty="0">
                <a:solidFill>
                  <a:srgbClr val="555555"/>
                </a:solidFill>
              </a:rPr>
              <a:t>   via asyncio.to_thread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Login-modaal met masked toggle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Serial-only login voor militairen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UserStore per sessie (PR #217)</a:t>
            </a:r>
          </a:p>
          <a:p>
            <a:r>
              <a:rPr lang="nl-BE" sz="1200" dirty="0">
                <a:solidFill>
                  <a:srgbClr val="555555"/>
                </a:solidFill>
              </a:rPr>
              <a:t>   → geen cross-sessie leakage</a:t>
            </a:r>
          </a:p>
          <a:p>
            <a:endParaRPr lang="nl-BE" sz="1200" dirty="0">
              <a:solidFill>
                <a:srgbClr val="555555"/>
              </a:solidFill>
            </a:endParaRPr>
          </a:p>
          <a:p>
            <a:r>
              <a:rPr lang="nl-BE" sz="1200" b="1" dirty="0">
                <a:solidFill>
                  <a:srgbClr val="444444"/>
                </a:solidFill>
              </a:rPr>
              <a:t>RBAC</a:t>
            </a:r>
          </a:p>
          <a:p>
            <a:pPr>
              <a:spcBef>
                <a:spcPts val="50"/>
              </a:spcBef>
            </a:pPr>
            <a:r>
              <a:rPr lang="nl-BE" sz="1200" dirty="0">
                <a:solidFill>
                  <a:srgbClr val="333333"/>
                </a:solidFill>
              </a:rPr>
              <a:t>6 rollen: ADMIN PTI APTI PLANNER GUEST USER</a:t>
            </a:r>
          </a:p>
          <a:p>
            <a:r>
              <a:rPr lang="nl-BE" sz="1200" dirty="0">
                <a:solidFill>
                  <a:srgbClr val="333333"/>
                </a:solidFill>
              </a:rPr>
              <a:t>PageSpec.allowed_roles → paginabeveiliging</a:t>
            </a:r>
          </a:p>
          <a:p>
            <a:r>
              <a:rPr lang="nl-BE" sz="1200" dirty="0">
                <a:solidFill>
                  <a:srgbClr val="333333"/>
                </a:solidFill>
              </a:rPr>
              <a:t>_assert_can_modify_tests() in ServiceTest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MOM X-API-Key (constant-time compare)</a:t>
            </a:r>
          </a:p>
        </p:txBody>
      </p:sp>
      <p:sp>
        <p:nvSpPr>
          <p:cNvPr id="6" name="TB"/>
          <p:cNvSpPr txBox="1">
            <a:spLocks noGrp="1"/>
          </p:cNvSpPr>
          <p:nvPr/>
        </p:nvSpPr>
        <p:spPr>
          <a:xfrm>
            <a:off x="4048640" y="1520000"/>
            <a:ext cx="3300000" cy="50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600" b="1" dirty="0">
                <a:solidFill>
                  <a:srgbClr val="FFC107"/>
                </a:solidFill>
              </a:rPr>
              <a:t>Infra &amp; Compliance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PostgreSQL SSL/TLS + ssl_root_cert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CORS lockdown (methods/headers/origins)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Docker read-only volume voor settings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NIST CSF 2.0 self-assessment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SECURITY.md: OWASP Top 10 review</a:t>
            </a:r>
          </a:p>
          <a:p>
            <a:endParaRPr lang="nl-BE" sz="1200" dirty="0">
              <a:solidFill>
                <a:srgbClr val="333333"/>
              </a:solidFill>
            </a:endParaRPr>
          </a:p>
          <a:p>
            <a:r>
              <a:rPr lang="nl-BE" sz="1600" b="1" dirty="0">
                <a:solidFill>
                  <a:srgbClr val="FFC107"/>
                </a:solidFill>
              </a:rPr>
              <a:t>Dashboard &amp; Analytics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Plotly + async aggregaties per eenheid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Coverage gauges + leeftijdscategorie</a:t>
            </a:r>
          </a:p>
          <a:p>
            <a:r>
              <a:rPr lang="nl-BE" sz="1200" dirty="0">
                <a:solidFill>
                  <a:srgbClr val="555555"/>
                </a:solidFill>
              </a:rPr>
              <a:t>   pass rate + maandelijkse trend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MFFT-bottleneck + per-event histogrammen</a:t>
            </a:r>
          </a:p>
        </p:txBody>
      </p:sp>
      <p:sp>
        <p:nvSpPr>
          <p:cNvPr id="7" name="TB"/>
          <p:cNvSpPr txBox="1">
            <a:spLocks noGrp="1"/>
          </p:cNvSpPr>
          <p:nvPr/>
        </p:nvSpPr>
        <p:spPr>
          <a:xfrm>
            <a:off x="7448640" y="1520000"/>
            <a:ext cx="4072800" cy="500000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600" b="1" dirty="0">
                <a:solidFill>
                  <a:srgbClr val="FFC107"/>
                </a:solidFill>
              </a:rPr>
              <a:t>AVG / GDPR</a:t>
            </a:r>
          </a:p>
          <a:p>
            <a:endParaRPr lang="nl-BE" sz="1600" b="1" dirty="0">
              <a:solidFill>
                <a:srgbClr val="FFC107"/>
              </a:solidFill>
            </a:endParaRPr>
          </a:p>
          <a:p>
            <a:r>
              <a:rPr lang="nl-BE" sz="1200" dirty="0">
                <a:solidFill>
                  <a:srgbClr val="333333"/>
                </a:solidFill>
              </a:rPr>
              <a:t>•  UserConsent-tabel (append-only)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7 — toestemming via Privacy-pagina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15 — JSON-export testdata + sessies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20 — portabele data-export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Art. 17 — RetentionService + _purge_*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Audit log: CREATE / UPDATE / DELETE</a:t>
            </a:r>
          </a:p>
          <a:p>
            <a:r>
              <a:rPr lang="nl-BE" sz="1200" dirty="0">
                <a:solidFill>
                  <a:srgbClr val="333333"/>
                </a:solidFill>
              </a:rPr>
              <a:t>•  Admin: consent-status per militair</a:t>
            </a:r>
          </a:p>
          <a:p>
            <a:endParaRPr lang="nl-BE" sz="1200" dirty="0">
              <a:solidFill>
                <a:srgbClr val="333333"/>
              </a:solidFill>
            </a:endParaRPr>
          </a:p>
          <a:p>
            <a:r>
              <a:rPr lang="nl-BE" sz="1200" b="1" dirty="0">
                <a:solidFill>
                  <a:srgbClr val="444444"/>
                </a:solidFill>
              </a:rPr>
              <a:t>Documentatie</a:t>
            </a:r>
          </a:p>
          <a:p>
            <a:pPr>
              <a:spcBef>
                <a:spcPts val="50"/>
              </a:spcBef>
            </a:pPr>
            <a:r>
              <a:rPr lang="nl-BE" sz="1200" dirty="0">
                <a:solidFill>
                  <a:srgbClr val="555555"/>
                </a:solidFill>
              </a:rPr>
              <a:t>PRIVACY_POLICY.md  ·  DPIA.md</a:t>
            </a:r>
          </a:p>
          <a:p>
            <a:r>
              <a:rPr lang="nl-BE" sz="1200" dirty="0">
                <a:solidFill>
                  <a:srgbClr val="555555"/>
                </a:solidFill>
              </a:rPr>
              <a:t>NIST_CSF_2.0.md  ·  SECURITY.md</a:t>
            </a:r>
          </a:p>
          <a:p>
            <a:r>
              <a:rPr lang="nl-BE" sz="1200" dirty="0">
                <a:solidFill>
                  <a:srgbClr val="555555"/>
                </a:solidFill>
              </a:rPr>
              <a:t>AuditLog ORM + audit_logs tabel</a:t>
            </a:r>
          </a:p>
        </p:txBody>
      </p:sp>
      <p:sp>
        <p:nvSpPr>
          <p:cNvPr id="8" name="TB"/>
          <p:cNvSpPr txBox="1">
            <a:spLocks noGrp="1"/>
          </p:cNvSpPr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200" dirty="0">
                <a:solidFill>
                  <a:srgbClr val="555555"/>
                </a:solidFill>
              </a:rPr>
              <a:t>WarriorFit  ·  Technische voorstelling  ·  Benoit Goethals</a:t>
            </a:r>
          </a:p>
        </p:txBody>
      </p:sp>
      <p:sp>
        <p:nvSpPr>
          <p:cNvPr id="9" name="TB"/>
          <p:cNvSpPr txBox="1">
            <a:spLocks noGrp="1"/>
          </p:cNvSpPr>
          <p:nvPr/>
        </p:nvSpPr>
        <p:spPr>
          <a:xfrm>
            <a:off x="10515600" y="6446520"/>
            <a:ext cx="12801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r>
              <a:rPr lang="nl-BE" sz="1200" dirty="0">
                <a:solidFill>
                  <a:srgbClr val="555555"/>
                </a:solidFill>
              </a:rPr>
              <a:t>12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342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FFC107"/>
                </a:solidFill>
                <a:latin typeface="Calibri"/>
              </a:rPr>
              <a:t>VOLGENDE STAPPEN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868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Productie-pilot Q3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Korte termijn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32004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BEMIL-API productie-koppeling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SSO voor militair-login (Defensie IdP)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Admin UI voor dead-letter queue</a:t>
            </a:r>
          </a:p>
          <a:p>
            <a:pPr algn="l"/>
            <a:r>
              <a:rPr sz="1300" b="0">
                <a:solidFill>
                  <a:srgbClr val="F5F1E6"/>
                </a:solidFill>
                <a:latin typeface="Calibri"/>
              </a:rPr>
              <a:t>→  i18n missing-key linter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Middel-lang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017520"/>
            <a:ext cx="3200400" cy="129266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MFFT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scoretabellen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configureerbaar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(YAML / DB)</a:t>
            </a: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Per-soldier drill-down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vanuit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Analytics-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grafieken</a:t>
            </a:r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OPS_SP / TER_SP cluster-support op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personeel-niveau</a:t>
            </a:r>
            <a:endParaRPr sz="1300" b="0" dirty="0">
              <a:solidFill>
                <a:srgbClr val="F5F1E6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046720" y="2194560"/>
            <a:ext cx="3566160" cy="3840480"/>
          </a:xfrm>
          <a:prstGeom prst="roundRect">
            <a:avLst/>
          </a:prstGeom>
          <a:solidFill>
            <a:srgbClr val="4A5D23"/>
          </a:solidFill>
          <a:ln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FFC107"/>
                </a:solidFill>
                <a:latin typeface="Calibri"/>
              </a:rPr>
              <a:t>Lang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017520"/>
            <a:ext cx="3200400" cy="8925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Roll-out per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bataljo</a:t>
            </a:r>
            <a:r>
              <a:rPr lang="nl-BE" sz="1300" b="0" dirty="0">
                <a:solidFill>
                  <a:srgbClr val="F5F1E6"/>
                </a:solidFill>
                <a:latin typeface="Calibri"/>
              </a:rPr>
              <a:t>n</a:t>
            </a:r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Cross-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eenheid</a:t>
            </a:r>
            <a:r>
              <a:rPr sz="1300" b="0" dirty="0">
                <a:solidFill>
                  <a:srgbClr val="F5F1E6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F5F1E6"/>
                </a:solidFill>
                <a:latin typeface="Calibri"/>
              </a:rPr>
              <a:t>statistieken</a:t>
            </a:r>
            <a:endParaRPr sz="1300" b="0" dirty="0">
              <a:solidFill>
                <a:srgbClr val="F5F1E6"/>
              </a:solidFill>
              <a:latin typeface="Calibri"/>
            </a:endParaRPr>
          </a:p>
          <a:p>
            <a:pPr algn="l"/>
            <a:r>
              <a:rPr sz="1300" b="0" dirty="0">
                <a:solidFill>
                  <a:srgbClr val="F5F1E6"/>
                </a:solidFill>
                <a:latin typeface="Calibri"/>
              </a:rPr>
              <a:t>→  Mobile-companion (Shiny Express)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C3B091"/>
                </a:solidFill>
                <a:latin typeface="Calibri"/>
              </a:rPr>
              <a:t>benoit.goethals@gmail.com  ·  github.com/BenoitGoethals/WarriorFit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3693</TotalTime>
  <Words>915</Words>
  <Application>Microsoft Macintosh PowerPoint</Application>
  <PresentationFormat>Widescreen</PresentationFormat>
  <Paragraphs>213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Benoit Goethals</cp:lastModifiedBy>
  <cp:revision>8</cp:revision>
  <dcterms:created xsi:type="dcterms:W3CDTF">2013-01-27T09:14:16Z</dcterms:created>
  <dcterms:modified xsi:type="dcterms:W3CDTF">2026-06-24T10:01:38Z</dcterms:modified>
  <cp:category/>
</cp:coreProperties>
</file>