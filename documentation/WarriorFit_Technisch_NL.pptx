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76" r:id="rId3"/>
    <p:sldId id="257" r:id="rId4"/>
    <p:sldId id="258" r:id="rId5"/>
    <p:sldId id="277" r:id="rId6"/>
    <p:sldId id="279" r:id="rId7"/>
    <p:sldId id="259" r:id="rId8"/>
    <p:sldId id="263" r:id="rId9"/>
    <p:sldId id="284" r:id="rId10"/>
    <p:sldId id="283" r:id="rId11"/>
    <p:sldId id="275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897"/>
    <p:restoredTop sz="94631"/>
  </p:normalViewPr>
  <p:slideViewPr>
    <p:cSldViewPr snapToGrid="0" snapToObjects="1">
      <p:cViewPr varScale="1">
        <p:scale>
          <a:sx n="149" d="100"/>
          <a:sy n="149" d="100"/>
        </p:scale>
        <p:origin x="1032" y="1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B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7348DCF-422B-CE47-AD03-2404ECB4BCFB}" type="datetimeFigureOut">
              <a:rPr lang="en-BE" smtClean="0"/>
              <a:t>6/24/26</a:t>
            </a:fld>
            <a:endParaRPr lang="en-B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B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C11C5A2-6844-DC44-92D7-B5E8680DCEC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9893160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BE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Role-Based Access Control</a:t>
            </a:r>
            <a:r>
              <a:rPr lang="en-BE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11C5A2-6844-DC44-92D7-B5E8680DCECE}" type="slidenum">
              <a:rPr lang="en-BE" smtClean="0"/>
              <a:t>4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7269546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en-GB" sz="1200" b="0" dirty="0" err="1">
                <a:solidFill>
                  <a:srgbClr val="222222"/>
                </a:solidFill>
                <a:latin typeface="Calibri"/>
              </a:rPr>
              <a:t>FitnessTest</a:t>
            </a:r>
            <a:r>
              <a:rPr lang="en-GB" sz="1200" b="0" dirty="0">
                <a:solidFill>
                  <a:srgbClr val="222222"/>
                </a:solidFill>
                <a:latin typeface="Calibri"/>
              </a:rPr>
              <a:t> = base met id, </a:t>
            </a:r>
            <a:r>
              <a:rPr lang="en-GB" sz="1200" b="0" dirty="0" err="1">
                <a:solidFill>
                  <a:srgbClr val="222222"/>
                </a:solidFill>
                <a:latin typeface="Calibri"/>
              </a:rPr>
              <a:t>serial_number</a:t>
            </a:r>
            <a:r>
              <a:rPr lang="en-GB" sz="1200" b="0" dirty="0">
                <a:solidFill>
                  <a:srgbClr val="222222"/>
                </a:solidFill>
                <a:latin typeface="Calibri"/>
              </a:rPr>
              <a:t>, type</a:t>
            </a:r>
          </a:p>
          <a:p>
            <a:pPr algn="l"/>
            <a:r>
              <a:rPr lang="en-GB" sz="1200" b="0" dirty="0">
                <a:solidFill>
                  <a:srgbClr val="222222"/>
                </a:solidFill>
                <a:latin typeface="Calibri"/>
              </a:rPr>
              <a:t>•  Subtypes: </a:t>
            </a:r>
            <a:r>
              <a:rPr lang="en-GB" sz="1200" b="0" dirty="0" err="1">
                <a:solidFill>
                  <a:srgbClr val="222222"/>
                </a:solidFill>
                <a:latin typeface="Calibri"/>
              </a:rPr>
              <a:t>PhefTest</a:t>
            </a:r>
            <a:r>
              <a:rPr lang="en-GB" sz="1200" b="0" dirty="0">
                <a:solidFill>
                  <a:srgbClr val="222222"/>
                </a:solidFill>
                <a:latin typeface="Calibri"/>
              </a:rPr>
              <a:t>, </a:t>
            </a:r>
            <a:r>
              <a:rPr lang="en-GB" sz="1200" b="0" dirty="0" err="1">
                <a:solidFill>
                  <a:srgbClr val="222222"/>
                </a:solidFill>
                <a:latin typeface="Calibri"/>
              </a:rPr>
              <a:t>CombatTestParatrooper</a:t>
            </a:r>
            <a:r>
              <a:rPr lang="en-GB" sz="1200" b="0" dirty="0">
                <a:solidFill>
                  <a:srgbClr val="222222"/>
                </a:solidFill>
                <a:latin typeface="Calibri"/>
              </a:rPr>
              <a:t>, </a:t>
            </a:r>
            <a:r>
              <a:rPr lang="en-GB" sz="1200" b="0" dirty="0" err="1">
                <a:solidFill>
                  <a:srgbClr val="222222"/>
                </a:solidFill>
                <a:latin typeface="Calibri"/>
              </a:rPr>
              <a:t>CombatSwimmingTest</a:t>
            </a:r>
            <a:r>
              <a:rPr lang="en-GB" sz="1200" b="0" dirty="0">
                <a:solidFill>
                  <a:srgbClr val="222222"/>
                </a:solidFill>
                <a:latin typeface="Calibri"/>
              </a:rPr>
              <a:t>, </a:t>
            </a:r>
            <a:r>
              <a:rPr lang="en-GB" sz="1200" b="0" dirty="0" err="1">
                <a:solidFill>
                  <a:srgbClr val="222222"/>
                </a:solidFill>
                <a:latin typeface="Calibri"/>
              </a:rPr>
              <a:t>FunctionalTest</a:t>
            </a:r>
            <a:r>
              <a:rPr lang="en-GB" sz="1200" b="0" dirty="0">
                <a:solidFill>
                  <a:srgbClr val="222222"/>
                </a:solidFill>
                <a:latin typeface="Calibri"/>
              </a:rPr>
              <a:t>, </a:t>
            </a:r>
            <a:r>
              <a:rPr lang="en-GB" sz="1200" b="0" dirty="0" err="1">
                <a:solidFill>
                  <a:srgbClr val="222222"/>
                </a:solidFill>
                <a:latin typeface="Calibri"/>
              </a:rPr>
              <a:t>MfftEvalTest</a:t>
            </a:r>
            <a:r>
              <a:rPr lang="en-GB" sz="1200" b="0" dirty="0">
                <a:solidFill>
                  <a:srgbClr val="222222"/>
                </a:solidFill>
                <a:latin typeface="Calibri"/>
              </a:rPr>
              <a:t> (2026)</a:t>
            </a:r>
          </a:p>
          <a:p>
            <a:pPr algn="l"/>
            <a:r>
              <a:rPr lang="en-GB" sz="1200" b="0" dirty="0">
                <a:solidFill>
                  <a:srgbClr val="222222"/>
                </a:solidFill>
                <a:latin typeface="Calibri"/>
              </a:rPr>
              <a:t>•  </a:t>
            </a:r>
            <a:r>
              <a:rPr lang="en-GB" sz="1200" b="0" dirty="0" err="1">
                <a:solidFill>
                  <a:srgbClr val="222222"/>
                </a:solidFill>
                <a:latin typeface="Calibri"/>
              </a:rPr>
              <a:t>polymorphic_identity</a:t>
            </a:r>
            <a:r>
              <a:rPr lang="en-GB" sz="1200" b="0" dirty="0">
                <a:solidFill>
                  <a:srgbClr val="222222"/>
                </a:solidFill>
                <a:latin typeface="Calibri"/>
              </a:rPr>
              <a:t> → </a:t>
            </a:r>
            <a:r>
              <a:rPr lang="en-GB" sz="1200" b="0" dirty="0" err="1">
                <a:solidFill>
                  <a:srgbClr val="222222"/>
                </a:solidFill>
                <a:latin typeface="Calibri"/>
              </a:rPr>
              <a:t>mfft_eval_test</a:t>
            </a:r>
            <a:endParaRPr lang="en-GB" sz="1200" b="0" dirty="0">
              <a:solidFill>
                <a:srgbClr val="222222"/>
              </a:solidFill>
              <a:latin typeface="Calibri"/>
            </a:endParaRPr>
          </a:p>
          <a:p>
            <a:pPr algn="l"/>
            <a:r>
              <a:rPr lang="en-GB" sz="1200" b="0" dirty="0">
                <a:solidFill>
                  <a:srgbClr val="222222"/>
                </a:solidFill>
                <a:latin typeface="Calibri"/>
              </a:rPr>
              <a:t>•  Discriminator </a:t>
            </a:r>
            <a:r>
              <a:rPr lang="en-GB" sz="1200" b="0" dirty="0" err="1">
                <a:solidFill>
                  <a:srgbClr val="222222"/>
                </a:solidFill>
                <a:latin typeface="Calibri"/>
              </a:rPr>
              <a:t>ook</a:t>
            </a:r>
            <a:r>
              <a:rPr lang="en-GB" sz="1200" b="0" dirty="0">
                <a:solidFill>
                  <a:srgbClr val="222222"/>
                </a:solidFill>
                <a:latin typeface="Calibri"/>
              </a:rPr>
              <a:t> in PG </a:t>
            </a:r>
            <a:r>
              <a:rPr lang="en-GB" sz="1200" b="0" dirty="0" err="1">
                <a:solidFill>
                  <a:srgbClr val="222222"/>
                </a:solidFill>
                <a:latin typeface="Calibri"/>
              </a:rPr>
              <a:t>enum</a:t>
            </a:r>
            <a:r>
              <a:rPr lang="en-GB" sz="1200" b="0" dirty="0">
                <a:solidFill>
                  <a:srgbClr val="222222"/>
                </a:solidFill>
                <a:latin typeface="Calibri"/>
              </a:rPr>
              <a:t> </a:t>
            </a:r>
            <a:r>
              <a:rPr lang="en-GB" sz="1200" b="0" dirty="0" err="1">
                <a:solidFill>
                  <a:srgbClr val="222222"/>
                </a:solidFill>
                <a:latin typeface="Calibri"/>
              </a:rPr>
              <a:t>typefitnesstest</a:t>
            </a:r>
            <a:endParaRPr lang="en-GB" sz="1200" b="0" dirty="0">
              <a:solidFill>
                <a:srgbClr val="222222"/>
              </a:solidFill>
              <a:latin typeface="Calibri"/>
            </a:endParaRPr>
          </a:p>
          <a:p>
            <a:pPr algn="l"/>
            <a:r>
              <a:rPr lang="en-GB" sz="1200" b="0" dirty="0">
                <a:solidFill>
                  <a:srgbClr val="222222"/>
                </a:solidFill>
                <a:latin typeface="Calibri"/>
              </a:rPr>
              <a:t>•  </a:t>
            </a:r>
            <a:r>
              <a:rPr lang="en-GB" sz="1200" b="0" dirty="0" err="1">
                <a:solidFill>
                  <a:srgbClr val="222222"/>
                </a:solidFill>
                <a:latin typeface="Calibri"/>
              </a:rPr>
              <a:t>selectin_polymorphic</a:t>
            </a:r>
            <a:r>
              <a:rPr lang="en-GB" sz="1200" b="0" dirty="0">
                <a:solidFill>
                  <a:srgbClr val="222222"/>
                </a:solidFill>
                <a:latin typeface="Calibri"/>
              </a:rPr>
              <a:t> in alle queries </a:t>
            </a:r>
            <a:r>
              <a:rPr lang="en-GB" sz="1200" b="0" dirty="0" err="1">
                <a:solidFill>
                  <a:srgbClr val="222222"/>
                </a:solidFill>
                <a:latin typeface="Calibri"/>
              </a:rPr>
              <a:t>voor</a:t>
            </a:r>
            <a:r>
              <a:rPr lang="en-GB" sz="1200" b="0" dirty="0">
                <a:solidFill>
                  <a:srgbClr val="222222"/>
                </a:solidFill>
                <a:latin typeface="Calibri"/>
              </a:rPr>
              <a:t> eager-loading</a:t>
            </a:r>
          </a:p>
          <a:p>
            <a:pPr algn="l"/>
            <a:r>
              <a:rPr lang="en-GB" sz="1200" b="0" dirty="0">
                <a:solidFill>
                  <a:srgbClr val="222222"/>
                </a:solidFill>
                <a:latin typeface="Calibri"/>
              </a:rPr>
              <a:t>•  </a:t>
            </a:r>
            <a:r>
              <a:rPr lang="en-GB" sz="1200" b="0" dirty="0" err="1">
                <a:solidFill>
                  <a:srgbClr val="222222"/>
                </a:solidFill>
                <a:latin typeface="Calibri"/>
              </a:rPr>
              <a:t>Eén</a:t>
            </a:r>
            <a:r>
              <a:rPr lang="en-GB" sz="1200" b="0" dirty="0">
                <a:solidFill>
                  <a:srgbClr val="222222"/>
                </a:solidFill>
                <a:latin typeface="Calibri"/>
              </a:rPr>
              <a:t> </a:t>
            </a:r>
            <a:r>
              <a:rPr lang="en-GB" sz="1200" b="0" dirty="0" err="1">
                <a:solidFill>
                  <a:srgbClr val="222222"/>
                </a:solidFill>
                <a:latin typeface="Calibri"/>
              </a:rPr>
              <a:t>FitnessTestRepository</a:t>
            </a:r>
            <a:r>
              <a:rPr lang="en-GB" sz="1200" b="0" dirty="0">
                <a:solidFill>
                  <a:srgbClr val="222222"/>
                </a:solidFill>
                <a:latin typeface="Calibri"/>
              </a:rPr>
              <a:t> </a:t>
            </a:r>
            <a:r>
              <a:rPr lang="en-GB" sz="1200" b="0" dirty="0" err="1">
                <a:solidFill>
                  <a:srgbClr val="222222"/>
                </a:solidFill>
                <a:latin typeface="Calibri"/>
              </a:rPr>
              <a:t>serveert</a:t>
            </a:r>
            <a:r>
              <a:rPr lang="en-GB" sz="1200" b="0" dirty="0">
                <a:solidFill>
                  <a:srgbClr val="222222"/>
                </a:solidFill>
                <a:latin typeface="Calibri"/>
              </a:rPr>
              <a:t> alle subtypes</a:t>
            </a:r>
          </a:p>
          <a:p>
            <a:endParaRPr lang="en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11C5A2-6844-DC44-92D7-B5E8680DCECE}" type="slidenum">
              <a:rPr lang="en-BE" smtClean="0"/>
              <a:t>8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02352231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34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377440"/>
            <a:ext cx="12191695" cy="2377440"/>
          </a:xfrm>
          <a:prstGeom prst="rect">
            <a:avLst/>
          </a:prstGeom>
          <a:solidFill>
            <a:srgbClr val="4A5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 dirty="0">
                <a:solidFill>
                  <a:srgbClr val="FFC107"/>
                </a:solidFill>
                <a:latin typeface="Calibri"/>
              </a:rPr>
              <a:t>⚔  TECHNISCHE VOORSTELLING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606040"/>
            <a:ext cx="10972800" cy="822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Calibri"/>
              </a:rPr>
              <a:t>WarriorFit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520440"/>
            <a:ext cx="10972800" cy="822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200" b="1">
                <a:solidFill>
                  <a:srgbClr val="FFC107"/>
                </a:solidFill>
                <a:latin typeface="Calibri"/>
              </a:rPr>
              <a:t>Architectuur · Stack · Patronen · Security · Eval MFFT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074920"/>
            <a:ext cx="109728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C3B091"/>
                </a:solidFill>
                <a:latin typeface="Calibri"/>
              </a:rPr>
              <a:t>Shiny for Python · SQLAlchemy async · PostgreSQL · dependency-injector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94360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>
                <a:solidFill>
                  <a:srgbClr val="C3B091"/>
                </a:solidFill>
                <a:latin typeface="Calibri"/>
              </a:rPr>
              <a:t>Benoit Goethals  ·  Academiejaar 2025-2026  ·  ~1 050 commits · 273 SP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poster with text and images&#10;&#10;AI-generated content may be incorrect.">
            <a:extLst>
              <a:ext uri="{FF2B5EF4-FFF2-40B4-BE49-F238E27FC236}">
                <a16:creationId xmlns:a16="http://schemas.microsoft.com/office/drawing/2014/main" id="{A3CFBF23-E9ED-619F-B608-33655316C8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119" y="101070"/>
            <a:ext cx="9983788" cy="66558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96156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4A5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097280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1">
                <a:solidFill>
                  <a:srgbClr val="FFC107"/>
                </a:solidFill>
                <a:latin typeface="Calibri"/>
              </a:rPr>
              <a:t>TECHNOLOGIE-STACK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097280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200" b="1">
                <a:solidFill>
                  <a:srgbClr val="222222"/>
                </a:solidFill>
                <a:latin typeface="Calibri"/>
              </a:rPr>
              <a:t>Pure Python, volledig async, één gedeelde codebase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94560"/>
            <a:ext cx="2743200" cy="1828800"/>
          </a:xfrm>
          <a:prstGeom prst="roundRect">
            <a:avLst/>
          </a:prstGeom>
          <a:solidFill>
            <a:srgbClr val="334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2377440"/>
            <a:ext cx="27432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Shiny for Python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880360"/>
            <a:ext cx="27432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200" b="0">
                <a:solidFill>
                  <a:srgbClr val="F5F1E6"/>
                </a:solidFill>
                <a:latin typeface="Calibri"/>
              </a:rPr>
              <a:t>1.4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246120"/>
            <a:ext cx="274320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0">
                <a:solidFill>
                  <a:srgbClr val="F5F1E6"/>
                </a:solidFill>
                <a:latin typeface="Calibri"/>
              </a:rPr>
              <a:t>Reactive web UI · 24 pagina's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0" y="2194560"/>
            <a:ext cx="2743200" cy="1828800"/>
          </a:xfrm>
          <a:prstGeom prst="roundRect">
            <a:avLst/>
          </a:prstGeom>
          <a:solidFill>
            <a:srgbClr val="4A5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474720" y="2377440"/>
            <a:ext cx="27432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SQLAlchemy 2.x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0" y="2880360"/>
            <a:ext cx="27432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200" b="0">
                <a:solidFill>
                  <a:srgbClr val="F5F1E6"/>
                </a:solidFill>
                <a:latin typeface="Calibri"/>
              </a:rPr>
              <a:t>asyncio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3246120"/>
            <a:ext cx="274320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0">
                <a:solidFill>
                  <a:srgbClr val="F5F1E6"/>
                </a:solidFill>
                <a:latin typeface="Calibri"/>
              </a:rPr>
              <a:t>ORM · joined-table inheritance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2194560"/>
            <a:ext cx="2743200" cy="1828800"/>
          </a:xfrm>
          <a:prstGeom prst="round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00800" y="2377440"/>
            <a:ext cx="27432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PostgreSQL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880360"/>
            <a:ext cx="27432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200" b="0">
                <a:solidFill>
                  <a:srgbClr val="F5F1E6"/>
                </a:solidFill>
                <a:latin typeface="Calibri"/>
              </a:rPr>
              <a:t>16 · SSL/TLS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3246120"/>
            <a:ext cx="274320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0">
                <a:solidFill>
                  <a:srgbClr val="F5F1E6"/>
                </a:solidFill>
                <a:latin typeface="Calibri"/>
              </a:rPr>
              <a:t>Persistentie + audit + outbox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326880" y="2194560"/>
            <a:ext cx="2743200" cy="1828800"/>
          </a:xfrm>
          <a:prstGeom prst="roundRect">
            <a:avLst/>
          </a:prstGeom>
          <a:solidFill>
            <a:srgbClr val="C3B0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326880" y="2377440"/>
            <a:ext cx="27432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dependency-injector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0" y="2880360"/>
            <a:ext cx="27432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200" b="0">
                <a:solidFill>
                  <a:srgbClr val="F5F1E6"/>
                </a:solidFill>
                <a:latin typeface="Calibri"/>
              </a:rPr>
              <a:t>Singleton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0" y="3246120"/>
            <a:ext cx="274320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0">
                <a:solidFill>
                  <a:srgbClr val="F5F1E6"/>
                </a:solidFill>
                <a:latin typeface="Calibri"/>
              </a:rPr>
              <a:t>DI container · 40+ singletons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206240"/>
            <a:ext cx="2743200" cy="1828800"/>
          </a:xfrm>
          <a:prstGeom prst="roundRect">
            <a:avLst/>
          </a:prstGeom>
          <a:solidFill>
            <a:srgbClr val="4A5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48640" y="4389120"/>
            <a:ext cx="27432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Plotly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892040"/>
            <a:ext cx="27432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200" b="0">
                <a:solidFill>
                  <a:srgbClr val="F5F1E6"/>
                </a:solidFill>
                <a:latin typeface="Calibri"/>
              </a:rPr>
              <a:t>express+graph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257800"/>
            <a:ext cx="274320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0">
                <a:solidFill>
                  <a:srgbClr val="F5F1E6"/>
                </a:solidFill>
                <a:latin typeface="Calibri"/>
              </a:rPr>
              <a:t>Dashboards · histograms · gauges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474720" y="4206240"/>
            <a:ext cx="2743200" cy="1828800"/>
          </a:xfrm>
          <a:prstGeom prst="round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474720" y="4389120"/>
            <a:ext cx="27432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Argon2id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74720" y="4892040"/>
            <a:ext cx="27432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200" b="0">
                <a:solidFill>
                  <a:srgbClr val="F5F1E6"/>
                </a:solidFill>
                <a:latin typeface="Calibri"/>
              </a:rPr>
              <a:t>via passlib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74720" y="5257800"/>
            <a:ext cx="274320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0">
                <a:solidFill>
                  <a:srgbClr val="F5F1E6"/>
                </a:solidFill>
                <a:latin typeface="Calibri"/>
              </a:rPr>
              <a:t>Password hashing · non-blocking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0" y="4206240"/>
            <a:ext cx="2743200" cy="1828800"/>
          </a:xfrm>
          <a:prstGeom prst="roundRect">
            <a:avLst/>
          </a:prstGeom>
          <a:solidFill>
            <a:srgbClr val="C3B0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400800" y="4389120"/>
            <a:ext cx="27432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reportlab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4892040"/>
            <a:ext cx="27432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200" b="0">
                <a:solidFill>
                  <a:srgbClr val="F5F1E6"/>
                </a:solidFill>
                <a:latin typeface="Calibri"/>
              </a:rPr>
              <a:t>A4 / landscape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5257800"/>
            <a:ext cx="274320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0">
                <a:solidFill>
                  <a:srgbClr val="F5F1E6"/>
                </a:solidFill>
                <a:latin typeface="Calibri"/>
              </a:rPr>
              <a:t>PDF rapporten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326880" y="4206240"/>
            <a:ext cx="2743200" cy="1828800"/>
          </a:xfrm>
          <a:prstGeom prst="roundRect">
            <a:avLst/>
          </a:prstGeom>
          <a:solidFill>
            <a:srgbClr val="334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9326880" y="4389120"/>
            <a:ext cx="27432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pytest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26880" y="4892040"/>
            <a:ext cx="27432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200" b="0">
                <a:solidFill>
                  <a:srgbClr val="F5F1E6"/>
                </a:solidFill>
                <a:latin typeface="Calibri"/>
              </a:rPr>
              <a:t>asyncio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26880" y="5257800"/>
            <a:ext cx="274320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0">
                <a:solidFill>
                  <a:srgbClr val="F5F1E6"/>
                </a:solidFill>
                <a:latin typeface="Calibri"/>
              </a:rPr>
              <a:t>171 groen · 30 MFFT-tests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626364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200" b="0">
                <a:solidFill>
                  <a:srgbClr val="555555"/>
                </a:solidFill>
                <a:latin typeface="Calibri"/>
              </a:rPr>
              <a:t>Python 3.13+  ·  uv voor afhankelijkheden  ·  ruff (line-length 100) + mypy strict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6446520"/>
            <a:ext cx="73152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WarriorFit  ·  Technische voorstelling  ·  Benoit Goethals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15600" y="6446520"/>
            <a:ext cx="128016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2 / 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4A5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097280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1">
                <a:solidFill>
                  <a:srgbClr val="FFC107"/>
                </a:solidFill>
                <a:latin typeface="Calibri"/>
              </a:rPr>
              <a:t>ARCHITECTUUR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754" y="914400"/>
            <a:ext cx="1097280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200" b="1" dirty="0" err="1">
                <a:solidFill>
                  <a:srgbClr val="222222"/>
                </a:solidFill>
                <a:latin typeface="Calibri"/>
              </a:rPr>
              <a:t>Gelaagde</a:t>
            </a:r>
            <a:r>
              <a:rPr sz="3200" b="1" dirty="0">
                <a:solidFill>
                  <a:srgbClr val="222222"/>
                </a:solidFill>
                <a:latin typeface="Calibri"/>
              </a:rPr>
              <a:t>, </a:t>
            </a:r>
            <a:r>
              <a:rPr sz="3200" b="1" dirty="0" err="1">
                <a:solidFill>
                  <a:srgbClr val="222222"/>
                </a:solidFill>
                <a:latin typeface="Calibri"/>
              </a:rPr>
              <a:t>unidirectionele</a:t>
            </a:r>
            <a:r>
              <a:rPr sz="3200" b="1" dirty="0">
                <a:solidFill>
                  <a:srgbClr val="222222"/>
                </a:solidFill>
                <a:latin typeface="Calibri"/>
              </a:rPr>
              <a:t> </a:t>
            </a:r>
            <a:r>
              <a:rPr sz="3200" b="1" dirty="0" err="1">
                <a:solidFill>
                  <a:srgbClr val="222222"/>
                </a:solidFill>
                <a:latin typeface="Calibri"/>
              </a:rPr>
              <a:t>afhankelijkheidsstroom</a:t>
            </a:r>
            <a:endParaRPr sz="3200" b="1" dirty="0">
              <a:solidFill>
                <a:srgbClr val="222222"/>
              </a:solidFill>
              <a:latin typeface="Calibri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48640" y="2194560"/>
            <a:ext cx="5486400" cy="640080"/>
          </a:xfrm>
          <a:prstGeom prst="roundRect">
            <a:avLst/>
          </a:prstGeom>
          <a:solidFill>
            <a:srgbClr val="334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2249424"/>
            <a:ext cx="512064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UI · Shiny Pages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542032"/>
            <a:ext cx="5120640" cy="2926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F5F1E6"/>
                </a:solidFill>
                <a:latin typeface="Calibri"/>
              </a:rPr>
              <a:t>24 pagina's · RBAC per rol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971800"/>
            <a:ext cx="5486400" cy="640080"/>
          </a:xfrm>
          <a:prstGeom prst="roundRect">
            <a:avLst/>
          </a:prstGeom>
          <a:solidFill>
            <a:srgbClr val="4A5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3026664"/>
            <a:ext cx="512064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Controllers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319272"/>
            <a:ext cx="5120640" cy="2926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F5F1E6"/>
                </a:solidFill>
                <a:latin typeface="Calibri"/>
              </a:rPr>
              <a:t>21 controllers · reactive state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749039"/>
            <a:ext cx="5486400" cy="640080"/>
          </a:xfrm>
          <a:prstGeom prst="round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31520" y="3803903"/>
            <a:ext cx="512064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Services + Broker + Calculators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096511"/>
            <a:ext cx="5120640" cy="2926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F5F1E6"/>
                </a:solidFill>
                <a:latin typeface="Calibri"/>
              </a:rPr>
              <a:t>Async business logic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526279"/>
            <a:ext cx="5486400" cy="640080"/>
          </a:xfrm>
          <a:prstGeom prst="roundRect">
            <a:avLst/>
          </a:prstGeom>
          <a:solidFill>
            <a:srgbClr val="4A5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31520" y="4581143"/>
            <a:ext cx="512064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Repositories (async)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873751"/>
            <a:ext cx="5120640" cy="2926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F5F1E6"/>
                </a:solidFill>
                <a:latin typeface="Calibri"/>
              </a:rPr>
              <a:t>Polymorphic FitnessTest queries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303520"/>
            <a:ext cx="5486400" cy="640080"/>
          </a:xfrm>
          <a:prstGeom prst="roundRect">
            <a:avLst/>
          </a:prstGeom>
          <a:solidFill>
            <a:srgbClr val="334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31520" y="5358384"/>
            <a:ext cx="512064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ORM Models + PostgreSQL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650992"/>
            <a:ext cx="5120640" cy="2926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F5F1E6"/>
                </a:solidFill>
                <a:latin typeface="Calibri"/>
              </a:rPr>
              <a:t>Joined-table inheritance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0" y="4114800"/>
            <a:ext cx="36576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400" b="1">
                <a:solidFill>
                  <a:srgbClr val="334218"/>
                </a:solidFill>
                <a:latin typeface="Calibri"/>
              </a:rPr>
              <a:t>↓</a:t>
            </a:r>
          </a:p>
        </p:txBody>
      </p:sp>
      <p:pic>
        <p:nvPicPr>
          <p:cNvPr id="22" name="Picture 21" descr="overview-WARRIORFIT_Architectuu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0" y="2526867"/>
            <a:ext cx="5029200" cy="3541625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57200" y="6446520"/>
            <a:ext cx="73152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WarriorFit  ·  Technische voorstelling  ·  Benoit Goethals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0" y="6446520"/>
            <a:ext cx="128016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3 / 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4A5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16430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C107"/>
                </a:solidFill>
              </a:rPr>
              <a:t>PROJECT TIJDLIJN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643055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22222"/>
                </a:solidFill>
              </a:rPr>
              <a:t>9 maanden van prototype naar productie-pilot  ·  Sep 2025 → Q3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2568640" y="1470000"/>
            <a:ext cx="698031" cy="4485000"/>
          </a:xfrm>
          <a:prstGeom prst="rect">
            <a:avLst/>
          </a:prstGeom>
          <a:solidFill>
            <a:srgbClr val="CCC7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266671" y="1470000"/>
            <a:ext cx="698031" cy="4485000"/>
          </a:xfrm>
          <a:prstGeom prst="rect">
            <a:avLst/>
          </a:prstGeom>
          <a:solidFill>
            <a:srgbClr val="F5F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964702" y="1470000"/>
            <a:ext cx="698031" cy="4485000"/>
          </a:xfrm>
          <a:prstGeom prst="rect">
            <a:avLst/>
          </a:prstGeom>
          <a:solidFill>
            <a:srgbClr val="CCC7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662733" y="1470000"/>
            <a:ext cx="698031" cy="4485000"/>
          </a:xfrm>
          <a:prstGeom prst="rect">
            <a:avLst/>
          </a:prstGeom>
          <a:solidFill>
            <a:srgbClr val="F5F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360764" y="1470000"/>
            <a:ext cx="698031" cy="4485000"/>
          </a:xfrm>
          <a:prstGeom prst="rect">
            <a:avLst/>
          </a:prstGeom>
          <a:solidFill>
            <a:srgbClr val="CCC7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058795" y="1470000"/>
            <a:ext cx="698031" cy="4485000"/>
          </a:xfrm>
          <a:prstGeom prst="rect">
            <a:avLst/>
          </a:prstGeom>
          <a:solidFill>
            <a:srgbClr val="F5F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756826" y="1470000"/>
            <a:ext cx="698031" cy="4485000"/>
          </a:xfrm>
          <a:prstGeom prst="rect">
            <a:avLst/>
          </a:prstGeom>
          <a:solidFill>
            <a:srgbClr val="CCC7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454857" y="1470000"/>
            <a:ext cx="698031" cy="4485000"/>
          </a:xfrm>
          <a:prstGeom prst="rect">
            <a:avLst/>
          </a:prstGeom>
          <a:solidFill>
            <a:srgbClr val="F5F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152888" y="1470000"/>
            <a:ext cx="698031" cy="4485000"/>
          </a:xfrm>
          <a:prstGeom prst="rect">
            <a:avLst/>
          </a:prstGeom>
          <a:solidFill>
            <a:srgbClr val="CCC7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850919" y="1470000"/>
            <a:ext cx="698031" cy="4485000"/>
          </a:xfrm>
          <a:prstGeom prst="rect">
            <a:avLst/>
          </a:prstGeom>
          <a:solidFill>
            <a:srgbClr val="F5F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9548950" y="1470000"/>
            <a:ext cx="698031" cy="4485000"/>
          </a:xfrm>
          <a:prstGeom prst="rect">
            <a:avLst/>
          </a:prstGeom>
          <a:solidFill>
            <a:srgbClr val="CCC7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10246981" y="1470000"/>
            <a:ext cx="698031" cy="4485000"/>
          </a:xfrm>
          <a:prstGeom prst="rect">
            <a:avLst/>
          </a:prstGeom>
          <a:solidFill>
            <a:srgbClr val="F5F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10945012" y="1470000"/>
            <a:ext cx="698031" cy="4485000"/>
          </a:xfrm>
          <a:prstGeom prst="rect">
            <a:avLst/>
          </a:prstGeom>
          <a:solidFill>
            <a:srgbClr val="CCC7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9548950" y="1800000"/>
            <a:ext cx="2094093" cy="4175000"/>
          </a:xfrm>
          <a:prstGeom prst="rect">
            <a:avLst/>
          </a:prstGeom>
          <a:solidFill>
            <a:srgbClr val="EBE8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2572640" y="1520000"/>
            <a:ext cx="690031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222222"/>
                </a:solidFill>
              </a:rPr>
              <a:t>Sep '25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70671" y="1520000"/>
            <a:ext cx="690031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222222"/>
                </a:solidFill>
              </a:rPr>
              <a:t>Okt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68702" y="1520000"/>
            <a:ext cx="690031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222222"/>
                </a:solidFill>
              </a:rPr>
              <a:t>Nov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6733" y="1520000"/>
            <a:ext cx="690031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222222"/>
                </a:solidFill>
              </a:rPr>
              <a:t>Dec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64764" y="1520000"/>
            <a:ext cx="690031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222222"/>
                </a:solidFill>
              </a:rPr>
              <a:t>Jan '26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62795" y="1520000"/>
            <a:ext cx="690031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222222"/>
                </a:solidFill>
              </a:rPr>
              <a:t>Feb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60826" y="1520000"/>
            <a:ext cx="690031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222222"/>
                </a:solidFill>
              </a:rPr>
              <a:t>Mrt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58857" y="1520000"/>
            <a:ext cx="690031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222222"/>
                </a:solidFill>
              </a:rPr>
              <a:t>Apr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56888" y="1520000"/>
            <a:ext cx="690031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222222"/>
                </a:solidFill>
              </a:rPr>
              <a:t>Mei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54919" y="1520000"/>
            <a:ext cx="690031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222222"/>
                </a:solidFill>
              </a:rPr>
              <a:t>Jun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52950" y="1520000"/>
            <a:ext cx="690031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222222"/>
                </a:solidFill>
              </a:rPr>
              <a:t>Jul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50981" y="1520000"/>
            <a:ext cx="690031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222222"/>
                </a:solidFill>
              </a:rPr>
              <a:t>Aug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49012" y="1520000"/>
            <a:ext cx="690031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222222"/>
                </a:solidFill>
              </a:rPr>
              <a:t>Sep '26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348764" y="1470000"/>
            <a:ext cx="24000" cy="4485000"/>
          </a:xfrm>
          <a:prstGeom prst="rect">
            <a:avLst/>
          </a:prstGeom>
          <a:solidFill>
            <a:srgbClr val="4A5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548640" y="1990000"/>
            <a:ext cx="270000" cy="270000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48640" y="1990000"/>
            <a:ext cx="27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334218"/>
                </a:solidFill>
              </a:rPr>
              <a:t>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3640" y="1830000"/>
            <a:ext cx="165500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22222"/>
                </a:solidFill>
              </a:rPr>
              <a:t>Fundament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73640" y="2050000"/>
            <a:ext cx="1655000" cy="1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555555"/>
                </a:solidFill>
              </a:rPr>
              <a:t>Sep 2025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573640" y="1840000"/>
            <a:ext cx="688031" cy="570000"/>
          </a:xfrm>
          <a:prstGeom prst="roundRect">
            <a:avLst/>
          </a:prstGeom>
          <a:solidFill>
            <a:srgbClr val="334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548640" y="2695000"/>
            <a:ext cx="270000" cy="270000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548640" y="2695000"/>
            <a:ext cx="27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334218"/>
                </a:solidFill>
              </a:rPr>
              <a:t>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73640" y="2535000"/>
            <a:ext cx="165500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22222"/>
                </a:solidFill>
              </a:rPr>
              <a:t>Testmodules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3640" y="2755000"/>
            <a:ext cx="1655000" cy="1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555555"/>
                </a:solidFill>
              </a:rPr>
              <a:t>Okt 2025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271671" y="2545000"/>
            <a:ext cx="688031" cy="570000"/>
          </a:xfrm>
          <a:prstGeom prst="roundRect">
            <a:avLst/>
          </a:prstGeom>
          <a:solidFill>
            <a:srgbClr val="4A5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548640" y="3400000"/>
            <a:ext cx="270000" cy="270000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548640" y="3400000"/>
            <a:ext cx="27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334218"/>
                </a:solidFill>
              </a:rPr>
              <a:t>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73640" y="3240000"/>
            <a:ext cx="165500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22222"/>
                </a:solidFill>
              </a:rPr>
              <a:t>Broker &amp; Docker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73640" y="3460000"/>
            <a:ext cx="1655000" cy="1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555555"/>
                </a:solidFill>
              </a:rPr>
              <a:t>Nov 2025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969702" y="3250000"/>
            <a:ext cx="688031" cy="570000"/>
          </a:xfrm>
          <a:prstGeom prst="round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548640" y="4105000"/>
            <a:ext cx="270000" cy="270000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548640" y="4105000"/>
            <a:ext cx="27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334218"/>
                </a:solidFill>
              </a:rPr>
              <a:t>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73640" y="3945000"/>
            <a:ext cx="165500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22222"/>
                </a:solidFill>
              </a:rPr>
              <a:t>Stabilisatie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73640" y="4165000"/>
            <a:ext cx="1655000" cy="1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555555"/>
                </a:solidFill>
              </a:rPr>
              <a:t>Dec '25–Feb '26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667733" y="3955000"/>
            <a:ext cx="2084093" cy="570000"/>
          </a:xfrm>
          <a:prstGeom prst="roundRect">
            <a:avLst/>
          </a:prstGeom>
          <a:solidFill>
            <a:srgbClr val="C3B0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angle 54"/>
          <p:cNvSpPr/>
          <p:nvPr/>
        </p:nvSpPr>
        <p:spPr>
          <a:xfrm>
            <a:off x="548640" y="4810000"/>
            <a:ext cx="270000" cy="270000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548640" y="4810000"/>
            <a:ext cx="27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334218"/>
                </a:solidFill>
              </a:rPr>
              <a:t>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73640" y="4650000"/>
            <a:ext cx="165500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22222"/>
                </a:solidFill>
              </a:rPr>
              <a:t>Security &amp; UX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73640" y="4870000"/>
            <a:ext cx="1655000" cy="1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555555"/>
                </a:solidFill>
              </a:rPr>
              <a:t>Mrt–Mei 2026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761826" y="4660000"/>
            <a:ext cx="2084093" cy="570000"/>
          </a:xfrm>
          <a:prstGeom prst="roundRect">
            <a:avLst/>
          </a:prstGeom>
          <a:solidFill>
            <a:srgbClr val="334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Rectangle 60"/>
          <p:cNvSpPr/>
          <p:nvPr/>
        </p:nvSpPr>
        <p:spPr>
          <a:xfrm>
            <a:off x="548640" y="5515000"/>
            <a:ext cx="270000" cy="270000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548640" y="5515000"/>
            <a:ext cx="27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334218"/>
                </a:solidFill>
              </a:rPr>
              <a:t>6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73640" y="5355000"/>
            <a:ext cx="165500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22222"/>
                </a:solidFill>
              </a:rPr>
              <a:t>MFFT &amp; I18N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73640" y="5575000"/>
            <a:ext cx="1655000" cy="1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555555"/>
                </a:solidFill>
              </a:rPr>
              <a:t>Jun 2026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8855919" y="5365000"/>
            <a:ext cx="688031" cy="570000"/>
          </a:xfrm>
          <a:prstGeom prst="roundRect">
            <a:avLst/>
          </a:prstGeom>
          <a:solidFill>
            <a:srgbClr val="4A5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Rectangle 65"/>
          <p:cNvSpPr/>
          <p:nvPr/>
        </p:nvSpPr>
        <p:spPr>
          <a:xfrm>
            <a:off x="9368076" y="1790000"/>
            <a:ext cx="36000" cy="4195000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ounded Rectangle 66"/>
          <p:cNvSpPr/>
          <p:nvPr/>
        </p:nvSpPr>
        <p:spPr>
          <a:xfrm>
            <a:off x="9156076" y="6015000"/>
            <a:ext cx="460000" cy="200000"/>
          </a:xfrm>
          <a:prstGeom prst="round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9156076" y="6015000"/>
            <a:ext cx="46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334218"/>
                </a:solidFill>
              </a:rPr>
              <a:t>▼  Vandaag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9553950" y="5365000"/>
            <a:ext cx="2084093" cy="570000"/>
          </a:xfrm>
          <a:prstGeom prst="roundRect">
            <a:avLst/>
          </a:prstGeom>
          <a:solidFill>
            <a:srgbClr val="C3B091"/>
          </a:solidFill>
          <a:ln w="12700">
            <a:solidFill>
              <a:srgbClr val="4A5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9608950" y="5425000"/>
            <a:ext cx="2014093" cy="4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334218"/>
                </a:solidFill>
              </a:rPr>
              <a:t>→  Productie-pilot  (gepland Q3 2026)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588950" y="1480000"/>
            <a:ext cx="2014093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</a:rPr>
              <a:t>← gepland →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57200" y="64465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</a:rPr>
              <a:t>WarriorFit  ·  Technische voorstelling  ·  Benoit Goethals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515600" y="64465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</a:rPr>
              <a:t>19 / 22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4A5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16430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C107"/>
                </a:solidFill>
              </a:rPr>
              <a:t>BACKLOG HIËRARCHIE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643055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22222"/>
                </a:solidFill>
              </a:rPr>
              <a:t>Epics  →  User Stories  →  Test Cases  ·  94 / 94 stories opgeleverd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60000"/>
            <a:ext cx="3498138" cy="2200000"/>
          </a:xfrm>
          <a:prstGeom prst="roundRect">
            <a:avLst/>
          </a:prstGeom>
          <a:solidFill>
            <a:srgbClr val="334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48640" y="1460000"/>
            <a:ext cx="3498138" cy="330000"/>
          </a:xfrm>
          <a:prstGeom prst="roundRect">
            <a:avLst/>
          </a:prstGeom>
          <a:solidFill>
            <a:srgbClr val="4A5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48640" y="1625000"/>
            <a:ext cx="3498138" cy="165000"/>
          </a:xfrm>
          <a:prstGeom prst="rect">
            <a:avLst/>
          </a:prstGeom>
          <a:solidFill>
            <a:srgbClr val="4A5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88640" y="1520000"/>
            <a:ext cx="3418138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EPIC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8640" y="1795000"/>
            <a:ext cx="341813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dirty="0">
                <a:solidFill>
                  <a:srgbClr val="FFC107"/>
                </a:solidFill>
              </a:rPr>
              <a:t>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8640" y="2220000"/>
            <a:ext cx="3418138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dirty="0">
                <a:solidFill>
                  <a:srgbClr val="F5F1E6"/>
                </a:solidFill>
              </a:rPr>
              <a:t>epics  ·  273 SP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8640" y="2450000"/>
            <a:ext cx="3258138" cy="20000"/>
          </a:xfrm>
          <a:prstGeom prst="rect">
            <a:avLst/>
          </a:prstGeom>
          <a:solidFill>
            <a:srgbClr val="4A5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18640" y="2500000"/>
            <a:ext cx="3358138" cy="11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5F1E6"/>
                </a:solidFill>
              </a:rPr>
              <a:t>Must / Should / Could / Won't</a:t>
            </a:r>
          </a:p>
          <a:p>
            <a:pPr algn="l"/>
            <a:r>
              <a:rPr sz="900" b="0">
                <a:solidFill>
                  <a:srgbClr val="F5F1E6"/>
                </a:solidFill>
              </a:rPr>
              <a:t>Per module of functionaliteitsdomein</a:t>
            </a:r>
          </a:p>
          <a:p>
            <a:pPr algn="l"/>
            <a:r>
              <a:rPr sz="900" b="0">
                <a:solidFill>
                  <a:srgbClr val="F5F1E6"/>
                </a:solidFill>
              </a:rPr>
              <a:t>Grootst: E21 MFFT (30 SP)</a:t>
            </a:r>
          </a:p>
          <a:p>
            <a:pPr algn="l"/>
            <a:r>
              <a:rPr sz="900" b="0">
                <a:solidFill>
                  <a:srgbClr val="F5F1E6"/>
                </a:solidFill>
              </a:rPr>
              <a:t>E8 Cross (28 SP)  ·  E20 GDPR (25 SP)</a:t>
            </a:r>
          </a:p>
          <a:p>
            <a:pPr algn="l"/>
            <a:r>
              <a:rPr sz="900" b="0">
                <a:solidFill>
                  <a:srgbClr val="F5F1E6"/>
                </a:solidFill>
              </a:rPr>
              <a:t>Beheerd in GitHub Issues &amp; Projects</a:t>
            </a:r>
          </a:p>
        </p:txBody>
      </p:sp>
      <p:sp>
        <p:nvSpPr>
          <p:cNvPr id="14" name="Can 13"/>
          <p:cNvSpPr/>
          <p:nvPr/>
        </p:nvSpPr>
        <p:spPr>
          <a:xfrm>
            <a:off x="4056778" y="2360000"/>
            <a:ext cx="280000" cy="400000"/>
          </a:xfrm>
          <a:prstGeom prst="can">
            <a:avLst/>
          </a:prstGeom>
          <a:solidFill>
            <a:srgbClr val="4A5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4346778" y="1460000"/>
            <a:ext cx="3498138" cy="2200000"/>
          </a:xfrm>
          <a:prstGeom prst="roundRect">
            <a:avLst/>
          </a:prstGeom>
          <a:solidFill>
            <a:srgbClr val="4A5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4346778" y="1460000"/>
            <a:ext cx="3498138" cy="330000"/>
          </a:xfrm>
          <a:prstGeom prst="roundRect">
            <a:avLst/>
          </a:prstGeom>
          <a:solidFill>
            <a:srgbClr val="334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346778" y="1625000"/>
            <a:ext cx="3498138" cy="165000"/>
          </a:xfrm>
          <a:prstGeom prst="rect">
            <a:avLst/>
          </a:prstGeom>
          <a:solidFill>
            <a:srgbClr val="334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386778" y="1520000"/>
            <a:ext cx="3418138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USER STORY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6778" y="1820000"/>
            <a:ext cx="341813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dirty="0">
                <a:solidFill>
                  <a:srgbClr val="FFC107"/>
                </a:solidFill>
              </a:rPr>
              <a:t>94</a:t>
            </a:r>
            <a:endParaRPr sz="3600" b="1" dirty="0">
              <a:solidFill>
                <a:srgbClr val="FFC107"/>
              </a:solidFill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4386778" y="2220000"/>
            <a:ext cx="3418138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>
                <a:solidFill>
                  <a:srgbClr val="F5F1E6"/>
                </a:solidFill>
              </a:rPr>
              <a:t>stories  ·  Ø 2.9 SP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66778" y="2450000"/>
            <a:ext cx="3258138" cy="20000"/>
          </a:xfrm>
          <a:prstGeom prst="rect">
            <a:avLst/>
          </a:prstGeom>
          <a:solidFill>
            <a:srgbClr val="334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416778" y="2500000"/>
            <a:ext cx="3358138" cy="11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5F1E6"/>
                </a:solidFill>
              </a:rPr>
              <a:t>"Als [rol] wil ik [actie]</a:t>
            </a:r>
          </a:p>
          <a:p>
            <a:pPr algn="l"/>
            <a:r>
              <a:rPr sz="900" b="0">
                <a:solidFill>
                  <a:srgbClr val="F5F1E6"/>
                </a:solidFill>
              </a:rPr>
              <a:t> zodat [resultaat]"</a:t>
            </a:r>
          </a:p>
          <a:p>
            <a:pPr algn="l"/>
            <a:r>
              <a:rPr sz="900" b="0">
                <a:solidFill>
                  <a:srgbClr val="F5F1E6"/>
                </a:solidFill>
              </a:rPr>
              <a:t>Acceptance criteria per story</a:t>
            </a:r>
          </a:p>
          <a:p>
            <a:pPr algn="l"/>
            <a:r>
              <a:rPr sz="900" b="0">
                <a:solidFill>
                  <a:srgbClr val="F5F1E6"/>
                </a:solidFill>
              </a:rPr>
              <a:t>MoSCoW-prioriteit per epic</a:t>
            </a:r>
          </a:p>
          <a:p>
            <a:pPr algn="l"/>
            <a:r>
              <a:rPr sz="900" b="0">
                <a:solidFill>
                  <a:srgbClr val="F5F1E6"/>
                </a:solidFill>
              </a:rPr>
              <a:t>Functioneel + niet-functioneel</a:t>
            </a:r>
          </a:p>
          <a:p>
            <a:pPr algn="l"/>
            <a:r>
              <a:rPr sz="900" b="0">
                <a:solidFill>
                  <a:srgbClr val="F5F1E6"/>
                </a:solidFill>
              </a:rPr>
              <a:t>Alle 94 stories opgeleverd ✓</a:t>
            </a:r>
          </a:p>
        </p:txBody>
      </p:sp>
      <p:sp>
        <p:nvSpPr>
          <p:cNvPr id="23" name="Can 22"/>
          <p:cNvSpPr/>
          <p:nvPr/>
        </p:nvSpPr>
        <p:spPr>
          <a:xfrm>
            <a:off x="7854916" y="2360000"/>
            <a:ext cx="280000" cy="400000"/>
          </a:xfrm>
          <a:prstGeom prst="can">
            <a:avLst/>
          </a:prstGeom>
          <a:solidFill>
            <a:srgbClr val="4A5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8144916" y="1460000"/>
            <a:ext cx="3498138" cy="2200000"/>
          </a:xfrm>
          <a:prstGeom prst="roundRect">
            <a:avLst/>
          </a:prstGeom>
          <a:solidFill>
            <a:srgbClr val="C3B0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8144916" y="1460000"/>
            <a:ext cx="3498138" cy="330000"/>
          </a:xfrm>
          <a:prstGeom prst="roundRect">
            <a:avLst/>
          </a:prstGeom>
          <a:solidFill>
            <a:srgbClr val="334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8144916" y="1625000"/>
            <a:ext cx="3498138" cy="165000"/>
          </a:xfrm>
          <a:prstGeom prst="rect">
            <a:avLst/>
          </a:prstGeom>
          <a:solidFill>
            <a:srgbClr val="334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184916" y="1520000"/>
            <a:ext cx="3418138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TEST CASE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84916" y="1820000"/>
            <a:ext cx="341813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FC107"/>
                </a:solidFill>
              </a:rPr>
              <a:t>171+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84916" y="2220000"/>
            <a:ext cx="3418138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>
                <a:solidFill>
                  <a:srgbClr val="222222"/>
                </a:solidFill>
              </a:rPr>
              <a:t>geautomatiseerde tests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64916" y="2450000"/>
            <a:ext cx="3258138" cy="20000"/>
          </a:xfrm>
          <a:prstGeom prst="rect">
            <a:avLst/>
          </a:prstGeom>
          <a:solidFill>
            <a:srgbClr val="334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214916" y="2500000"/>
            <a:ext cx="3358138" cy="11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22222"/>
                </a:solidFill>
              </a:rPr>
              <a:t>pytest + asyncio testrunner</a:t>
            </a:r>
          </a:p>
          <a:p>
            <a:pPr algn="l"/>
            <a:r>
              <a:rPr sz="900" b="0">
                <a:solidFill>
                  <a:srgbClr val="222222"/>
                </a:solidFill>
              </a:rPr>
              <a:t>PhefCalculator: score + grades</a:t>
            </a:r>
          </a:p>
          <a:p>
            <a:pPr algn="l"/>
            <a:r>
              <a:rPr sz="900" b="0">
                <a:solidFill>
                  <a:srgbClr val="222222"/>
                </a:solidFill>
              </a:rPr>
              <a:t>MfftEvalCalculator: 30 tests</a:t>
            </a:r>
          </a:p>
          <a:p>
            <a:pPr algn="l"/>
            <a:r>
              <a:rPr sz="900" b="0">
                <a:solidFill>
                  <a:srgbClr val="222222"/>
                </a:solidFill>
              </a:rPr>
              <a:t>BrokerService: DTO · lifecycle</a:t>
            </a:r>
          </a:p>
          <a:p>
            <a:pPr algn="l"/>
            <a:r>
              <a:rPr sz="900" b="0">
                <a:solidFill>
                  <a:srgbClr val="222222"/>
                </a:solidFill>
              </a:rPr>
              <a:t>ApplicationConfig: YAML load</a:t>
            </a:r>
          </a:p>
          <a:p>
            <a:pPr algn="l"/>
            <a:r>
              <a:rPr sz="900" b="0">
                <a:solidFill>
                  <a:srgbClr val="222222"/>
                </a:solidFill>
              </a:rPr>
              <a:t>+ manuele UI / security tests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3820000"/>
            <a:ext cx="11094415" cy="260000"/>
          </a:xfrm>
          <a:prstGeom prst="roundRect">
            <a:avLst/>
          </a:prstGeom>
          <a:solidFill>
            <a:srgbClr val="334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548640" y="3950000"/>
            <a:ext cx="11094415" cy="130000"/>
          </a:xfrm>
          <a:prstGeom prst="rect">
            <a:avLst/>
          </a:prstGeom>
          <a:solidFill>
            <a:srgbClr val="334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28640" y="3860000"/>
            <a:ext cx="10934415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C107"/>
                </a:solidFill>
              </a:rPr>
              <a:t>TOP 8 EPICS  ·  Story Points  ·  alle 22 epics 100 % opgeleverd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4115000"/>
            <a:ext cx="193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222222"/>
                </a:solidFill>
              </a:rPr>
              <a:t>E21  MFFT Eval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498640" y="4125000"/>
            <a:ext cx="8844415" cy="210000"/>
          </a:xfrm>
          <a:prstGeom prst="roundRect">
            <a:avLst/>
          </a:prstGeom>
          <a:solidFill>
            <a:srgbClr val="334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11373055" y="4115000"/>
            <a:ext cx="28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555555"/>
                </a:solidFill>
              </a:rPr>
              <a:t>30 SP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4415000"/>
            <a:ext cx="193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222222"/>
                </a:solidFill>
              </a:rPr>
              <a:t>E8   Cross &amp; Statistics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498640" y="4425000"/>
            <a:ext cx="8254787" cy="210000"/>
          </a:xfrm>
          <a:prstGeom prst="roundRect">
            <a:avLst/>
          </a:prstGeom>
          <a:solidFill>
            <a:srgbClr val="4A5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10783427" y="4415000"/>
            <a:ext cx="28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555555"/>
                </a:solidFill>
              </a:rPr>
              <a:t>28 SP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4715000"/>
            <a:ext cx="193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222222"/>
                </a:solidFill>
              </a:rPr>
              <a:t>E20  GDPR / Privacy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498640" y="4725000"/>
            <a:ext cx="7370345" cy="210000"/>
          </a:xfrm>
          <a:prstGeom prst="roundRect">
            <a:avLst/>
          </a:prstGeom>
          <a:solidFill>
            <a:srgbClr val="334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9898985" y="4715000"/>
            <a:ext cx="28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555555"/>
                </a:solidFill>
              </a:rPr>
              <a:t>25 SP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8640" y="5015000"/>
            <a:ext cx="193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222222"/>
                </a:solidFill>
              </a:rPr>
              <a:t>E3   PHEF Test Input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498640" y="5025000"/>
            <a:ext cx="5306649" cy="210000"/>
          </a:xfrm>
          <a:prstGeom prst="roundRect">
            <a:avLst/>
          </a:prstGeom>
          <a:solidFill>
            <a:srgbClr val="4A5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7835289" y="5015000"/>
            <a:ext cx="28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555555"/>
                </a:solidFill>
              </a:rPr>
              <a:t>18 SP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8640" y="5315000"/>
            <a:ext cx="193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222222"/>
                </a:solidFill>
              </a:rPr>
              <a:t>E1   User Management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498640" y="5325000"/>
            <a:ext cx="5306649" cy="210000"/>
          </a:xfrm>
          <a:prstGeom prst="round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7835289" y="5315000"/>
            <a:ext cx="28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555555"/>
                </a:solidFill>
              </a:rPr>
              <a:t>18 SP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8640" y="5615000"/>
            <a:ext cx="193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222222"/>
                </a:solidFill>
              </a:rPr>
              <a:t>E2   Session Planning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2498640" y="5625000"/>
            <a:ext cx="4422207" cy="210000"/>
          </a:xfrm>
          <a:prstGeom prst="roundRect">
            <a:avLst/>
          </a:prstGeom>
          <a:solidFill>
            <a:srgbClr val="C3B0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950847" y="5615000"/>
            <a:ext cx="28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555555"/>
                </a:solidFill>
              </a:rPr>
              <a:t>15 SP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48640" y="5915000"/>
            <a:ext cx="193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222222"/>
                </a:solidFill>
              </a:rPr>
              <a:t>E10  Individual History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498640" y="5925000"/>
            <a:ext cx="4422207" cy="210000"/>
          </a:xfrm>
          <a:prstGeom prst="roundRect">
            <a:avLst/>
          </a:prstGeom>
          <a:solidFill>
            <a:srgbClr val="334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6950847" y="5915000"/>
            <a:ext cx="28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555555"/>
                </a:solidFill>
              </a:rPr>
              <a:t>15 SP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48640" y="6215000"/>
            <a:ext cx="193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222222"/>
                </a:solidFill>
              </a:rPr>
              <a:t>E6   Functional Test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2498640" y="6225000"/>
            <a:ext cx="3537766" cy="210000"/>
          </a:xfrm>
          <a:prstGeom prst="roundRect">
            <a:avLst/>
          </a:prstGeom>
          <a:solidFill>
            <a:srgbClr val="4A5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6066406" y="6215000"/>
            <a:ext cx="28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555555"/>
                </a:solidFill>
              </a:rPr>
              <a:t>12 SP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57200" y="64465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</a:rPr>
              <a:t>WarriorFit  ·  Technische voorstelling  ·  Benoit Goethals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515600" y="64465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</a:rPr>
              <a:t>21 / 22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4A5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515600" y="6446520"/>
            <a:ext cx="128016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4 / 20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30C7014-910A-AD78-B9A7-55374ABC14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231" y="337596"/>
            <a:ext cx="9661369" cy="644091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4A5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097280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1">
                <a:solidFill>
                  <a:srgbClr val="FFC107"/>
                </a:solidFill>
                <a:latin typeface="Calibri"/>
              </a:rPr>
              <a:t>POLYMORPHIC FITNESSTEST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097280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200" b="1">
                <a:solidFill>
                  <a:srgbClr val="222222"/>
                </a:solidFill>
                <a:latin typeface="Calibri"/>
              </a:rPr>
              <a:t>Joined-table inheritance via type-discriminator</a:t>
            </a:r>
          </a:p>
        </p:txBody>
      </p:sp>
      <p:pic>
        <p:nvPicPr>
          <p:cNvPr id="6" name="Picture 5" descr="datamod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92505"/>
            <a:ext cx="11094720" cy="481387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6446520"/>
            <a:ext cx="73152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WarriorFit  ·  Technische voorstelling  ·  Benoit Goethals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46520"/>
            <a:ext cx="128016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8 / 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 descr="Systeemarchitectuur en rapportagestructuur">
            <a:extLst>
              <a:ext uri="{FF2B5EF4-FFF2-40B4-BE49-F238E27FC236}">
                <a16:creationId xmlns:a16="http://schemas.microsoft.com/office/drawing/2014/main" id="{33C1E0B2-E84E-57C5-789B-C48136ED144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1961260" cy="19612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5" name="Picture 4" descr="A diagram of a software flowchart&#10;&#10;AI-generated content may be incorrect.">
            <a:extLst>
              <a:ext uri="{FF2B5EF4-FFF2-40B4-BE49-F238E27FC236}">
                <a16:creationId xmlns:a16="http://schemas.microsoft.com/office/drawing/2014/main" id="{F97CAEED-10EC-0A69-1F5B-8CCA5651AD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1313" y="25875"/>
            <a:ext cx="10280590" cy="68537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43747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4A5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99" name="TB"/>
          <p:cNvSpPr txBox="1">
            <a:spLocks noGrp="1"/>
          </p:cNvSpPr>
          <p:nvPr/>
        </p:nvSpPr>
        <p:spPr>
          <a:xfrm>
            <a:off x="548640" y="502920"/>
            <a:ext cx="1097280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r>
              <a:rPr lang="nl-BE" b="1" dirty="0">
                <a:solidFill>
                  <a:srgbClr val="FFC107"/>
                </a:solidFill>
              </a:rPr>
              <a:t>SECURITY &amp; AVG/GDPR</a:t>
            </a:r>
          </a:p>
        </p:txBody>
      </p:sp>
      <p:sp>
        <p:nvSpPr>
          <p:cNvPr id="4" name="TB"/>
          <p:cNvSpPr txBox="1">
            <a:spLocks noGrp="1"/>
          </p:cNvSpPr>
          <p:nvPr/>
        </p:nvSpPr>
        <p:spPr>
          <a:xfrm>
            <a:off x="548640" y="868680"/>
            <a:ext cx="10972800" cy="400000"/>
          </a:xfrm>
          <a:prstGeom prst="rect">
            <a:avLst/>
          </a:prstGeom>
          <a:noFill/>
        </p:spPr>
        <p:txBody>
          <a:bodyPr wrap="square" anchor="t"/>
          <a:lstStyle/>
          <a:p>
            <a:r>
              <a:rPr lang="nl-BE" sz="3200" b="1" dirty="0">
                <a:solidFill>
                  <a:srgbClr val="222222"/>
                </a:solidFill>
              </a:rPr>
              <a:t>OWASP · NIST CSF 2.0 · PostgreSQL TLS  ·  Art. 7/15/17/20 AVG</a:t>
            </a:r>
          </a:p>
        </p:txBody>
      </p:sp>
      <p:sp>
        <p:nvSpPr>
          <p:cNvPr id="5" name="TB"/>
          <p:cNvSpPr txBox="1">
            <a:spLocks noGrp="1"/>
          </p:cNvSpPr>
          <p:nvPr/>
        </p:nvSpPr>
        <p:spPr>
          <a:xfrm>
            <a:off x="548640" y="1520000"/>
            <a:ext cx="3400000" cy="5000000"/>
          </a:xfrm>
          <a:prstGeom prst="rect">
            <a:avLst/>
          </a:prstGeom>
          <a:noFill/>
        </p:spPr>
        <p:txBody>
          <a:bodyPr wrap="square" anchor="t"/>
          <a:lstStyle/>
          <a:p>
            <a:r>
              <a:rPr lang="nl-BE" sz="1600" b="1" dirty="0">
                <a:solidFill>
                  <a:srgbClr val="FFC107"/>
                </a:solidFill>
              </a:rPr>
              <a:t>Authenticatie &amp; Authorisatie</a:t>
            </a:r>
          </a:p>
          <a:p>
            <a:endParaRPr lang="nl-BE" sz="1600" b="1" dirty="0">
              <a:solidFill>
                <a:srgbClr val="FFC107"/>
              </a:solidFill>
            </a:endParaRPr>
          </a:p>
          <a:p>
            <a:r>
              <a:rPr lang="nl-BE" sz="1200" dirty="0">
                <a:solidFill>
                  <a:srgbClr val="333333"/>
                </a:solidFill>
              </a:rPr>
              <a:t>•  Argon2id (passlib), non-blocking</a:t>
            </a:r>
          </a:p>
          <a:p>
            <a:r>
              <a:rPr lang="nl-BE" sz="1200" dirty="0">
                <a:solidFill>
                  <a:srgbClr val="555555"/>
                </a:solidFill>
              </a:rPr>
              <a:t>   via asyncio.to_thread</a:t>
            </a:r>
          </a:p>
          <a:p>
            <a:r>
              <a:rPr lang="nl-BE" sz="1200" dirty="0">
                <a:solidFill>
                  <a:srgbClr val="333333"/>
                </a:solidFill>
              </a:rPr>
              <a:t>•  Login-modaal met masked toggle</a:t>
            </a:r>
          </a:p>
          <a:p>
            <a:r>
              <a:rPr lang="nl-BE" sz="1200" dirty="0">
                <a:solidFill>
                  <a:srgbClr val="333333"/>
                </a:solidFill>
              </a:rPr>
              <a:t>•  Serial-only login voor militairen</a:t>
            </a:r>
          </a:p>
          <a:p>
            <a:r>
              <a:rPr lang="nl-BE" sz="1200" dirty="0">
                <a:solidFill>
                  <a:srgbClr val="333333"/>
                </a:solidFill>
              </a:rPr>
              <a:t>•  UserStore per sessie (PR #217)</a:t>
            </a:r>
          </a:p>
          <a:p>
            <a:r>
              <a:rPr lang="nl-BE" sz="1200" dirty="0">
                <a:solidFill>
                  <a:srgbClr val="555555"/>
                </a:solidFill>
              </a:rPr>
              <a:t>   → geen cross-sessie leakage</a:t>
            </a:r>
          </a:p>
          <a:p>
            <a:endParaRPr lang="nl-BE" sz="1200" dirty="0">
              <a:solidFill>
                <a:srgbClr val="555555"/>
              </a:solidFill>
            </a:endParaRPr>
          </a:p>
          <a:p>
            <a:r>
              <a:rPr lang="nl-BE" sz="1200" b="1" dirty="0">
                <a:solidFill>
                  <a:srgbClr val="444444"/>
                </a:solidFill>
              </a:rPr>
              <a:t>RBAC</a:t>
            </a:r>
          </a:p>
          <a:p>
            <a:pPr>
              <a:spcBef>
                <a:spcPts val="50"/>
              </a:spcBef>
            </a:pPr>
            <a:r>
              <a:rPr lang="nl-BE" sz="1200" dirty="0">
                <a:solidFill>
                  <a:srgbClr val="333333"/>
                </a:solidFill>
              </a:rPr>
              <a:t>6 rollen: ADMIN PTI APTI PLANNER GUEST USER</a:t>
            </a:r>
          </a:p>
          <a:p>
            <a:r>
              <a:rPr lang="nl-BE" sz="1200" dirty="0">
                <a:solidFill>
                  <a:srgbClr val="333333"/>
                </a:solidFill>
              </a:rPr>
              <a:t>PageSpec.allowed_roles → paginabeveiliging</a:t>
            </a:r>
          </a:p>
          <a:p>
            <a:r>
              <a:rPr lang="nl-BE" sz="1200" dirty="0">
                <a:solidFill>
                  <a:srgbClr val="333333"/>
                </a:solidFill>
              </a:rPr>
              <a:t>_assert_can_modify_tests() in ServiceTest</a:t>
            </a:r>
          </a:p>
          <a:p>
            <a:r>
              <a:rPr lang="nl-BE" sz="1200" dirty="0">
                <a:solidFill>
                  <a:srgbClr val="333333"/>
                </a:solidFill>
              </a:rPr>
              <a:t>MOM X-API-Key (constant-time compare)</a:t>
            </a:r>
          </a:p>
        </p:txBody>
      </p:sp>
      <p:sp>
        <p:nvSpPr>
          <p:cNvPr id="6" name="TB"/>
          <p:cNvSpPr txBox="1">
            <a:spLocks noGrp="1"/>
          </p:cNvSpPr>
          <p:nvPr/>
        </p:nvSpPr>
        <p:spPr>
          <a:xfrm>
            <a:off x="4048640" y="1520000"/>
            <a:ext cx="3300000" cy="5000000"/>
          </a:xfrm>
          <a:prstGeom prst="rect">
            <a:avLst/>
          </a:prstGeom>
          <a:noFill/>
        </p:spPr>
        <p:txBody>
          <a:bodyPr wrap="square" anchor="t"/>
          <a:lstStyle/>
          <a:p>
            <a:r>
              <a:rPr lang="nl-BE" sz="1600" b="1" dirty="0">
                <a:solidFill>
                  <a:srgbClr val="FFC107"/>
                </a:solidFill>
              </a:rPr>
              <a:t>Infra &amp; Compliance</a:t>
            </a:r>
          </a:p>
          <a:p>
            <a:endParaRPr lang="nl-BE" sz="1600" b="1" dirty="0">
              <a:solidFill>
                <a:srgbClr val="FFC107"/>
              </a:solidFill>
            </a:endParaRPr>
          </a:p>
          <a:p>
            <a:r>
              <a:rPr lang="nl-BE" sz="1200" dirty="0">
                <a:solidFill>
                  <a:srgbClr val="333333"/>
                </a:solidFill>
              </a:rPr>
              <a:t>•  PostgreSQL SSL/TLS + ssl_root_cert</a:t>
            </a:r>
          </a:p>
          <a:p>
            <a:r>
              <a:rPr lang="nl-BE" sz="1200" dirty="0">
                <a:solidFill>
                  <a:srgbClr val="333333"/>
                </a:solidFill>
              </a:rPr>
              <a:t>•  CORS lockdown (methods/headers/origins)</a:t>
            </a:r>
          </a:p>
          <a:p>
            <a:r>
              <a:rPr lang="nl-BE" sz="1200" dirty="0">
                <a:solidFill>
                  <a:srgbClr val="333333"/>
                </a:solidFill>
              </a:rPr>
              <a:t>•  Docker read-only volume voor settings</a:t>
            </a:r>
          </a:p>
          <a:p>
            <a:r>
              <a:rPr lang="nl-BE" sz="1200" dirty="0">
                <a:solidFill>
                  <a:srgbClr val="333333"/>
                </a:solidFill>
              </a:rPr>
              <a:t>•  NIST CSF 2.0 self-assessment</a:t>
            </a:r>
          </a:p>
          <a:p>
            <a:r>
              <a:rPr lang="nl-BE" sz="1200" dirty="0">
                <a:solidFill>
                  <a:srgbClr val="333333"/>
                </a:solidFill>
              </a:rPr>
              <a:t>•  SECURITY.md: OWASP Top 10 review</a:t>
            </a:r>
          </a:p>
          <a:p>
            <a:endParaRPr lang="nl-BE" sz="1200" dirty="0">
              <a:solidFill>
                <a:srgbClr val="333333"/>
              </a:solidFill>
            </a:endParaRPr>
          </a:p>
          <a:p>
            <a:r>
              <a:rPr lang="nl-BE" sz="1600" b="1" dirty="0">
                <a:solidFill>
                  <a:srgbClr val="FFC107"/>
                </a:solidFill>
              </a:rPr>
              <a:t>Dashboard &amp; Analytics</a:t>
            </a:r>
          </a:p>
          <a:p>
            <a:endParaRPr lang="nl-BE" sz="1600" b="1" dirty="0">
              <a:solidFill>
                <a:srgbClr val="FFC107"/>
              </a:solidFill>
            </a:endParaRPr>
          </a:p>
          <a:p>
            <a:r>
              <a:rPr lang="nl-BE" sz="1200" dirty="0">
                <a:solidFill>
                  <a:srgbClr val="333333"/>
                </a:solidFill>
              </a:rPr>
              <a:t>•  Plotly + async aggregaties per eenheid</a:t>
            </a:r>
          </a:p>
          <a:p>
            <a:r>
              <a:rPr lang="nl-BE" sz="1200" dirty="0">
                <a:solidFill>
                  <a:srgbClr val="333333"/>
                </a:solidFill>
              </a:rPr>
              <a:t>•  Coverage gauges + leeftijdscategorie</a:t>
            </a:r>
          </a:p>
          <a:p>
            <a:r>
              <a:rPr lang="nl-BE" sz="1200" dirty="0">
                <a:solidFill>
                  <a:srgbClr val="555555"/>
                </a:solidFill>
              </a:rPr>
              <a:t>   pass rate + maandelijkse trend</a:t>
            </a:r>
          </a:p>
          <a:p>
            <a:r>
              <a:rPr lang="nl-BE" sz="1200" dirty="0">
                <a:solidFill>
                  <a:srgbClr val="333333"/>
                </a:solidFill>
              </a:rPr>
              <a:t>•  MFFT-bottleneck + per-event histogrammen</a:t>
            </a:r>
          </a:p>
        </p:txBody>
      </p:sp>
      <p:sp>
        <p:nvSpPr>
          <p:cNvPr id="7" name="TB"/>
          <p:cNvSpPr txBox="1">
            <a:spLocks noGrp="1"/>
          </p:cNvSpPr>
          <p:nvPr/>
        </p:nvSpPr>
        <p:spPr>
          <a:xfrm>
            <a:off x="7448640" y="1520000"/>
            <a:ext cx="4072800" cy="5000000"/>
          </a:xfrm>
          <a:prstGeom prst="rect">
            <a:avLst/>
          </a:prstGeom>
          <a:noFill/>
        </p:spPr>
        <p:txBody>
          <a:bodyPr wrap="square" anchor="t"/>
          <a:lstStyle/>
          <a:p>
            <a:r>
              <a:rPr lang="nl-BE" sz="1600" b="1" dirty="0">
                <a:solidFill>
                  <a:srgbClr val="FFC107"/>
                </a:solidFill>
              </a:rPr>
              <a:t>AVG / GDPR</a:t>
            </a:r>
          </a:p>
          <a:p>
            <a:endParaRPr lang="nl-BE" sz="1600" b="1" dirty="0">
              <a:solidFill>
                <a:srgbClr val="FFC107"/>
              </a:solidFill>
            </a:endParaRPr>
          </a:p>
          <a:p>
            <a:r>
              <a:rPr lang="nl-BE" sz="1200" dirty="0">
                <a:solidFill>
                  <a:srgbClr val="333333"/>
                </a:solidFill>
              </a:rPr>
              <a:t>•  UserConsent-tabel (append-only)</a:t>
            </a:r>
          </a:p>
          <a:p>
            <a:r>
              <a:rPr lang="nl-BE" sz="1200" dirty="0">
                <a:solidFill>
                  <a:srgbClr val="333333"/>
                </a:solidFill>
              </a:rPr>
              <a:t>•  Art. 7 — toestemming via Privacy-pagina</a:t>
            </a:r>
          </a:p>
          <a:p>
            <a:r>
              <a:rPr lang="nl-BE" sz="1200" dirty="0">
                <a:solidFill>
                  <a:srgbClr val="333333"/>
                </a:solidFill>
              </a:rPr>
              <a:t>•  Art. 15 — JSON-export testdata + sessies</a:t>
            </a:r>
          </a:p>
          <a:p>
            <a:r>
              <a:rPr lang="nl-BE" sz="1200" dirty="0">
                <a:solidFill>
                  <a:srgbClr val="333333"/>
                </a:solidFill>
              </a:rPr>
              <a:t>•  Art. 20 — portabele data-export</a:t>
            </a:r>
          </a:p>
          <a:p>
            <a:r>
              <a:rPr lang="nl-BE" sz="1200" dirty="0">
                <a:solidFill>
                  <a:srgbClr val="333333"/>
                </a:solidFill>
              </a:rPr>
              <a:t>•  Art. 17 — RetentionService + _purge_*</a:t>
            </a:r>
          </a:p>
          <a:p>
            <a:r>
              <a:rPr lang="nl-BE" sz="1200" dirty="0">
                <a:solidFill>
                  <a:srgbClr val="333333"/>
                </a:solidFill>
              </a:rPr>
              <a:t>•  Audit log: CREATE / UPDATE / DELETE</a:t>
            </a:r>
          </a:p>
          <a:p>
            <a:r>
              <a:rPr lang="nl-BE" sz="1200" dirty="0">
                <a:solidFill>
                  <a:srgbClr val="333333"/>
                </a:solidFill>
              </a:rPr>
              <a:t>•  Admin: consent-status per militair</a:t>
            </a:r>
          </a:p>
          <a:p>
            <a:endParaRPr lang="nl-BE" sz="1200" dirty="0">
              <a:solidFill>
                <a:srgbClr val="333333"/>
              </a:solidFill>
            </a:endParaRPr>
          </a:p>
          <a:p>
            <a:r>
              <a:rPr lang="nl-BE" sz="1200" b="1" dirty="0">
                <a:solidFill>
                  <a:srgbClr val="444444"/>
                </a:solidFill>
              </a:rPr>
              <a:t>Documentatie</a:t>
            </a:r>
          </a:p>
          <a:p>
            <a:pPr>
              <a:spcBef>
                <a:spcPts val="50"/>
              </a:spcBef>
            </a:pPr>
            <a:r>
              <a:rPr lang="nl-BE" sz="1200" dirty="0">
                <a:solidFill>
                  <a:srgbClr val="555555"/>
                </a:solidFill>
              </a:rPr>
              <a:t>PRIVACY_POLICY.md  ·  DPIA.md</a:t>
            </a:r>
          </a:p>
          <a:p>
            <a:r>
              <a:rPr lang="nl-BE" sz="1200" dirty="0">
                <a:solidFill>
                  <a:srgbClr val="555555"/>
                </a:solidFill>
              </a:rPr>
              <a:t>NIST_CSF_2.0.md  ·  SECURITY.md</a:t>
            </a:r>
          </a:p>
          <a:p>
            <a:r>
              <a:rPr lang="nl-BE" sz="1200" dirty="0">
                <a:solidFill>
                  <a:srgbClr val="555555"/>
                </a:solidFill>
              </a:rPr>
              <a:t>AuditLog ORM + audit_logs tabel</a:t>
            </a:r>
          </a:p>
        </p:txBody>
      </p:sp>
      <p:sp>
        <p:nvSpPr>
          <p:cNvPr id="8" name="TB"/>
          <p:cNvSpPr txBox="1">
            <a:spLocks noGrp="1"/>
          </p:cNvSpPr>
          <p:nvPr/>
        </p:nvSpPr>
        <p:spPr>
          <a:xfrm>
            <a:off x="457200" y="6446520"/>
            <a:ext cx="7315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r>
              <a:rPr lang="nl-BE" sz="1200" dirty="0">
                <a:solidFill>
                  <a:srgbClr val="555555"/>
                </a:solidFill>
              </a:rPr>
              <a:t>WarriorFit  ·  Technische voorstelling  ·  Benoit Goethals</a:t>
            </a:r>
          </a:p>
        </p:txBody>
      </p:sp>
      <p:sp>
        <p:nvSpPr>
          <p:cNvPr id="9" name="TB"/>
          <p:cNvSpPr txBox="1">
            <a:spLocks noGrp="1"/>
          </p:cNvSpPr>
          <p:nvPr/>
        </p:nvSpPr>
        <p:spPr>
          <a:xfrm>
            <a:off x="10515600" y="6446520"/>
            <a:ext cx="12801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r>
              <a:rPr lang="nl-BE" sz="1200" dirty="0">
                <a:solidFill>
                  <a:srgbClr val="555555"/>
                </a:solidFill>
              </a:rPr>
              <a:t>12 / 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34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1">
                <a:solidFill>
                  <a:srgbClr val="FFC107"/>
                </a:solidFill>
                <a:latin typeface="Calibri"/>
              </a:rPr>
              <a:t>VOLGENDE STAPPEN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0972800" cy="868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Productie-pilot Q3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194560"/>
            <a:ext cx="3566160" cy="3840480"/>
          </a:xfrm>
          <a:prstGeom prst="roundRect">
            <a:avLst/>
          </a:prstGeom>
          <a:solidFill>
            <a:srgbClr val="4A5D23"/>
          </a:solidFill>
          <a:ln>
            <a:solidFill>
              <a:srgbClr val="FFC1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2468880"/>
            <a:ext cx="3200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FFC107"/>
                </a:solidFill>
                <a:latin typeface="Calibri"/>
              </a:rPr>
              <a:t>Korte termijn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017520"/>
            <a:ext cx="3200400" cy="3017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0">
                <a:solidFill>
                  <a:srgbClr val="F5F1E6"/>
                </a:solidFill>
                <a:latin typeface="Calibri"/>
              </a:rPr>
              <a:t>→  BEMIL-API productie-koppeling</a:t>
            </a:r>
          </a:p>
          <a:p>
            <a:pPr algn="l"/>
            <a:r>
              <a:rPr sz="1300" b="0">
                <a:solidFill>
                  <a:srgbClr val="F5F1E6"/>
                </a:solidFill>
                <a:latin typeface="Calibri"/>
              </a:rPr>
              <a:t>→  SSO voor militair-login (Defensie IdP)</a:t>
            </a:r>
          </a:p>
          <a:p>
            <a:pPr algn="l"/>
            <a:r>
              <a:rPr sz="1300" b="0">
                <a:solidFill>
                  <a:srgbClr val="F5F1E6"/>
                </a:solidFill>
                <a:latin typeface="Calibri"/>
              </a:rPr>
              <a:t>→  Admin UI voor dead-letter queue</a:t>
            </a:r>
          </a:p>
          <a:p>
            <a:pPr algn="l"/>
            <a:r>
              <a:rPr sz="1300" b="0">
                <a:solidFill>
                  <a:srgbClr val="F5F1E6"/>
                </a:solidFill>
                <a:latin typeface="Calibri"/>
              </a:rPr>
              <a:t>→  i18n missing-key linter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2194560"/>
            <a:ext cx="3566160" cy="3840480"/>
          </a:xfrm>
          <a:prstGeom prst="roundRect">
            <a:avLst/>
          </a:prstGeom>
          <a:solidFill>
            <a:srgbClr val="4A5D23"/>
          </a:solidFill>
          <a:ln>
            <a:solidFill>
              <a:srgbClr val="FFC1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0" y="2468880"/>
            <a:ext cx="3200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FFC107"/>
                </a:solidFill>
                <a:latin typeface="Calibri"/>
              </a:rPr>
              <a:t>Middel-lang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3017520"/>
            <a:ext cx="3200400" cy="129266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0" dirty="0">
                <a:solidFill>
                  <a:srgbClr val="F5F1E6"/>
                </a:solidFill>
                <a:latin typeface="Calibri"/>
              </a:rPr>
              <a:t>→  MFFT </a:t>
            </a:r>
            <a:r>
              <a:rPr sz="1300" b="0" dirty="0" err="1">
                <a:solidFill>
                  <a:srgbClr val="F5F1E6"/>
                </a:solidFill>
                <a:latin typeface="Calibri"/>
              </a:rPr>
              <a:t>scoretabellen</a:t>
            </a:r>
            <a:r>
              <a:rPr sz="1300" b="0" dirty="0">
                <a:solidFill>
                  <a:srgbClr val="F5F1E6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F5F1E6"/>
                </a:solidFill>
                <a:latin typeface="Calibri"/>
              </a:rPr>
              <a:t>configureerbaar</a:t>
            </a:r>
            <a:r>
              <a:rPr sz="1300" b="0" dirty="0">
                <a:solidFill>
                  <a:srgbClr val="F5F1E6"/>
                </a:solidFill>
                <a:latin typeface="Calibri"/>
              </a:rPr>
              <a:t> (YAML / DB)</a:t>
            </a:r>
          </a:p>
          <a:p>
            <a:pPr algn="l"/>
            <a:r>
              <a:rPr sz="1300" b="0" dirty="0">
                <a:solidFill>
                  <a:srgbClr val="F5F1E6"/>
                </a:solidFill>
                <a:latin typeface="Calibri"/>
              </a:rPr>
              <a:t>→  Per-soldier drill-down </a:t>
            </a:r>
            <a:r>
              <a:rPr sz="1300" b="0" dirty="0" err="1">
                <a:solidFill>
                  <a:srgbClr val="F5F1E6"/>
                </a:solidFill>
                <a:latin typeface="Calibri"/>
              </a:rPr>
              <a:t>vanuit</a:t>
            </a:r>
            <a:r>
              <a:rPr sz="1300" b="0" dirty="0">
                <a:solidFill>
                  <a:srgbClr val="F5F1E6"/>
                </a:solidFill>
                <a:latin typeface="Calibri"/>
              </a:rPr>
              <a:t> Analytics-</a:t>
            </a:r>
            <a:r>
              <a:rPr sz="1300" b="0" dirty="0" err="1">
                <a:solidFill>
                  <a:srgbClr val="F5F1E6"/>
                </a:solidFill>
                <a:latin typeface="Calibri"/>
              </a:rPr>
              <a:t>grafieken</a:t>
            </a:r>
            <a:endParaRPr sz="1300" b="0" dirty="0">
              <a:solidFill>
                <a:srgbClr val="F5F1E6"/>
              </a:solidFill>
              <a:latin typeface="Calibri"/>
            </a:endParaRPr>
          </a:p>
          <a:p>
            <a:pPr algn="l"/>
            <a:r>
              <a:rPr sz="1300" b="0" dirty="0">
                <a:solidFill>
                  <a:srgbClr val="F5F1E6"/>
                </a:solidFill>
                <a:latin typeface="Calibri"/>
              </a:rPr>
              <a:t>→  OPS_SP / TER_SP cluster-support op </a:t>
            </a:r>
            <a:r>
              <a:rPr sz="1300" b="0" dirty="0" err="1">
                <a:solidFill>
                  <a:srgbClr val="F5F1E6"/>
                </a:solidFill>
                <a:latin typeface="Calibri"/>
              </a:rPr>
              <a:t>personeel-niveau</a:t>
            </a:r>
            <a:endParaRPr sz="1300" b="0" dirty="0">
              <a:solidFill>
                <a:srgbClr val="F5F1E6"/>
              </a:solidFill>
              <a:latin typeface="Calibri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8046720" y="2194560"/>
            <a:ext cx="3566160" cy="3840480"/>
          </a:xfrm>
          <a:prstGeom prst="roundRect">
            <a:avLst/>
          </a:prstGeom>
          <a:solidFill>
            <a:srgbClr val="4A5D23"/>
          </a:solidFill>
          <a:ln>
            <a:solidFill>
              <a:srgbClr val="FFC1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321040" y="2468880"/>
            <a:ext cx="3200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FFC107"/>
                </a:solidFill>
                <a:latin typeface="Calibri"/>
              </a:rPr>
              <a:t>Lang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3017520"/>
            <a:ext cx="3200400" cy="8925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0" dirty="0">
                <a:solidFill>
                  <a:srgbClr val="F5F1E6"/>
                </a:solidFill>
                <a:latin typeface="Calibri"/>
              </a:rPr>
              <a:t>→  Roll-out per </a:t>
            </a:r>
            <a:r>
              <a:rPr sz="1300" b="0" dirty="0" err="1">
                <a:solidFill>
                  <a:srgbClr val="F5F1E6"/>
                </a:solidFill>
                <a:latin typeface="Calibri"/>
              </a:rPr>
              <a:t>bataljo</a:t>
            </a:r>
            <a:r>
              <a:rPr lang="nl-BE" sz="1300" b="0" dirty="0">
                <a:solidFill>
                  <a:srgbClr val="F5F1E6"/>
                </a:solidFill>
                <a:latin typeface="Calibri"/>
              </a:rPr>
              <a:t>n</a:t>
            </a:r>
            <a:endParaRPr sz="1300" b="0" dirty="0">
              <a:solidFill>
                <a:srgbClr val="F5F1E6"/>
              </a:solidFill>
              <a:latin typeface="Calibri"/>
            </a:endParaRPr>
          </a:p>
          <a:p>
            <a:pPr algn="l"/>
            <a:endParaRPr sz="1300" b="0" dirty="0">
              <a:solidFill>
                <a:srgbClr val="F5F1E6"/>
              </a:solidFill>
              <a:latin typeface="Calibri"/>
            </a:endParaRPr>
          </a:p>
          <a:p>
            <a:pPr algn="l"/>
            <a:r>
              <a:rPr sz="1300" b="0" dirty="0">
                <a:solidFill>
                  <a:srgbClr val="F5F1E6"/>
                </a:solidFill>
                <a:latin typeface="Calibri"/>
              </a:rPr>
              <a:t>→  Cross-</a:t>
            </a:r>
            <a:r>
              <a:rPr sz="1300" b="0" dirty="0" err="1">
                <a:solidFill>
                  <a:srgbClr val="F5F1E6"/>
                </a:solidFill>
                <a:latin typeface="Calibri"/>
              </a:rPr>
              <a:t>eenheid</a:t>
            </a:r>
            <a:r>
              <a:rPr sz="1300" b="0" dirty="0">
                <a:solidFill>
                  <a:srgbClr val="F5F1E6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F5F1E6"/>
                </a:solidFill>
                <a:latin typeface="Calibri"/>
              </a:rPr>
              <a:t>statistieken</a:t>
            </a:r>
            <a:endParaRPr sz="1300" b="0" dirty="0">
              <a:solidFill>
                <a:srgbClr val="F5F1E6"/>
              </a:solidFill>
              <a:latin typeface="Calibri"/>
            </a:endParaRPr>
          </a:p>
          <a:p>
            <a:pPr algn="l"/>
            <a:r>
              <a:rPr sz="1300" b="0" dirty="0">
                <a:solidFill>
                  <a:srgbClr val="F5F1E6"/>
                </a:solidFill>
                <a:latin typeface="Calibri"/>
              </a:rPr>
              <a:t>→  Mobile-companion (Shiny Express)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0">
                <a:solidFill>
                  <a:srgbClr val="C3B091"/>
                </a:solidFill>
                <a:latin typeface="Calibri"/>
              </a:rPr>
              <a:t>benoit.goethals@gmail.com  ·  github.com/BenoitGoethals/WarriorFit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3756</TotalTime>
  <Words>900</Words>
  <Application>Microsoft Macintosh PowerPoint</Application>
  <PresentationFormat>Widescreen</PresentationFormat>
  <Paragraphs>211</Paragraphs>
  <Slides>11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Benoit Goethals</cp:lastModifiedBy>
  <cp:revision>9</cp:revision>
  <dcterms:created xsi:type="dcterms:W3CDTF">2013-01-27T09:14:16Z</dcterms:created>
  <dcterms:modified xsi:type="dcterms:W3CDTF">2026-06-24T13:12:07Z</dcterms:modified>
  <cp:category/>
</cp:coreProperties>
</file>