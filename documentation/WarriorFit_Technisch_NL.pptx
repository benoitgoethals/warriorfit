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37744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FC107"/>
                </a:solidFill>
                <a:latin typeface="Calibri"/>
              </a:rPr>
              <a:t>⚔  TECHNISCHE VOORSTELLING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109728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WarriorFit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20440"/>
            <a:ext cx="109728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FFC107"/>
                </a:solidFill>
                <a:latin typeface="Calibri"/>
              </a:rPr>
              <a:t>Architectuur · Stack · Patronen · Security · Eval MFFT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C3B091"/>
                </a:solidFill>
                <a:latin typeface="Calibri"/>
              </a:rPr>
              <a:t>Shiny for Python · SQLAlchemy async · PostgreSQL · dependency-injector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C3B091"/>
                </a:solidFill>
                <a:latin typeface="Calibri"/>
              </a:rPr>
              <a:t>Benoit Goethals  ·  Academiejaar 2025-2026  ·  ~1 050 commits · 273 SP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TECHNOLOGIE-STACK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222222"/>
                </a:solidFill>
                <a:latin typeface="Calibri"/>
              </a:rPr>
              <a:t>Pure Python, volledig async, één gedeelde codebase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2743200" cy="18288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Shiny for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8036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1.4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Reactive web UI · 24 pagina's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194560"/>
            <a:ext cx="2743200" cy="18288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237744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SQLAlchemy 2.x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88036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asyncio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24612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ORM · joined-table inheritance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194560"/>
            <a:ext cx="2743200" cy="18288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37744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88036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16 · SSL/TLS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24612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Persistentie + audit + outbox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2194560"/>
            <a:ext cx="2743200" cy="1828800"/>
          </a:xfrm>
          <a:prstGeom prst="roundRect">
            <a:avLst/>
          </a:prstGeom>
          <a:solidFill>
            <a:srgbClr val="C3B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237744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dependency-injector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88036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Singleton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4612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DI container · 40+ singletons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06240"/>
            <a:ext cx="2743200" cy="18288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38912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Plotly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express+graph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Dashboards · histograms · gauges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4720" y="4206240"/>
            <a:ext cx="2743200" cy="18288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0" y="438912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Argon2id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489204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via passlib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525780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Password hashing · non-blocking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4206240"/>
            <a:ext cx="2743200" cy="1828800"/>
          </a:xfrm>
          <a:prstGeom prst="roundRect">
            <a:avLst/>
          </a:prstGeom>
          <a:solidFill>
            <a:srgbClr val="C3B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438912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reportlab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89204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A4 / landscape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25780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PDF rapporten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4206240"/>
            <a:ext cx="2743200" cy="18288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438912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pytest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489204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asyncio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25780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171 groen · 30 MFFT-tests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Python 3.13+  ·  uv voor afhankelijkheden  ·  ruff (line-length 100) + mypy strict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ARCHITECTUUR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222222"/>
                </a:solidFill>
                <a:latin typeface="Calibri"/>
              </a:rPr>
              <a:t>Gelaagde, unidirectionele afhankelijkheidsstroom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5486400" cy="64008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49424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UI · Shiny Pages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42032"/>
            <a:ext cx="512064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F5F1E6"/>
                </a:solidFill>
                <a:latin typeface="Calibri"/>
              </a:rPr>
              <a:t>24 pagina's · RBAC per rol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71800"/>
            <a:ext cx="5486400" cy="64008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026664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Controllers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19272"/>
            <a:ext cx="512064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F5F1E6"/>
                </a:solidFill>
                <a:latin typeface="Calibri"/>
              </a:rPr>
              <a:t>21 controllers · reactive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49039"/>
            <a:ext cx="5486400" cy="64008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803903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Services + Broker + Calculators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96511"/>
            <a:ext cx="512064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F5F1E6"/>
                </a:solidFill>
                <a:latin typeface="Calibri"/>
              </a:rPr>
              <a:t>Async business logic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526279"/>
            <a:ext cx="5486400" cy="64008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581143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Repositories (async)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73751"/>
            <a:ext cx="512064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F5F1E6"/>
                </a:solidFill>
                <a:latin typeface="Calibri"/>
              </a:rPr>
              <a:t>Polymorphic FitnessTest queries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03520"/>
            <a:ext cx="5486400" cy="64008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358384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ORM Models +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50992"/>
            <a:ext cx="512064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F5F1E6"/>
                </a:solidFill>
                <a:latin typeface="Calibri"/>
              </a:rPr>
              <a:t>Joined-table inheritance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114800"/>
            <a:ext cx="365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400" b="1">
                <a:solidFill>
                  <a:srgbClr val="334218"/>
                </a:solidFill>
                <a:latin typeface="Calibri"/>
              </a:rPr>
              <a:t>↓</a:t>
            </a:r>
          </a:p>
        </p:txBody>
      </p:sp>
      <p:pic>
        <p:nvPicPr>
          <p:cNvPr id="22" name="Picture 21" descr="overview-WARRIORFIT_Architectu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526867"/>
            <a:ext cx="5029200" cy="354162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MODULE-STRUCTUUR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222222"/>
                </a:solidFill>
                <a:latin typeface="Calibri"/>
              </a:rPr>
              <a:t>Eén Python-package per laag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10972800" cy="4023360"/>
          </a:xfrm>
          <a:prstGeom prst="round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07040" cy="3749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warriorfit/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├── app.py                        # Entry point · DI wire-up · broker lifecycle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├── core/                         # Enums + DI container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│   ├── container.py              # DeclarativeContainer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│   ├── cluster.py                # Cluster enum (COMBAT / ENABLER / OPS_SP / TER_SP / NON_DEP)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│   ├── mfft_level.py             # GOLD / SILVER / BRONZE / FIT / UNFIT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│   └── type_fitness_test.py      # PHEF / COMBAT / FUNCTIONAL / SWIMMING / MFFT_EVAL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├── data/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│   ├── model/db_model.py         # Polymorphic FitnessTest + 5 subtypes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│   └── repositories/             # 8 async repositories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├── logic/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│   ├── phef_calculator.py        # Side-bridge + 2400 m run scoring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│   └── mfft_eval_calculator.py   # 8-event scoring · 5 clusters · 4 tiers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├── services/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│   ├── service_test.py           # CRUD + e-mailrespons + audit log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│   ├── data_collector.py         # Aggregaties voor reports / dashboards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│   ├── report_generator_pdf.py   # Landscape A4 voor MFFT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│   └── report_generator_csv.py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├── mom/broker.py                 # Outbox · backoff · dead-letter · email alert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├── ui/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│   ├── pages/   (24 pagina's incl. mfft_eval, test_analytics)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│   └── controllers/  (21 controllers)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└── i18n/                         # EN / NL / FR · ~498 keys per locale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PAGE-PATROON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222222"/>
                </a:solidFill>
                <a:latin typeface="Calibri"/>
              </a:rPr>
              <a:t>Lazy _page + @inject + BaseTestPage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Elke pagina volgt hetzelfde patroon — DI-injectie gebeurt bij eerste call: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6858000" cy="3291840"/>
          </a:xfrm>
          <a:prstGeom prst="round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80360"/>
            <a:ext cx="649224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_page = None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/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def _get_page():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global _page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if _page is None: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_page = MfftEvalPage()   # @inject pakt controllers uit Container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return _page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/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def get_ui():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return _get_page().get_ui()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/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def server(input, output, session):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return _get_page().server(input, output, session)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743200"/>
            <a:ext cx="4206240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BaseTestPage levert refresh_tick, refresh_on_nav, fetch_all_servicemen_df en setup_session_management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Page registratie in PageSpec met allowed_roles ⇒ RBAC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Reactive effecten op input.* drijven validatie + tier-badges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@reactive.invalidate_later voor live metrics (Status Application, Broker health)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refresh_tick voor event-driven grids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DI CONTAINER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222222"/>
                </a:solidFill>
                <a:latin typeface="Calibri"/>
              </a:rPr>
              <a:t>dependency-injector · 40+ singletons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7132320" cy="4114800"/>
          </a:xfrm>
          <a:prstGeom prst="round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676656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class Container(containers.DeclarativeContainer):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config = providers.Singleton(ApplicationConfig)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/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# Repositories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user_repository = providers.Singleton(UserRepository, config=config)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fitness_test_repository = providers.Singleton(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FitnessTestRepository, config=config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/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# Services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test_service = providers.Singleton(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ServiceTest,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fitness_test_repository=fitness_test_repository,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user_repository=user_repository,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notify_mail=notify_mail,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/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# Controllers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mfft_eval_controller = providers.Singleton(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MfftEvalController,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service=test_service,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mil_service=military_service,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194560"/>
            <a:ext cx="4114800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Container is single source of truth voor lifecycles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wiring_config.modules vermeldt alle Shiny pages die @inject gebruiken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Repositories + services + controllers = Singleton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Geen handmatig new() in pagina's of services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Test isolatie: Singleton._instances reset in fixtures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ASYNC REPOSITORIES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222222"/>
                </a:solidFill>
                <a:latin typeface="Calibri"/>
              </a:rPr>
              <a:t>async_sessionmaker · AsyncSession · transactions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10972800" cy="4114800"/>
          </a:xfrm>
          <a:prstGeom prst="round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0704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async def add_test_session(self, ts: TestSession) -&gt; TestSession | None: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try: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async with self.SessionLocal() as session, session.begin():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    session.add(ts)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    # Flush eerst — anders is de instance nog 'pending'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    # en faalt refresh() met "Instance is not persistent"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    await session.flush()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    await session.refresh(ts)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    return ts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except IntegrityError as e: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self._logger.error("Integrity error adding test session: %s", str(e))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return None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except SQLAlchemyError as e: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self._logger.error("Database error adding test session: %s", str(e))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return None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POLYMORPHIC FITNESSTEST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222222"/>
                </a:solidFill>
                <a:latin typeface="Calibri"/>
              </a:rPr>
              <a:t>Joined-table inheritance via type-discriminator</a:t>
            </a:r>
          </a:p>
        </p:txBody>
      </p:sp>
      <p:pic>
        <p:nvPicPr>
          <p:cNvPr id="6" name="Picture 5" descr="data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64970"/>
            <a:ext cx="7315200" cy="31739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38160" y="2194560"/>
            <a:ext cx="3840480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FitnessTest = base met id, serial_number, type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Subtypes: PhefTest, CombatTestParatrooper, CombatSwimmingTest, FunctionalTest, MfftEvalTest (2026)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polymorphic_identity → mfft_eval_test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Discriminator ook in PG enum typefitnesstest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selectin_polymorphic in alle queries voor eager-loading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Eén FitnessTestRepository serveert alle subtypes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MFFT EVAL CALCULATOR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222222"/>
                </a:solidFill>
                <a:latin typeface="Calibri"/>
              </a:rPr>
              <a:t>5 clusters × 4 tiers · 8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777240" cy="411480"/>
          </a:xfrm>
          <a:prstGeom prst="rect">
            <a:avLst/>
          </a:prstGeom>
          <a:solidFill>
            <a:srgbClr val="334218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2194560"/>
            <a:ext cx="777240" cy="411480"/>
          </a:xfrm>
          <a:prstGeom prst="rect">
            <a:avLst/>
          </a:prstGeom>
          <a:solidFill>
            <a:srgbClr val="334218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24028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Pull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03120" y="2194560"/>
            <a:ext cx="777240" cy="411480"/>
          </a:xfrm>
          <a:prstGeom prst="rect">
            <a:avLst/>
          </a:prstGeom>
          <a:solidFill>
            <a:srgbClr val="334218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0" y="224028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Burp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360" y="2194560"/>
            <a:ext cx="777240" cy="411480"/>
          </a:xfrm>
          <a:prstGeom prst="rect">
            <a:avLst/>
          </a:prstGeom>
          <a:solidFill>
            <a:srgbClr val="334218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224028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Farm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2194560"/>
            <a:ext cx="777240" cy="411480"/>
          </a:xfrm>
          <a:prstGeom prst="rect">
            <a:avLst/>
          </a:prstGeom>
          <a:solidFill>
            <a:srgbClr val="334218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224028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Push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2194560"/>
            <a:ext cx="777240" cy="411480"/>
          </a:xfrm>
          <a:prstGeom prst="rect">
            <a:avLst/>
          </a:prstGeom>
          <a:solidFill>
            <a:srgbClr val="334218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224028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Drag 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12080" y="2194560"/>
            <a:ext cx="777240" cy="411480"/>
          </a:xfrm>
          <a:prstGeom prst="rect">
            <a:avLst/>
          </a:prstGeom>
          <a:solidFill>
            <a:srgbClr val="334218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224028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Sand 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9320" y="2194560"/>
            <a:ext cx="777240" cy="411480"/>
          </a:xfrm>
          <a:prstGeom prst="rect">
            <a:avLst/>
          </a:prstGeom>
          <a:solidFill>
            <a:srgbClr val="334218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224028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Run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2194560"/>
            <a:ext cx="777240" cy="411480"/>
          </a:xfrm>
          <a:prstGeom prst="rect">
            <a:avLst/>
          </a:prstGeom>
          <a:solidFill>
            <a:srgbClr val="334218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224028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Swim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606040"/>
            <a:ext cx="777240" cy="411480"/>
          </a:xfrm>
          <a:prstGeom prst="rect">
            <a:avLst/>
          </a:prstGeom>
          <a:solidFill>
            <a:srgbClr val="D4AF37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65176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1">
                <a:solidFill>
                  <a:srgbClr val="222222"/>
                </a:solidFill>
                <a:latin typeface="Calibri"/>
              </a:rPr>
              <a:t>GOLD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25880" y="260604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25880" y="265176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03120" y="260604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03120" y="265176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12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260604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80360" y="265176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70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0" y="260604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0" y="265176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34840" y="260604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265176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35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12080" y="260604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2080" y="265176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70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89320" y="260604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89320" y="265176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&lt;30'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66560" y="260604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66560" y="265176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&lt;3'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3017520"/>
            <a:ext cx="777240" cy="411480"/>
          </a:xfrm>
          <a:prstGeom prst="rect">
            <a:avLst/>
          </a:prstGeom>
          <a:solidFill>
            <a:srgbClr val="BDBDBD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306324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1">
                <a:solidFill>
                  <a:srgbClr val="222222"/>
                </a:solidFill>
                <a:latin typeface="Calibri"/>
              </a:rPr>
              <a:t>SILVER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325880" y="301752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25880" y="306324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103120" y="301752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103120" y="306324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80360" y="301752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80360" y="306324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60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0" y="301752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0" y="306324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434840" y="301752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34840" y="306324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12080" y="301752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12080" y="306324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60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89320" y="301752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89320" y="306324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&lt;34'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766560" y="301752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66560" y="306324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&lt;4'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" y="3429000"/>
            <a:ext cx="777240" cy="411480"/>
          </a:xfrm>
          <a:prstGeom prst="rect">
            <a:avLst/>
          </a:prstGeom>
          <a:solidFill>
            <a:srgbClr val="CD7F32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" y="347472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1">
                <a:solidFill>
                  <a:srgbClr val="222222"/>
                </a:solidFill>
                <a:latin typeface="Calibri"/>
              </a:rPr>
              <a:t>BRONZE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325880" y="342900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25880" y="347472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103120" y="342900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103120" y="347472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80360" y="342900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880360" y="347472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0" y="342900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0" y="347472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18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434840" y="342900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434840" y="347472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12080" y="342900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12080" y="347472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50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89320" y="342900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989320" y="347472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&lt;39'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66560" y="342900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766560" y="347472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&lt;5'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8640" y="3840480"/>
            <a:ext cx="777240" cy="411480"/>
          </a:xfrm>
          <a:prstGeom prst="rect">
            <a:avLst/>
          </a:prstGeom>
          <a:solidFill>
            <a:srgbClr val="198754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8640" y="388620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1">
                <a:solidFill>
                  <a:srgbClr val="222222"/>
                </a:solidFill>
                <a:latin typeface="Calibri"/>
              </a:rPr>
              <a:t>FIT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25880" y="384048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325880" y="388620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103120" y="384048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103120" y="388620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6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880360" y="384048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880360" y="388620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40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0" y="384048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0" y="388620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16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434840" y="384048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434840" y="388620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212080" y="384048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212080" y="388620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40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989320" y="384048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989320" y="388620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&lt;44'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66560" y="3840480"/>
            <a:ext cx="777240" cy="411480"/>
          </a:xfrm>
          <a:prstGeom prst="rect">
            <a:avLst/>
          </a:prstGeom>
          <a:solidFill>
            <a:srgbClr val="F5F1E6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66560" y="3886200"/>
            <a:ext cx="777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&lt;6'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772400" y="2194560"/>
            <a:ext cx="42062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COMBAT: tier gevalideerd bij ≥ 6 / 8 events op dat niveau EN geen UNFIT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ENABLER / OPS_SP / TER_SP: leeftijds- en sex-bracketed drempel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Invariant: passed ⇔ overall != UNFIT (parameterised test over 5 clusters)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30 unit tests · alle event-grenzen · alle clusters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tier_info = COMBAT-equivalent voor dashboard-gebruik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772400" y="5029200"/>
            <a:ext cx="4206240" cy="1280160"/>
          </a:xfrm>
          <a:prstGeom prst="round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955280" y="5166360"/>
            <a:ext cx="384048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@property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def cluster(self) -&gt; Cluster: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return (Cluster.COMBAT if self.para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    else Cluster.ENABLER)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/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MESSAGE BROKER (1 /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222222"/>
                </a:solidFill>
                <a:latin typeface="Calibri"/>
              </a:rPr>
              <a:t>Transactional outbox · async achtergrond-worker · twee stappen</a:t>
            </a:r>
          </a:p>
        </p:txBody>
      </p:sp>
      <p:pic>
        <p:nvPicPr>
          <p:cNvPr id="6" name="Picture 5" descr="img_seq_bro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070" y="2194560"/>
            <a:ext cx="2254339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52160" y="2286000"/>
            <a:ext cx="6035040" cy="9144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2359152"/>
            <a:ext cx="5669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send_message(test)  →  asyncio.Queue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743200"/>
            <a:ext cx="5669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F5F1E6"/>
                </a:solidFill>
                <a:latin typeface="Calibri"/>
              </a:rPr>
              <a:t>ORM → DTO → JSON → HrMessage  ·  niet-blokkerend voor de aanroeper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383280"/>
            <a:ext cx="6035040" cy="9144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456432"/>
            <a:ext cx="5669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Stage 1  ·  drain queue → hr_messages (DB)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3840480"/>
            <a:ext cx="5669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F5F1E6"/>
                </a:solidFill>
                <a:latin typeface="Calibri"/>
              </a:rPr>
              <a:t>Persistent maken voordat we naar HR sturen  ·  crash-safe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4480560"/>
            <a:ext cx="6035040" cy="9144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4553712"/>
            <a:ext cx="5669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Stage 2  ·  check_and_send_messages()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937760"/>
            <a:ext cx="5669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F5F1E6"/>
                </a:solidFill>
                <a:latin typeface="Calibri"/>
              </a:rPr>
              <a:t>Batch van due rows  ·  succes → delete  ·  fail → mark_failure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5577840"/>
            <a:ext cx="6035040" cy="914400"/>
          </a:xfrm>
          <a:prstGeom prst="roundRect">
            <a:avLst/>
          </a:prstGeom>
          <a:solidFill>
            <a:srgbClr val="C3B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5650992"/>
            <a:ext cx="5669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Achtergrond-loop  ·  poll_interval_s (default 5 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6035040"/>
            <a:ext cx="5669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F5F1E6"/>
                </a:solidFill>
                <a:latin typeface="Calibri"/>
              </a:rPr>
              <a:t>asyncio task in dezelfde event-loop als Shiny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MESSAGE BROKER (2 /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222222"/>
                </a:solidFill>
                <a:latin typeface="Calibri"/>
              </a:rPr>
              <a:t>Outbox pattern · hr_messages-tabel · durability rationale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4A5D23"/>
                </a:solidFill>
                <a:latin typeface="Calibri"/>
              </a:rPr>
              <a:t>Waarom twee stappen?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54864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asyncio.Queue → send_message blijft non-blocking voor de PTI in de UI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Stage 1 (DB-write) levert durability — crash tussen enqueue en send overleeft in hr_messages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Stage 2 (HR-call) is idempotent: bij failure blijft de rij staan; bij succes wordt ze gewist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At-least-once garantie — HR-systeem moet idempotent zijn of duplicates afhandelen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20640"/>
            <a:ext cx="5486400" cy="1280160"/>
          </a:xfrm>
          <a:prstGeom prst="round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257800"/>
            <a:ext cx="512064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async def send_message(self, test):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dto = _dto_for(test)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hr_m = HrMessage(message=json.dumps(dto.to_dict()),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             datetime_created=datetime.now())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await self._msg_queue.put(hr_m)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9456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4A5D23"/>
                </a:solidFill>
                <a:latin typeface="Calibri"/>
              </a:rPr>
              <a:t>hr_messages — outbox-tabel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651760"/>
            <a:ext cx="2011680" cy="411480"/>
          </a:xfrm>
          <a:prstGeom prst="rect">
            <a:avLst/>
          </a:prstGeom>
          <a:solidFill>
            <a:srgbClr val="334218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697480"/>
            <a:ext cx="1828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JetBrains Mono"/>
              </a:rPr>
              <a:t>Kolom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2651760"/>
            <a:ext cx="3474720" cy="411480"/>
          </a:xfrm>
          <a:prstGeom prst="rect">
            <a:avLst/>
          </a:prstGeom>
          <a:solidFill>
            <a:srgbClr val="334218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697480"/>
            <a:ext cx="32918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Beschrijving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06324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108960"/>
            <a:ext cx="1828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JetBrains Mono"/>
              </a:rPr>
              <a:t>message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3063240"/>
            <a:ext cx="347472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3108960"/>
            <a:ext cx="32918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JSON-payload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474720"/>
            <a:ext cx="2011680" cy="4114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520440"/>
            <a:ext cx="1828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JetBrains Mono"/>
              </a:rPr>
              <a:t>attempt_count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0" y="3474720"/>
            <a:ext cx="3474720" cy="4114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3520440"/>
            <a:ext cx="32918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Aantal mislukte verzendpogingen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88620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931920"/>
            <a:ext cx="1828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JetBrains Mono"/>
              </a:rPr>
              <a:t>next_retry_at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0" y="3886200"/>
            <a:ext cx="347472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0" y="3931920"/>
            <a:ext cx="32918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Vroegste tijd waarop herpoging mag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4297680"/>
            <a:ext cx="2011680" cy="4114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343400"/>
            <a:ext cx="1828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JetBrains Mono"/>
              </a:rPr>
              <a:t>dead_letter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12480" y="4297680"/>
            <a:ext cx="3474720" cy="4114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03920" y="4343400"/>
            <a:ext cx="32918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True zodra max_attempts bereikt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70916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754880"/>
            <a:ext cx="1828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JetBrains Mono"/>
              </a:rPr>
              <a:t>last_error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12480" y="4709160"/>
            <a:ext cx="347472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03920" y="4754880"/>
            <a:ext cx="32918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Korte string van de laatste failure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120640"/>
            <a:ext cx="2011680" cy="4114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5166360"/>
            <a:ext cx="1828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JetBrains Mono"/>
              </a:rPr>
              <a:t>datetime_created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2480" y="5120640"/>
            <a:ext cx="3474720" cy="4114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3920" y="5166360"/>
            <a:ext cx="32918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Wanneer enqueued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MESSAGE BROKER (3 /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222222"/>
                </a:solidFill>
                <a:latin typeface="Calibri"/>
              </a:rPr>
              <a:t>Exponential back-off · dead-letter state · operator email-alert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4A5D23"/>
                </a:solidFill>
                <a:latin typeface="Calibri"/>
              </a:rPr>
              <a:t>Back-off formule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86400" cy="914400"/>
          </a:xfrm>
          <a:prstGeom prst="round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512064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next_retry_at = now + min(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base_backoff_s × 2 ** attempt_count,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max_backoff_s,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4A5D23"/>
                </a:solidFill>
                <a:latin typeface="Calibri"/>
              </a:rPr>
              <a:t>Configuratie-tunables (ApplicationConfig)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06240"/>
            <a:ext cx="2194560" cy="292608"/>
          </a:xfrm>
          <a:prstGeom prst="rect">
            <a:avLst/>
          </a:prstGeom>
          <a:solidFill>
            <a:srgbClr val="334218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4224528"/>
            <a:ext cx="2048256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Parameter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4206240"/>
            <a:ext cx="822960" cy="292608"/>
          </a:xfrm>
          <a:prstGeom prst="rect">
            <a:avLst/>
          </a:prstGeom>
          <a:solidFill>
            <a:srgbClr val="334218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6352" y="4224528"/>
            <a:ext cx="676656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Default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4206240"/>
            <a:ext cx="2468880" cy="292608"/>
          </a:xfrm>
          <a:prstGeom prst="rect">
            <a:avLst/>
          </a:prstGeom>
          <a:solidFill>
            <a:srgbClr val="334218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4224528"/>
            <a:ext cx="2322576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Beschrijving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98848"/>
            <a:ext cx="21945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517136"/>
            <a:ext cx="2048256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broker_poll_interval_s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4498848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16352" y="4517136"/>
            <a:ext cx="676656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4498848"/>
            <a:ext cx="2468880" cy="292608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4517136"/>
            <a:ext cx="2322576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Calibri"/>
              </a:rPr>
              <a:t>Seconden tussen cycles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791456"/>
            <a:ext cx="2194560" cy="292608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4809744"/>
            <a:ext cx="2048256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broker_batch_size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4791456"/>
            <a:ext cx="822960" cy="292608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16352" y="4809744"/>
            <a:ext cx="676656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4791456"/>
            <a:ext cx="2468880" cy="292608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39312" y="4809744"/>
            <a:ext cx="2322576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Calibri"/>
              </a:rPr>
              <a:t>Max berichten per cycle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084064"/>
            <a:ext cx="21945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5102352"/>
            <a:ext cx="2048256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broker_max_attempts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0" y="5084064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16352" y="5102352"/>
            <a:ext cx="676656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66160" y="5084064"/>
            <a:ext cx="2468880" cy="292608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39312" y="5102352"/>
            <a:ext cx="2322576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Calibri"/>
              </a:rPr>
              <a:t>Pogingen vóór dead-letter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376672"/>
            <a:ext cx="2194560" cy="292608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5394960"/>
            <a:ext cx="2048256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broker_base_backoff_s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5376672"/>
            <a:ext cx="822960" cy="292608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16352" y="5394960"/>
            <a:ext cx="676656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66160" y="5376672"/>
            <a:ext cx="2468880" cy="292608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39312" y="5394960"/>
            <a:ext cx="2322576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Calibri"/>
              </a:rPr>
              <a:t>Minimum back-off (s)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5669280"/>
            <a:ext cx="21945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" y="5687568"/>
            <a:ext cx="2048256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broker_max_backoff_s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0" y="5669280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16352" y="5687568"/>
            <a:ext cx="676656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600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566160" y="5669280"/>
            <a:ext cx="2468880" cy="292608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39312" y="5687568"/>
            <a:ext cx="2322576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Calibri"/>
              </a:rPr>
              <a:t>Maximum back-off (s)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961888"/>
            <a:ext cx="2194560" cy="292608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792" y="5980176"/>
            <a:ext cx="2048256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broker_alert_email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0" y="5961888"/>
            <a:ext cx="822960" cy="292608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16352" y="5980176"/>
            <a:ext cx="676656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""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66160" y="5961888"/>
            <a:ext cx="2468880" cy="292608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39312" y="5980176"/>
            <a:ext cx="2322576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Calibri"/>
              </a:rPr>
              <a:t>Adres voor dead-letter alert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219456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4A5D23"/>
                </a:solidFill>
                <a:latin typeface="Calibri"/>
              </a:rPr>
              <a:t>State-machine per bericht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400800" y="2743200"/>
            <a:ext cx="1828800" cy="64008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0" y="290779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pending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686800" y="2743200"/>
            <a:ext cx="1828800" cy="64008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0" y="290779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retrying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515600" y="2743200"/>
            <a:ext cx="1371600" cy="64008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515600" y="2907792"/>
            <a:ext cx="13716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success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86800" y="3840480"/>
            <a:ext cx="1828800" cy="64008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400507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dead_letter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75320" y="2788920"/>
            <a:ext cx="4572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>
                <a:solidFill>
                  <a:srgbClr val="222222"/>
                </a:solidFill>
                <a:latin typeface="Calibri"/>
              </a:rPr>
              <a:t>→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04120" y="2788920"/>
            <a:ext cx="4572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>
                <a:solidFill>
                  <a:srgbClr val="222222"/>
                </a:solidFill>
                <a:latin typeface="Calibri"/>
              </a:rPr>
              <a:t>→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3337560"/>
            <a:ext cx="4572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>
                <a:solidFill>
                  <a:srgbClr val="222222"/>
                </a:solidFill>
                <a:latin typeface="Calibri"/>
              </a:rPr>
              <a:t>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0" y="4754880"/>
            <a:ext cx="54864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•  Dead-letter → _send_dead_letter_alert(): HTML-mail naar broker_alert_email via NotifyMail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•  Best-effort: e-mail failure wordt gelogd maar stopt de broker niet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•  Alert bevat message_id, attempts, last_error + reset-instructie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MESSAGE BROKER (4 /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222222"/>
                </a:solidFill>
                <a:latin typeface="Calibri"/>
              </a:rPr>
              <a:t>Test-type → DTO dispatch · BEMILService transport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6400800" cy="4023360"/>
          </a:xfrm>
          <a:prstGeom prst="round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6035040" cy="3749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async def send_message(self, test: FitnessTest | March):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if isinstance(test, PhefTest):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dto = PhefTestDto(test)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elif isinstance(test, CombatTestParatrooper):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dto = CombatTestDto(test)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elif isinstance(test, CombatSwimmingTest):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dto = CombatSwimTestDto(test)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elif isinstance(test, March):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dto = MarchTestDto(test)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elif isinstance(test, FunctionalTest):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dto = FunctionalTestDto(test)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elif isinstance(test, MfftEvalTest):          # 2026-06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dto = MfftEvalTestDto(test)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if dto is None: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return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/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hr_m = HrMessage(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message=json.dumps(dto.to_dict()),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datetime_created=datetime.now(),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await self._msg_queue.put(hr_m)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2194560"/>
            <a:ext cx="47548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4A5D23"/>
                </a:solidFill>
                <a:latin typeface="Calibri"/>
              </a:rPr>
              <a:t>Test-type → DTO mapping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0" y="2697480"/>
            <a:ext cx="2560320" cy="365760"/>
          </a:xfrm>
          <a:prstGeom prst="rect">
            <a:avLst/>
          </a:prstGeom>
          <a:solidFill>
            <a:srgbClr val="334218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96912" y="2743200"/>
            <a:ext cx="2414016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ORM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84080" y="2697480"/>
            <a:ext cx="2194560" cy="365760"/>
          </a:xfrm>
          <a:prstGeom prst="rect">
            <a:avLst/>
          </a:prstGeom>
          <a:solidFill>
            <a:srgbClr val="334218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57232" y="2743200"/>
            <a:ext cx="2048256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DTO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0" y="3063240"/>
            <a:ext cx="25603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3108960"/>
            <a:ext cx="2414016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PhefTest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84080" y="3063240"/>
            <a:ext cx="219456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57232" y="3108960"/>
            <a:ext cx="2048256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PhefTestDto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3429000"/>
            <a:ext cx="2560320" cy="36576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3474720"/>
            <a:ext cx="2414016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CombatTestParatrooper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84080" y="3429000"/>
            <a:ext cx="2194560" cy="36576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2" y="3474720"/>
            <a:ext cx="2048256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CombatTestDto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0" y="3794760"/>
            <a:ext cx="25603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96912" y="3840480"/>
            <a:ext cx="2414016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CombatSwimmingTest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4080" y="3794760"/>
            <a:ext cx="219456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57232" y="3840480"/>
            <a:ext cx="2048256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CombatSwimTestDto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23760" y="4160520"/>
            <a:ext cx="2560320" cy="36576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6912" y="4206240"/>
            <a:ext cx="2414016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FunctionalTest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84080" y="4160520"/>
            <a:ext cx="2194560" cy="36576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2" y="4206240"/>
            <a:ext cx="2048256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FunctionalTestDto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4526280"/>
            <a:ext cx="25603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96912" y="4572000"/>
            <a:ext cx="2414016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March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84080" y="4526280"/>
            <a:ext cx="219456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57232" y="4572000"/>
            <a:ext cx="2048256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MarchTestDto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60" y="4892040"/>
            <a:ext cx="2560320" cy="36576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96912" y="4937760"/>
            <a:ext cx="2414016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MfftEvalTest  (2026)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84080" y="4892040"/>
            <a:ext cx="2194560" cy="36576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57232" y="4937760"/>
            <a:ext cx="2048256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JetBrains Mono"/>
              </a:rPr>
              <a:t>MfftEvalTestDto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440680"/>
            <a:ext cx="47548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1">
                <a:solidFill>
                  <a:srgbClr val="334218"/>
                </a:solidFill>
                <a:latin typeface="Calibri"/>
              </a:rPr>
              <a:t>Transport: BEMILService.sent_hr_message_to_hr() (HTTP + X-API-Key)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806440"/>
            <a:ext cx="47548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Eén DTO per testtype → smal contract met HR + makkelijk versioneerbaar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RAPPORTEN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222222"/>
                </a:solidFill>
                <a:latin typeface="Calibri"/>
              </a:rPr>
              <a:t>CSV + PDF generators per testtype · landscape A4 voor MFFT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5486400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GeneratorReport (ABC) levert calculate_*_score helpers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ReportGeneratorCsv en ReportGeneratorPdf erven de helpers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Dispatch via ReportType-enum (PHEF / COMBAT / FUNCTIONAL / SWIMMING / MFFT_EVAL)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_generate_pass_fail_reports produceert per testtype een 'passed' + 'failed' bestand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MFFT PDF gebruikt landscape A4 met expliciete col_widths → 14 kolommen passen netjes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_fmt_pass_fail() kleurt resultaat in groen / rood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Individual report bundelt alle testtypes per militair (via DataCollector.collect_tests_data_for_serial)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194560"/>
            <a:ext cx="5486400" cy="4023360"/>
          </a:xfrm>
          <a:prstGeom prst="round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331720"/>
            <a:ext cx="5120640" cy="3749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async def generate_mfft_eval_report(self, name, own_unit, this_year):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failed, _, passed = await self.calculate_mfft_eval_score(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own_unit, this_year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col_widths = [72,55,52,36,36,44,38,44,44,44,44,60,60,78]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return self._generate_pass_fail_reports(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name, "MFFT_Eval", passed, failed, headers, row_builder,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landscape_page=True,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    col_widths=col_widths,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222222"/>
                </a:solidFill>
                <a:latin typeface="Calibri"/>
              </a:rPr>
              <a:t>OWASP-gehard · NIST CSF 2.0 · PostgreSQL TLS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56616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334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3566160" cy="457200"/>
          </a:xfrm>
          <a:prstGeom prst="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32918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Authenticatie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91840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Argon2id (passlib) — non-blocking via asyncio.to_thread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Login-modaal met masked toggle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Serial-only login mode voor militairen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UserStore per Shiny-sessie (PR #217) — geen leakage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194560"/>
            <a:ext cx="356616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4A5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2194560"/>
            <a:ext cx="3566160" cy="45720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2240280"/>
            <a:ext cx="32918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Authorisatie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834640"/>
            <a:ext cx="3291840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6 rollen: ADMIN, PTI, APTI, PLANNER, GUEST, USER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RBAC per PageSpec (allowed_roles)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Server-side guard _assert_can_modify_tests() in ServiceTest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MOM-endpoint met X-API-Key (constant-time compare)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194560"/>
            <a:ext cx="356616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2194560"/>
            <a:ext cx="3566160" cy="4572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240280"/>
            <a:ext cx="32918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Infra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834640"/>
            <a:ext cx="3291840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PostgreSQL SSL/TLS · ssl_root_cert validatie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CORS lockdown (methods/headers, origins via env)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Docker read-only volume voor settings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NIST CSF 2.0 self-assessment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 SECURITY.md OWASP Top 10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AVG / GDPR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222222"/>
                </a:solidFill>
                <a:latin typeface="Calibri"/>
              </a:rPr>
              <a:t>Consent · self-service · retention ·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5486400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UserConsent-tabel keyed op service_number (append-only)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Art. 7 — grant + withdraw via Privacy-pagina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Art. 15 — JSON-export incl. testdata + sessies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Art. 20 — portabele data-export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Art. 17 — RetentionService + per-domein _purge_* helpers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Audit log per actie (CREATE / UPDATE / DELETE)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Admin → Servicemen Overview met consent-status per militair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4A5D23"/>
                </a:solidFill>
                <a:latin typeface="Calibri"/>
              </a:rPr>
              <a:t>Documentatie-artefacten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651760"/>
            <a:ext cx="5486400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documentation/compliance/PRIVACY_POLICY.md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documentation/compliance/DPIA.md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documentation/compliance/NIST_CSF_2.0.md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SECURITY.md (OWASP Top 10 review)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AuditLog ORM model + DB audit_logs tabel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Bestaande seed-data: GDPR-grant timestamp per militair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I18N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222222"/>
                </a:solidFill>
                <a:latin typeface="Calibri"/>
              </a:rPr>
              <a:t>EN · NL · FR · per-session LanguageStore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6858000" cy="3474720"/>
          </a:xfrm>
          <a:prstGeom prst="round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64922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# warriorfit/i18n/language_store.py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class LanguageStore: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SUPPORTED = ("en", "nl", "fr")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/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@classmethod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def get_language(cls) -&gt; str: ...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@classmethod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def set_language(cls, lang: str) -&gt; None: ...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/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/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# warriorfit/i18n/translator.py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def t(key: str, **kwargs) -&gt; str: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catalog = _catalog_for(LanguageStore.get_language())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>    return catalog.get(key, key).format(**kwargs)</a:t>
            </a:r>
          </a:p>
          <a:p>
            <a:pPr algn="l"/>
            <a:r>
              <a:rPr sz="1100" b="0">
                <a:solidFill>
                  <a:srgbClr val="E6E6E6"/>
                </a:solidFill>
                <a:latin typeface="JetBrains Mono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194560"/>
            <a:ext cx="4206240" cy="4023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~498 keys per catalogus (en.json, nl.json, fr.json)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Navbar-dropdown lang_select schakelt live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Per-session resolutie ⇒ geen cross-user leakage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Alle pagina's, controles en notificaties via t()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Format-strings als t('mfft_eval.added').format(serial=…)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MFFT-feature voegde ~25 keys per locale toe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CI / CD +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222222"/>
                </a:solidFill>
                <a:latin typeface="Calibri"/>
              </a:rPr>
              <a:t>Ruff · mypy strict · GitHub Actions · pytest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2286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FFC107"/>
                </a:solidFill>
                <a:latin typeface="Calibri"/>
              </a:rPr>
              <a:t>171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2286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tests groen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194560"/>
            <a:ext cx="2286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FFC107"/>
                </a:solidFill>
                <a:latin typeface="Calibr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971800"/>
            <a:ext cx="2286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MFFT-calculator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2194560"/>
            <a:ext cx="2286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FFC107"/>
                </a:solidFill>
                <a:latin typeface="Calibri"/>
              </a:rPr>
              <a:t>100 %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971800"/>
            <a:ext cx="2286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async I/O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194560"/>
            <a:ext cx="2286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FFC107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971800"/>
            <a:ext cx="2286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ruff errors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840480"/>
            <a:ext cx="1097280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GitHub Actions: ruff check · mypy strict · pytest · format check (black)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Pre-commit hook update version.yaml (commit-count + timestamp)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Docker prod-config: SHINY_DEV_MODE=false · secret via env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DB-isolation in tests: Singleton._instances reset in fixtures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Broker unit tests dekken DTO mapping + lifecycle + retry-logica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 MFFT calculator tests gebruiken parameterised subTest over 5 clusters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DASHBOARD +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222222"/>
                </a:solidFill>
                <a:latin typeface="Calibri"/>
              </a:rPr>
              <a:t>Plotly · async aggregaties · per-eenheid</a:t>
            </a:r>
          </a:p>
        </p:txBody>
      </p:sp>
      <p:pic>
        <p:nvPicPr>
          <p:cNvPr id="6" name="Picture 5" descr="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6959" y="2194560"/>
            <a:ext cx="3869761" cy="4114799"/>
          </a:xfrm>
          <a:prstGeom prst="rect">
            <a:avLst/>
          </a:prstGeom>
        </p:spPr>
      </p:pic>
      <p:pic>
        <p:nvPicPr>
          <p:cNvPr id="7" name="Picture 6" descr="img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5686" y="2194560"/>
            <a:ext cx="1730868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Calibri"/>
              </a:rPr>
              <a:t>Dashboard (links) · Analytics: coverage gauges, age-bracket pass rate, monthly trend, MFFT bottleneck, per-event histograms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VOLGENDE STAPPEN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868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Productie-pilot Q3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3566160" cy="3840480"/>
          </a:xfrm>
          <a:prstGeom prst="roundRect">
            <a:avLst/>
          </a:prstGeom>
          <a:solidFill>
            <a:srgbClr val="4A5D23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3200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FC107"/>
                </a:solidFill>
                <a:latin typeface="Calibri"/>
              </a:rPr>
              <a:t>Korte termijn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320040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F5F1E6"/>
                </a:solidFill>
                <a:latin typeface="Calibri"/>
              </a:rPr>
              <a:t>→  BEMIL-API productie-koppeling</a:t>
            </a:r>
          </a:p>
          <a:p>
            <a:pPr algn="l"/>
            <a:r>
              <a:rPr sz="1300" b="0">
                <a:solidFill>
                  <a:srgbClr val="F5F1E6"/>
                </a:solidFill>
                <a:latin typeface="Calibri"/>
              </a:rPr>
              <a:t>→  SSO voor militair-login (Defensie IdP)</a:t>
            </a:r>
          </a:p>
          <a:p>
            <a:pPr algn="l"/>
            <a:r>
              <a:rPr sz="1300" b="0">
                <a:solidFill>
                  <a:srgbClr val="F5F1E6"/>
                </a:solidFill>
                <a:latin typeface="Calibri"/>
              </a:rPr>
              <a:t>→  Admin UI voor dead-letter queue</a:t>
            </a:r>
          </a:p>
          <a:p>
            <a:pPr algn="l"/>
            <a:r>
              <a:rPr sz="1300" b="0">
                <a:solidFill>
                  <a:srgbClr val="F5F1E6"/>
                </a:solidFill>
                <a:latin typeface="Calibri"/>
              </a:rPr>
              <a:t>→  i18n missing-key linter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194560"/>
            <a:ext cx="3566160" cy="3840480"/>
          </a:xfrm>
          <a:prstGeom prst="roundRect">
            <a:avLst/>
          </a:prstGeom>
          <a:solidFill>
            <a:srgbClr val="4A5D23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468880"/>
            <a:ext cx="3200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FC107"/>
                </a:solidFill>
                <a:latin typeface="Calibri"/>
              </a:rPr>
              <a:t>Middel-lang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017520"/>
            <a:ext cx="320040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F5F1E6"/>
                </a:solidFill>
                <a:latin typeface="Calibri"/>
              </a:rPr>
              <a:t>→  MFFT scoretabellen configureerbaar (YAML / DB)</a:t>
            </a:r>
          </a:p>
          <a:p>
            <a:pPr algn="l"/>
            <a:r>
              <a:rPr sz="1300" b="0">
                <a:solidFill>
                  <a:srgbClr val="F5F1E6"/>
                </a:solidFill>
                <a:latin typeface="Calibri"/>
              </a:rPr>
              <a:t>→  Per-soldier drill-down vanuit Analytics-grafieken</a:t>
            </a:r>
          </a:p>
          <a:p>
            <a:pPr algn="l"/>
            <a:r>
              <a:rPr sz="1300" b="0">
                <a:solidFill>
                  <a:srgbClr val="F5F1E6"/>
                </a:solidFill>
                <a:latin typeface="Calibri"/>
              </a:rPr>
              <a:t>→  OPS_SP / TER_SP cluster-support op personeel-niveau</a:t>
            </a:r>
          </a:p>
          <a:p>
            <a:pPr algn="l"/>
            <a:r>
              <a:rPr sz="1300" b="0">
                <a:solidFill>
                  <a:srgbClr val="F5F1E6"/>
                </a:solidFill>
                <a:latin typeface="Calibri"/>
              </a:rPr>
              <a:t>→  Prometheus / health-endpoint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194560"/>
            <a:ext cx="3566160" cy="3840480"/>
          </a:xfrm>
          <a:prstGeom prst="roundRect">
            <a:avLst/>
          </a:prstGeom>
          <a:solidFill>
            <a:srgbClr val="4A5D23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FC107"/>
                </a:solidFill>
                <a:latin typeface="Calibri"/>
              </a:rPr>
              <a:t>Lang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017520"/>
            <a:ext cx="320040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F5F1E6"/>
                </a:solidFill>
                <a:latin typeface="Calibri"/>
              </a:rPr>
              <a:t>→  Roll-out per bataljon</a:t>
            </a:r>
          </a:p>
          <a:p>
            <a:pPr algn="l"/>
            <a:r>
              <a:rPr sz="1300" b="0">
                <a:solidFill>
                  <a:srgbClr val="F5F1E6"/>
                </a:solidFill>
                <a:latin typeface="Calibri"/>
              </a:rPr>
              <a:t>→  MkDocs site finaliseren</a:t>
            </a:r>
          </a:p>
          <a:p>
            <a:pPr algn="l"/>
            <a:r>
              <a:rPr sz="1300" b="0">
                <a:solidFill>
                  <a:srgbClr val="F5F1E6"/>
                </a:solidFill>
                <a:latin typeface="Calibri"/>
              </a:rPr>
              <a:t>→  Cross-eenheid statistieken</a:t>
            </a:r>
          </a:p>
          <a:p>
            <a:pPr algn="l"/>
            <a:r>
              <a:rPr sz="1300" b="0">
                <a:solidFill>
                  <a:srgbClr val="F5F1E6"/>
                </a:solidFill>
                <a:latin typeface="Calibri"/>
              </a:rPr>
              <a:t>→  Mobile-companion (Shiny Express)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C3B091"/>
                </a:solidFill>
                <a:latin typeface="Calibri"/>
              </a:rPr>
              <a:t>benoit.goethals@gmail.com  ·  github.com/BenoitGoethals/WarriorFit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