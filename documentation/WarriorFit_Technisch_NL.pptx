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6" r:id="rId3"/>
    <p:sldId id="257" r:id="rId4"/>
    <p:sldId id="258" r:id="rId5"/>
    <p:sldId id="259" r:id="rId6"/>
    <p:sldId id="260" r:id="rId7"/>
    <p:sldId id="261" r:id="rId8"/>
    <p:sldId id="263"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01"/>
    <p:restoredTop sz="94658"/>
  </p:normalViewPr>
  <p:slideViewPr>
    <p:cSldViewPr snapToGrid="0" snapToObjects="1">
      <p:cViewPr varScale="1">
        <p:scale>
          <a:sx n="119" d="100"/>
          <a:sy n="119" d="100"/>
        </p:scale>
        <p:origin x="208"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348DCF-422B-CE47-AD03-2404ECB4BCFB}" type="datetimeFigureOut">
              <a:rPr lang="en-BE" smtClean="0"/>
              <a:t>6/22/26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11C5A2-6844-DC44-92D7-B5E8680DCECE}" type="slidenum">
              <a:rPr lang="en-BE" smtClean="0"/>
              <a:t>‹#›</a:t>
            </a:fld>
            <a:endParaRPr lang="en-BE"/>
          </a:p>
        </p:txBody>
      </p:sp>
    </p:spTree>
    <p:extLst>
      <p:ext uri="{BB962C8B-B14F-4D97-AF65-F5344CB8AC3E}">
        <p14:creationId xmlns:p14="http://schemas.microsoft.com/office/powerpoint/2010/main" val="3989316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sz="1200" b="1" u="none" strike="noStrike" kern="1200" dirty="0">
                <a:solidFill>
                  <a:schemeClr val="tx1"/>
                </a:solidFill>
                <a:effectLst/>
                <a:latin typeface="+mn-lt"/>
                <a:ea typeface="+mn-ea"/>
                <a:cs typeface="+mn-cs"/>
              </a:rPr>
              <a:t>Role-Based Access Control</a:t>
            </a:r>
            <a:r>
              <a:rPr lang="en-BE" dirty="0"/>
              <a:t> </a:t>
            </a:r>
          </a:p>
        </p:txBody>
      </p:sp>
      <p:sp>
        <p:nvSpPr>
          <p:cNvPr id="4" name="Slide Number Placeholder 3"/>
          <p:cNvSpPr>
            <a:spLocks noGrp="1"/>
          </p:cNvSpPr>
          <p:nvPr>
            <p:ph type="sldNum" sz="quarter" idx="5"/>
          </p:nvPr>
        </p:nvSpPr>
        <p:spPr/>
        <p:txBody>
          <a:bodyPr/>
          <a:lstStyle/>
          <a:p>
            <a:fld id="{6C11C5A2-6844-DC44-92D7-B5E8680DCECE}" type="slidenum">
              <a:rPr lang="en-BE" smtClean="0"/>
              <a:t>4</a:t>
            </a:fld>
            <a:endParaRPr lang="en-BE"/>
          </a:p>
        </p:txBody>
      </p:sp>
    </p:spTree>
    <p:extLst>
      <p:ext uri="{BB962C8B-B14F-4D97-AF65-F5344CB8AC3E}">
        <p14:creationId xmlns:p14="http://schemas.microsoft.com/office/powerpoint/2010/main" val="472695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200" b="0" dirty="0" err="1">
                <a:solidFill>
                  <a:srgbClr val="222222"/>
                </a:solidFill>
                <a:latin typeface="Calibri"/>
              </a:rPr>
              <a:t>FitnessTest</a:t>
            </a:r>
            <a:r>
              <a:rPr lang="en-GB" sz="1200" b="0" dirty="0">
                <a:solidFill>
                  <a:srgbClr val="222222"/>
                </a:solidFill>
                <a:latin typeface="Calibri"/>
              </a:rPr>
              <a:t> = base met id, </a:t>
            </a:r>
            <a:r>
              <a:rPr lang="en-GB" sz="1200" b="0" dirty="0" err="1">
                <a:solidFill>
                  <a:srgbClr val="222222"/>
                </a:solidFill>
                <a:latin typeface="Calibri"/>
              </a:rPr>
              <a:t>serial_number</a:t>
            </a:r>
            <a:r>
              <a:rPr lang="en-GB" sz="1200" b="0" dirty="0">
                <a:solidFill>
                  <a:srgbClr val="222222"/>
                </a:solidFill>
                <a:latin typeface="Calibri"/>
              </a:rPr>
              <a:t>, type</a:t>
            </a:r>
          </a:p>
          <a:p>
            <a:pPr algn="l"/>
            <a:r>
              <a:rPr lang="en-GB" sz="1200" b="0" dirty="0">
                <a:solidFill>
                  <a:srgbClr val="222222"/>
                </a:solidFill>
                <a:latin typeface="Calibri"/>
              </a:rPr>
              <a:t>•  Subtypes: </a:t>
            </a:r>
            <a:r>
              <a:rPr lang="en-GB" sz="1200" b="0" dirty="0" err="1">
                <a:solidFill>
                  <a:srgbClr val="222222"/>
                </a:solidFill>
                <a:latin typeface="Calibri"/>
              </a:rPr>
              <a:t>PhefTest</a:t>
            </a:r>
            <a:r>
              <a:rPr lang="en-GB" sz="1200" b="0" dirty="0">
                <a:solidFill>
                  <a:srgbClr val="222222"/>
                </a:solidFill>
                <a:latin typeface="Calibri"/>
              </a:rPr>
              <a:t>, </a:t>
            </a:r>
            <a:r>
              <a:rPr lang="en-GB" sz="1200" b="0" dirty="0" err="1">
                <a:solidFill>
                  <a:srgbClr val="222222"/>
                </a:solidFill>
                <a:latin typeface="Calibri"/>
              </a:rPr>
              <a:t>CombatTestParatrooper</a:t>
            </a:r>
            <a:r>
              <a:rPr lang="en-GB" sz="1200" b="0" dirty="0">
                <a:solidFill>
                  <a:srgbClr val="222222"/>
                </a:solidFill>
                <a:latin typeface="Calibri"/>
              </a:rPr>
              <a:t>, </a:t>
            </a:r>
            <a:r>
              <a:rPr lang="en-GB" sz="1200" b="0" dirty="0" err="1">
                <a:solidFill>
                  <a:srgbClr val="222222"/>
                </a:solidFill>
                <a:latin typeface="Calibri"/>
              </a:rPr>
              <a:t>CombatSwimmingTest</a:t>
            </a:r>
            <a:r>
              <a:rPr lang="en-GB" sz="1200" b="0" dirty="0">
                <a:solidFill>
                  <a:srgbClr val="222222"/>
                </a:solidFill>
                <a:latin typeface="Calibri"/>
              </a:rPr>
              <a:t>, </a:t>
            </a:r>
            <a:r>
              <a:rPr lang="en-GB" sz="1200" b="0" dirty="0" err="1">
                <a:solidFill>
                  <a:srgbClr val="222222"/>
                </a:solidFill>
                <a:latin typeface="Calibri"/>
              </a:rPr>
              <a:t>FunctionalTest</a:t>
            </a:r>
            <a:r>
              <a:rPr lang="en-GB" sz="1200" b="0" dirty="0">
                <a:solidFill>
                  <a:srgbClr val="222222"/>
                </a:solidFill>
                <a:latin typeface="Calibri"/>
              </a:rPr>
              <a:t>, </a:t>
            </a:r>
            <a:r>
              <a:rPr lang="en-GB" sz="1200" b="0" dirty="0" err="1">
                <a:solidFill>
                  <a:srgbClr val="222222"/>
                </a:solidFill>
                <a:latin typeface="Calibri"/>
              </a:rPr>
              <a:t>MfftEvalTest</a:t>
            </a:r>
            <a:r>
              <a:rPr lang="en-GB" sz="1200" b="0" dirty="0">
                <a:solidFill>
                  <a:srgbClr val="222222"/>
                </a:solidFill>
                <a:latin typeface="Calibri"/>
              </a:rPr>
              <a:t> (2026)</a:t>
            </a:r>
          </a:p>
          <a:p>
            <a:pPr algn="l"/>
            <a:r>
              <a:rPr lang="en-GB" sz="1200" b="0" dirty="0">
                <a:solidFill>
                  <a:srgbClr val="222222"/>
                </a:solidFill>
                <a:latin typeface="Calibri"/>
              </a:rPr>
              <a:t>•  </a:t>
            </a:r>
            <a:r>
              <a:rPr lang="en-GB" sz="1200" b="0" dirty="0" err="1">
                <a:solidFill>
                  <a:srgbClr val="222222"/>
                </a:solidFill>
                <a:latin typeface="Calibri"/>
              </a:rPr>
              <a:t>polymorphic_identity</a:t>
            </a:r>
            <a:r>
              <a:rPr lang="en-GB" sz="1200" b="0" dirty="0">
                <a:solidFill>
                  <a:srgbClr val="222222"/>
                </a:solidFill>
                <a:latin typeface="Calibri"/>
              </a:rPr>
              <a:t> → </a:t>
            </a:r>
            <a:r>
              <a:rPr lang="en-GB" sz="1200" b="0" dirty="0" err="1">
                <a:solidFill>
                  <a:srgbClr val="222222"/>
                </a:solidFill>
                <a:latin typeface="Calibri"/>
              </a:rPr>
              <a:t>mfft_eval_test</a:t>
            </a:r>
            <a:endParaRPr lang="en-GB" sz="1200" b="0" dirty="0">
              <a:solidFill>
                <a:srgbClr val="222222"/>
              </a:solidFill>
              <a:latin typeface="Calibri"/>
            </a:endParaRPr>
          </a:p>
          <a:p>
            <a:pPr algn="l"/>
            <a:r>
              <a:rPr lang="en-GB" sz="1200" b="0" dirty="0">
                <a:solidFill>
                  <a:srgbClr val="222222"/>
                </a:solidFill>
                <a:latin typeface="Calibri"/>
              </a:rPr>
              <a:t>•  Discriminator </a:t>
            </a:r>
            <a:r>
              <a:rPr lang="en-GB" sz="1200" b="0" dirty="0" err="1">
                <a:solidFill>
                  <a:srgbClr val="222222"/>
                </a:solidFill>
                <a:latin typeface="Calibri"/>
              </a:rPr>
              <a:t>ook</a:t>
            </a:r>
            <a:r>
              <a:rPr lang="en-GB" sz="1200" b="0" dirty="0">
                <a:solidFill>
                  <a:srgbClr val="222222"/>
                </a:solidFill>
                <a:latin typeface="Calibri"/>
              </a:rPr>
              <a:t> in PG </a:t>
            </a:r>
            <a:r>
              <a:rPr lang="en-GB" sz="1200" b="0" dirty="0" err="1">
                <a:solidFill>
                  <a:srgbClr val="222222"/>
                </a:solidFill>
                <a:latin typeface="Calibri"/>
              </a:rPr>
              <a:t>enum</a:t>
            </a:r>
            <a:r>
              <a:rPr lang="en-GB" sz="1200" b="0" dirty="0">
                <a:solidFill>
                  <a:srgbClr val="222222"/>
                </a:solidFill>
                <a:latin typeface="Calibri"/>
              </a:rPr>
              <a:t> </a:t>
            </a:r>
            <a:r>
              <a:rPr lang="en-GB" sz="1200" b="0" dirty="0" err="1">
                <a:solidFill>
                  <a:srgbClr val="222222"/>
                </a:solidFill>
                <a:latin typeface="Calibri"/>
              </a:rPr>
              <a:t>typefitnesstest</a:t>
            </a:r>
            <a:endParaRPr lang="en-GB" sz="1200" b="0" dirty="0">
              <a:solidFill>
                <a:srgbClr val="222222"/>
              </a:solidFill>
              <a:latin typeface="Calibri"/>
            </a:endParaRPr>
          </a:p>
          <a:p>
            <a:pPr algn="l"/>
            <a:r>
              <a:rPr lang="en-GB" sz="1200" b="0" dirty="0">
                <a:solidFill>
                  <a:srgbClr val="222222"/>
                </a:solidFill>
                <a:latin typeface="Calibri"/>
              </a:rPr>
              <a:t>•  </a:t>
            </a:r>
            <a:r>
              <a:rPr lang="en-GB" sz="1200" b="0" dirty="0" err="1">
                <a:solidFill>
                  <a:srgbClr val="222222"/>
                </a:solidFill>
                <a:latin typeface="Calibri"/>
              </a:rPr>
              <a:t>selectin_polymorphic</a:t>
            </a:r>
            <a:r>
              <a:rPr lang="en-GB" sz="1200" b="0" dirty="0">
                <a:solidFill>
                  <a:srgbClr val="222222"/>
                </a:solidFill>
                <a:latin typeface="Calibri"/>
              </a:rPr>
              <a:t> in alle queries </a:t>
            </a:r>
            <a:r>
              <a:rPr lang="en-GB" sz="1200" b="0" dirty="0" err="1">
                <a:solidFill>
                  <a:srgbClr val="222222"/>
                </a:solidFill>
                <a:latin typeface="Calibri"/>
              </a:rPr>
              <a:t>voor</a:t>
            </a:r>
            <a:r>
              <a:rPr lang="en-GB" sz="1200" b="0" dirty="0">
                <a:solidFill>
                  <a:srgbClr val="222222"/>
                </a:solidFill>
                <a:latin typeface="Calibri"/>
              </a:rPr>
              <a:t> eager-loading</a:t>
            </a:r>
          </a:p>
          <a:p>
            <a:pPr algn="l"/>
            <a:r>
              <a:rPr lang="en-GB" sz="1200" b="0" dirty="0">
                <a:solidFill>
                  <a:srgbClr val="222222"/>
                </a:solidFill>
                <a:latin typeface="Calibri"/>
              </a:rPr>
              <a:t>•  </a:t>
            </a:r>
            <a:r>
              <a:rPr lang="en-GB" sz="1200" b="0" dirty="0" err="1">
                <a:solidFill>
                  <a:srgbClr val="222222"/>
                </a:solidFill>
                <a:latin typeface="Calibri"/>
              </a:rPr>
              <a:t>Eén</a:t>
            </a:r>
            <a:r>
              <a:rPr lang="en-GB" sz="1200" b="0" dirty="0">
                <a:solidFill>
                  <a:srgbClr val="222222"/>
                </a:solidFill>
                <a:latin typeface="Calibri"/>
              </a:rPr>
              <a:t> </a:t>
            </a:r>
            <a:r>
              <a:rPr lang="en-GB" sz="1200" b="0" dirty="0" err="1">
                <a:solidFill>
                  <a:srgbClr val="222222"/>
                </a:solidFill>
                <a:latin typeface="Calibri"/>
              </a:rPr>
              <a:t>FitnessTestRepository</a:t>
            </a:r>
            <a:r>
              <a:rPr lang="en-GB" sz="1200" b="0" dirty="0">
                <a:solidFill>
                  <a:srgbClr val="222222"/>
                </a:solidFill>
                <a:latin typeface="Calibri"/>
              </a:rPr>
              <a:t> </a:t>
            </a:r>
            <a:r>
              <a:rPr lang="en-GB" sz="1200" b="0" dirty="0" err="1">
                <a:solidFill>
                  <a:srgbClr val="222222"/>
                </a:solidFill>
                <a:latin typeface="Calibri"/>
              </a:rPr>
              <a:t>serveert</a:t>
            </a:r>
            <a:r>
              <a:rPr lang="en-GB" sz="1200" b="0" dirty="0">
                <a:solidFill>
                  <a:srgbClr val="222222"/>
                </a:solidFill>
                <a:latin typeface="Calibri"/>
              </a:rPr>
              <a:t> alle subtypes</a:t>
            </a:r>
          </a:p>
          <a:p>
            <a:endParaRPr lang="en-BE" dirty="0"/>
          </a:p>
        </p:txBody>
      </p:sp>
      <p:sp>
        <p:nvSpPr>
          <p:cNvPr id="4" name="Slide Number Placeholder 3"/>
          <p:cNvSpPr>
            <a:spLocks noGrp="1"/>
          </p:cNvSpPr>
          <p:nvPr>
            <p:ph type="sldNum" sz="quarter" idx="5"/>
          </p:nvPr>
        </p:nvSpPr>
        <p:spPr/>
        <p:txBody>
          <a:bodyPr/>
          <a:lstStyle/>
          <a:p>
            <a:fld id="{6C11C5A2-6844-DC44-92D7-B5E8680DCECE}" type="slidenum">
              <a:rPr lang="en-BE" smtClean="0"/>
              <a:t>8</a:t>
            </a:fld>
            <a:endParaRPr lang="en-BE"/>
          </a:p>
        </p:txBody>
      </p:sp>
    </p:spTree>
    <p:extLst>
      <p:ext uri="{BB962C8B-B14F-4D97-AF65-F5344CB8AC3E}">
        <p14:creationId xmlns:p14="http://schemas.microsoft.com/office/powerpoint/2010/main" val="2023522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BE" sz="1200" b="1" i="0" kern="1200" dirty="0">
                <a:solidFill>
                  <a:schemeClr val="tx1"/>
                </a:solidFill>
                <a:effectLst/>
                <a:latin typeface="+mn-lt"/>
                <a:ea typeface="+mn-ea"/>
                <a:cs typeface="+mn-cs"/>
              </a:rPr>
              <a:t>MOM</a:t>
            </a:r>
            <a:r>
              <a:rPr lang="en-BE" sz="1200" b="0" i="0" kern="1200" dirty="0">
                <a:solidFill>
                  <a:schemeClr val="tx1"/>
                </a:solidFill>
                <a:effectLst/>
                <a:latin typeface="+mn-lt"/>
                <a:ea typeface="+mn-ea"/>
                <a:cs typeface="+mn-cs"/>
              </a:rPr>
              <a:t> (message-oriented-middleware) - is an approach, an architecture for distributed system i.e. a middle layer for the whole distributed system, where there's lot of internal communication (a component is querying data, and then needs to send it to the other component, which will be doing some processing on the data) so components have to share info/data among them.</a:t>
            </a:r>
          </a:p>
          <a:p>
            <a:pPr fontAlgn="base"/>
            <a:r>
              <a:rPr lang="en-BE" sz="1200" b="1" i="0" kern="1200" dirty="0">
                <a:solidFill>
                  <a:schemeClr val="tx1"/>
                </a:solidFill>
                <a:effectLst/>
                <a:latin typeface="+mn-lt"/>
                <a:ea typeface="+mn-ea"/>
                <a:cs typeface="+mn-cs"/>
              </a:rPr>
              <a:t>Message broker</a:t>
            </a:r>
            <a:r>
              <a:rPr lang="en-BE" sz="1200" b="0" i="0" kern="1200" dirty="0">
                <a:solidFill>
                  <a:schemeClr val="tx1"/>
                </a:solidFill>
                <a:effectLst/>
                <a:latin typeface="+mn-lt"/>
                <a:ea typeface="+mn-ea"/>
                <a:cs typeface="+mn-cs"/>
              </a:rPr>
              <a:t> - is any system (in MOM) which handles messages (sending as well as receiving), or to be more precise which routes messages to the specific consumer/recipient. A Message Broker is typically built upon a MOM. The MOM provides the base communication among the applications, and things like message persistence and guaranteed delivery. "Message brokers are a building block of Message oriented middleware."</a:t>
            </a:r>
          </a:p>
          <a:p>
            <a:endParaRPr lang="en-BE" dirty="0"/>
          </a:p>
        </p:txBody>
      </p:sp>
      <p:sp>
        <p:nvSpPr>
          <p:cNvPr id="4" name="Slide Number Placeholder 3"/>
          <p:cNvSpPr>
            <a:spLocks noGrp="1"/>
          </p:cNvSpPr>
          <p:nvPr>
            <p:ph type="sldNum" sz="quarter" idx="5"/>
          </p:nvPr>
        </p:nvSpPr>
        <p:spPr/>
        <p:txBody>
          <a:bodyPr/>
          <a:lstStyle/>
          <a:p>
            <a:fld id="{6C11C5A2-6844-DC44-92D7-B5E8680DCECE}" type="slidenum">
              <a:rPr lang="en-BE" smtClean="0"/>
              <a:t>9</a:t>
            </a:fld>
            <a:endParaRPr lang="en-BE"/>
          </a:p>
        </p:txBody>
      </p:sp>
    </p:spTree>
    <p:extLst>
      <p:ext uri="{BB962C8B-B14F-4D97-AF65-F5344CB8AC3E}">
        <p14:creationId xmlns:p14="http://schemas.microsoft.com/office/powerpoint/2010/main" val="314074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t>
            </a:r>
            <a:r>
              <a:rPr lang="en-GB" dirty="0" err="1"/>
              <a:t>next_retry_at</a:t>
            </a:r>
            <a:r>
              <a:rPr lang="en-GB" dirty="0"/>
              <a:t> = now + min(</a:t>
            </a:r>
          </a:p>
          <a:p>
            <a:r>
              <a:rPr lang="en-GB" dirty="0"/>
              <a:t>      </a:t>
            </a:r>
            <a:r>
              <a:rPr lang="en-GB" dirty="0" err="1"/>
              <a:t>base_backoff_s</a:t>
            </a:r>
            <a:r>
              <a:rPr lang="en-GB" dirty="0"/>
              <a:t> × 2 ** </a:t>
            </a:r>
            <a:r>
              <a:rPr lang="en-GB" dirty="0" err="1"/>
              <a:t>attempt_count</a:t>
            </a:r>
            <a:r>
              <a:rPr lang="en-GB" dirty="0"/>
              <a:t>,</a:t>
            </a:r>
          </a:p>
          <a:p>
            <a:r>
              <a:rPr lang="en-GB" dirty="0"/>
              <a:t>      </a:t>
            </a:r>
            <a:r>
              <a:rPr lang="en-GB" dirty="0" err="1"/>
              <a:t>max_backoff_s</a:t>
            </a:r>
            <a:r>
              <a:rPr lang="en-GB" dirty="0"/>
              <a:t>,</a:t>
            </a:r>
          </a:p>
          <a:p>
            <a:r>
              <a:rPr lang="en-GB" dirty="0"/>
              <a:t>  )</a:t>
            </a:r>
          </a:p>
          <a:p>
            <a:endParaRPr lang="en-GB" dirty="0"/>
          </a:p>
          <a:p>
            <a:r>
              <a:rPr lang="en-GB" dirty="0"/>
              <a:t>  Stuk per </a:t>
            </a:r>
            <a:r>
              <a:rPr lang="en-GB" dirty="0" err="1"/>
              <a:t>stuk</a:t>
            </a:r>
            <a:endParaRPr lang="en-GB" dirty="0"/>
          </a:p>
          <a:p>
            <a:endParaRPr lang="en-GB" dirty="0"/>
          </a:p>
          <a:p>
            <a:r>
              <a:rPr lang="en-GB" dirty="0"/>
              <a:t>  ┌─────────────────────────────────────┬──────────────────────────────────────────────────────────────────────────────────────────────────────────────────────────────────────────────────┐</a:t>
            </a:r>
          </a:p>
          <a:p>
            <a:r>
              <a:rPr lang="en-GB" dirty="0"/>
              <a:t>  │              </a:t>
            </a:r>
            <a:r>
              <a:rPr lang="en-GB" dirty="0" err="1"/>
              <a:t>Onderdeel</a:t>
            </a:r>
            <a:r>
              <a:rPr lang="en-GB" dirty="0"/>
              <a:t>              │                                                                    </a:t>
            </a:r>
            <a:r>
              <a:rPr lang="en-GB" dirty="0" err="1"/>
              <a:t>Betekenis</a:t>
            </a:r>
            <a:r>
              <a:rPr lang="en-GB" dirty="0"/>
              <a:t>                                                                     │</a:t>
            </a:r>
          </a:p>
          <a:p>
            <a:r>
              <a:rPr lang="en-GB" dirty="0"/>
              <a:t>  ├─────────────────────────────────────┼──────────────────────────────────────────────────────────────────────────────────────────────────────────────────────────────────────────────────┤</a:t>
            </a:r>
          </a:p>
          <a:p>
            <a:r>
              <a:rPr lang="en-GB" dirty="0"/>
              <a:t>  │ now                                 │ Het </a:t>
            </a:r>
            <a:r>
              <a:rPr lang="en-GB" dirty="0" err="1"/>
              <a:t>huidige</a:t>
            </a:r>
            <a:r>
              <a:rPr lang="en-GB" dirty="0"/>
              <a:t> </a:t>
            </a:r>
            <a:r>
              <a:rPr lang="en-GB" dirty="0" err="1"/>
              <a:t>tijdstip</a:t>
            </a:r>
            <a:r>
              <a:rPr lang="en-GB" dirty="0"/>
              <a:t> (moment </a:t>
            </a:r>
            <a:r>
              <a:rPr lang="en-GB" dirty="0" err="1"/>
              <a:t>waarop</a:t>
            </a:r>
            <a:r>
              <a:rPr lang="en-GB" dirty="0"/>
              <a:t> de </a:t>
            </a:r>
            <a:r>
              <a:rPr lang="en-GB" dirty="0" err="1"/>
              <a:t>zonet</a:t>
            </a:r>
            <a:r>
              <a:rPr lang="en-GB" dirty="0"/>
              <a:t> </a:t>
            </a:r>
            <a:r>
              <a:rPr lang="en-GB" dirty="0" err="1"/>
              <a:t>mislukte</a:t>
            </a:r>
            <a:r>
              <a:rPr lang="en-GB" dirty="0"/>
              <a:t> </a:t>
            </a:r>
            <a:r>
              <a:rPr lang="en-GB" dirty="0" err="1"/>
              <a:t>poging</a:t>
            </a:r>
            <a:r>
              <a:rPr lang="en-GB" dirty="0"/>
              <a:t> </a:t>
            </a:r>
            <a:r>
              <a:rPr lang="en-GB" dirty="0" err="1"/>
              <a:t>eindigde</a:t>
            </a:r>
            <a:r>
              <a:rPr lang="en-GB" dirty="0"/>
              <a:t>).                                                                          │</a:t>
            </a:r>
          </a:p>
          <a:p>
            <a:r>
              <a:rPr lang="en-GB" dirty="0"/>
              <a:t>  ├─────────────────────────────────────┼──────────────────────────────────────────────────────────────────────────────────────────────────────────────────────────────────────────────────┤</a:t>
            </a:r>
          </a:p>
          <a:p>
            <a:r>
              <a:rPr lang="en-GB" dirty="0"/>
              <a:t>  │ </a:t>
            </a:r>
            <a:r>
              <a:rPr lang="en-GB" dirty="0" err="1"/>
              <a:t>attempt_count</a:t>
            </a:r>
            <a:r>
              <a:rPr lang="en-GB" dirty="0"/>
              <a:t>                       │ </a:t>
            </a:r>
            <a:r>
              <a:rPr lang="en-GB" dirty="0" err="1"/>
              <a:t>Hoeveel</a:t>
            </a:r>
            <a:r>
              <a:rPr lang="en-GB" dirty="0"/>
              <a:t> </a:t>
            </a:r>
            <a:r>
              <a:rPr lang="en-GB" dirty="0" err="1"/>
              <a:t>pogingen</a:t>
            </a:r>
            <a:r>
              <a:rPr lang="en-GB" dirty="0"/>
              <a:t> er al </a:t>
            </a:r>
            <a:r>
              <a:rPr lang="en-GB" dirty="0" err="1"/>
              <a:t>gefaald</a:t>
            </a:r>
            <a:r>
              <a:rPr lang="en-GB" dirty="0"/>
              <a:t> </a:t>
            </a:r>
            <a:r>
              <a:rPr lang="en-GB" dirty="0" err="1"/>
              <a:t>zijn</a:t>
            </a:r>
            <a:r>
              <a:rPr lang="en-GB" dirty="0"/>
              <a:t> </a:t>
            </a:r>
            <a:r>
              <a:rPr lang="en-GB" dirty="0" err="1"/>
              <a:t>voor</a:t>
            </a:r>
            <a:r>
              <a:rPr lang="en-GB" dirty="0"/>
              <a:t> </a:t>
            </a:r>
            <a:r>
              <a:rPr lang="en-GB" dirty="0" err="1"/>
              <a:t>dit</a:t>
            </a:r>
            <a:r>
              <a:rPr lang="en-GB" dirty="0"/>
              <a:t> </a:t>
            </a:r>
            <a:r>
              <a:rPr lang="en-GB" dirty="0" err="1"/>
              <a:t>bericht</a:t>
            </a:r>
            <a:r>
              <a:rPr lang="en-GB" dirty="0"/>
              <a:t> (</a:t>
            </a:r>
            <a:r>
              <a:rPr lang="en-GB" dirty="0" err="1"/>
              <a:t>kolom</a:t>
            </a:r>
            <a:r>
              <a:rPr lang="en-GB" dirty="0"/>
              <a:t> </a:t>
            </a:r>
            <a:r>
              <a:rPr lang="en-GB" dirty="0" err="1"/>
              <a:t>hr_messages.attempt_count</a:t>
            </a:r>
            <a:r>
              <a:rPr lang="en-GB" dirty="0"/>
              <a:t>).                                                          │</a:t>
            </a:r>
          </a:p>
          <a:p>
            <a:r>
              <a:rPr lang="en-GB" dirty="0"/>
              <a:t>  ├─────────────────────────────────────┼──────────────────────────────────────────────────────────────────────────────────────────────────────────────────────────────────────────────────┤</a:t>
            </a:r>
          </a:p>
          <a:p>
            <a:r>
              <a:rPr lang="en-GB" dirty="0"/>
              <a:t>  │ </a:t>
            </a:r>
            <a:r>
              <a:rPr lang="en-GB" dirty="0" err="1"/>
              <a:t>base_backoff_s</a:t>
            </a:r>
            <a:r>
              <a:rPr lang="en-GB" dirty="0"/>
              <a:t>                      │ Minimum </a:t>
            </a:r>
            <a:r>
              <a:rPr lang="en-GB" dirty="0" err="1"/>
              <a:t>wachttijd</a:t>
            </a:r>
            <a:r>
              <a:rPr lang="en-GB" dirty="0"/>
              <a:t> (default 5 s, config: </a:t>
            </a:r>
            <a:r>
              <a:rPr lang="en-GB" dirty="0" err="1"/>
              <a:t>broker_base_backoff_s</a:t>
            </a:r>
            <a:r>
              <a:rPr lang="en-GB" dirty="0"/>
              <a:t>).                                                                                  │</a:t>
            </a:r>
          </a:p>
          <a:p>
            <a:r>
              <a:rPr lang="en-GB" dirty="0"/>
              <a:t>  ├─────────────────────────────────────┼──────────────────────────────────────────────────────────────────────────────────────────────────────────────────────────────────────────────────┤</a:t>
            </a:r>
          </a:p>
          <a:p>
            <a:r>
              <a:rPr lang="en-GB" dirty="0"/>
              <a:t>  │ 2 ** </a:t>
            </a:r>
            <a:r>
              <a:rPr lang="en-GB" dirty="0" err="1"/>
              <a:t>attempt_count</a:t>
            </a:r>
            <a:r>
              <a:rPr lang="en-GB" dirty="0"/>
              <a:t>                  │ Exponent: </a:t>
            </a:r>
            <a:r>
              <a:rPr lang="en-GB" dirty="0" err="1"/>
              <a:t>verdubbelt</a:t>
            </a:r>
            <a:r>
              <a:rPr lang="en-GB" dirty="0"/>
              <a:t> </a:t>
            </a:r>
            <a:r>
              <a:rPr lang="en-GB" dirty="0" err="1"/>
              <a:t>na</a:t>
            </a:r>
            <a:r>
              <a:rPr lang="en-GB" dirty="0"/>
              <a:t> </a:t>
            </a:r>
            <a:r>
              <a:rPr lang="en-GB" dirty="0" err="1"/>
              <a:t>elke</a:t>
            </a:r>
            <a:r>
              <a:rPr lang="en-GB" dirty="0"/>
              <a:t> </a:t>
            </a:r>
            <a:r>
              <a:rPr lang="en-GB" dirty="0" err="1"/>
              <a:t>mislukte</a:t>
            </a:r>
            <a:r>
              <a:rPr lang="en-GB" dirty="0"/>
              <a:t> </a:t>
            </a:r>
            <a:r>
              <a:rPr lang="en-GB" dirty="0" err="1"/>
              <a:t>poging</a:t>
            </a:r>
            <a:r>
              <a:rPr lang="en-GB" dirty="0"/>
              <a:t> (1 → 2 → 4 → 8 → 16 → 32 …).                                                                        │</a:t>
            </a:r>
          </a:p>
          <a:p>
            <a:r>
              <a:rPr lang="en-GB" dirty="0"/>
              <a:t>  ├─────────────────────────────────────┼──────────────────────────────────────────────────────────────────────────────────────────────────────────────────────────────────────────────────┤</a:t>
            </a:r>
          </a:p>
          <a:p>
            <a:r>
              <a:rPr lang="en-GB" dirty="0"/>
              <a:t>  │ </a:t>
            </a:r>
            <a:r>
              <a:rPr lang="en-GB" dirty="0" err="1"/>
              <a:t>base_backoff_s</a:t>
            </a:r>
            <a:r>
              <a:rPr lang="en-GB" dirty="0"/>
              <a:t> × 2 ** </a:t>
            </a:r>
            <a:r>
              <a:rPr lang="en-GB" dirty="0" err="1"/>
              <a:t>attempt_count</a:t>
            </a:r>
            <a:r>
              <a:rPr lang="en-GB" dirty="0"/>
              <a:t> │ De "</a:t>
            </a:r>
            <a:r>
              <a:rPr lang="en-GB" dirty="0" err="1"/>
              <a:t>ideale</a:t>
            </a:r>
            <a:r>
              <a:rPr lang="en-GB" dirty="0"/>
              <a:t>" </a:t>
            </a:r>
            <a:r>
              <a:rPr lang="en-GB" dirty="0" err="1"/>
              <a:t>wachttijd</a:t>
            </a:r>
            <a:r>
              <a:rPr lang="en-GB" dirty="0"/>
              <a:t>: </a:t>
            </a:r>
            <a:r>
              <a:rPr lang="en-GB" dirty="0" err="1"/>
              <a:t>groeit</a:t>
            </a:r>
            <a:r>
              <a:rPr lang="en-GB" dirty="0"/>
              <a:t> </a:t>
            </a:r>
            <a:r>
              <a:rPr lang="en-GB" dirty="0" err="1"/>
              <a:t>exponentieel</a:t>
            </a:r>
            <a:r>
              <a:rPr lang="en-GB" dirty="0"/>
              <a:t>.                                                                                                      │</a:t>
            </a:r>
          </a:p>
          <a:p>
            <a:r>
              <a:rPr lang="en-GB" dirty="0"/>
              <a:t>  ├─────────────────────────────────────┼──────────────────────────────────────────────────────────────────────────────────────────────────────────────────────────────────────────────────┤</a:t>
            </a:r>
          </a:p>
          <a:p>
            <a:r>
              <a:rPr lang="en-GB" dirty="0"/>
              <a:t>  │ </a:t>
            </a:r>
            <a:r>
              <a:rPr lang="en-GB" dirty="0" err="1"/>
              <a:t>max_backoff_s</a:t>
            </a:r>
            <a:r>
              <a:rPr lang="en-GB" dirty="0"/>
              <a:t>                       │ Plafond (default 600 s = 10 min, config: </a:t>
            </a:r>
            <a:r>
              <a:rPr lang="en-GB" dirty="0" err="1"/>
              <a:t>broker_max_backoff_s</a:t>
            </a:r>
            <a:r>
              <a:rPr lang="en-GB" dirty="0"/>
              <a:t>).                                                                                  │</a:t>
            </a:r>
          </a:p>
          <a:p>
            <a:r>
              <a:rPr lang="en-GB" dirty="0"/>
              <a:t>  ├─────────────────────────────────────┼──────────────────────────────────────────────────────────────────────────────────────────────────────────────────────────────────────────────────┤</a:t>
            </a:r>
          </a:p>
          <a:p>
            <a:r>
              <a:rPr lang="en-GB" dirty="0"/>
              <a:t>  │ min(…, </a:t>
            </a:r>
            <a:r>
              <a:rPr lang="en-GB" dirty="0" err="1"/>
              <a:t>max_backoff_s</a:t>
            </a:r>
            <a:r>
              <a:rPr lang="en-GB" dirty="0"/>
              <a:t>)               │ Kap de </a:t>
            </a:r>
            <a:r>
              <a:rPr lang="en-GB" dirty="0" err="1"/>
              <a:t>wachttijd</a:t>
            </a:r>
            <a:r>
              <a:rPr lang="en-GB" dirty="0"/>
              <a:t> </a:t>
            </a:r>
            <a:r>
              <a:rPr lang="en-GB" dirty="0" err="1"/>
              <a:t>af</a:t>
            </a:r>
            <a:r>
              <a:rPr lang="en-GB" dirty="0"/>
              <a:t> </a:t>
            </a:r>
            <a:r>
              <a:rPr lang="en-GB" dirty="0" err="1"/>
              <a:t>zodra</a:t>
            </a:r>
            <a:r>
              <a:rPr lang="en-GB" dirty="0"/>
              <a:t> ze het plafond </a:t>
            </a:r>
            <a:r>
              <a:rPr lang="en-GB" dirty="0" err="1"/>
              <a:t>raakt</a:t>
            </a:r>
            <a:r>
              <a:rPr lang="en-GB" dirty="0"/>
              <a:t>.                                                                                                  │</a:t>
            </a:r>
          </a:p>
          <a:p>
            <a:r>
              <a:rPr lang="en-GB" dirty="0"/>
              <a:t>  ├─────────────────────────────────────┼──────────────────────────────────────────────────────────────────────────────────────────────────────────────────────────────────────────────────┤</a:t>
            </a:r>
          </a:p>
          <a:p>
            <a:r>
              <a:rPr lang="en-GB" dirty="0"/>
              <a:t>  │ </a:t>
            </a:r>
            <a:r>
              <a:rPr lang="en-GB" dirty="0" err="1"/>
              <a:t>next_retry_at</a:t>
            </a:r>
            <a:r>
              <a:rPr lang="en-GB" dirty="0"/>
              <a:t>                       │ </a:t>
            </a:r>
            <a:r>
              <a:rPr lang="en-GB" dirty="0" err="1"/>
              <a:t>Vroegste</a:t>
            </a:r>
            <a:r>
              <a:rPr lang="en-GB" dirty="0"/>
              <a:t> </a:t>
            </a:r>
            <a:r>
              <a:rPr lang="en-GB" dirty="0" err="1"/>
              <a:t>tijdstip</a:t>
            </a:r>
            <a:r>
              <a:rPr lang="en-GB" dirty="0"/>
              <a:t> </a:t>
            </a:r>
            <a:r>
              <a:rPr lang="en-GB" dirty="0" err="1"/>
              <a:t>waarop</a:t>
            </a:r>
            <a:r>
              <a:rPr lang="en-GB" dirty="0"/>
              <a:t> de worker </a:t>
            </a:r>
            <a:r>
              <a:rPr lang="en-GB" dirty="0" err="1"/>
              <a:t>dit</a:t>
            </a:r>
            <a:r>
              <a:rPr lang="en-GB" dirty="0"/>
              <a:t> </a:t>
            </a:r>
            <a:r>
              <a:rPr lang="en-GB" dirty="0" err="1"/>
              <a:t>bericht</a:t>
            </a:r>
            <a:r>
              <a:rPr lang="en-GB" dirty="0"/>
              <a:t> </a:t>
            </a:r>
            <a:r>
              <a:rPr lang="en-GB" dirty="0" err="1"/>
              <a:t>opnieuw</a:t>
            </a:r>
            <a:r>
              <a:rPr lang="en-GB" dirty="0"/>
              <a:t> mag </a:t>
            </a:r>
            <a:r>
              <a:rPr lang="en-GB" dirty="0" err="1"/>
              <a:t>proberen</a:t>
            </a:r>
            <a:r>
              <a:rPr lang="en-GB" dirty="0"/>
              <a:t>. Tot </a:t>
            </a:r>
            <a:r>
              <a:rPr lang="en-GB" dirty="0" err="1"/>
              <a:t>dat</a:t>
            </a:r>
            <a:r>
              <a:rPr lang="en-GB" dirty="0"/>
              <a:t> </a:t>
            </a:r>
            <a:r>
              <a:rPr lang="en-GB" dirty="0" err="1"/>
              <a:t>tijdstip</a:t>
            </a:r>
            <a:r>
              <a:rPr lang="en-GB" dirty="0"/>
              <a:t> </a:t>
            </a:r>
            <a:r>
              <a:rPr lang="en-GB" dirty="0" err="1"/>
              <a:t>wordt</a:t>
            </a:r>
            <a:r>
              <a:rPr lang="en-GB" dirty="0"/>
              <a:t> de </a:t>
            </a:r>
            <a:r>
              <a:rPr lang="en-GB" dirty="0" err="1"/>
              <a:t>rij</a:t>
            </a:r>
            <a:r>
              <a:rPr lang="en-GB" dirty="0"/>
              <a:t> </a:t>
            </a:r>
            <a:r>
              <a:rPr lang="en-GB" dirty="0" err="1"/>
              <a:t>overgeslagen</a:t>
            </a:r>
            <a:r>
              <a:rPr lang="en-GB" dirty="0"/>
              <a:t> door </a:t>
            </a:r>
            <a:r>
              <a:rPr lang="en-GB" dirty="0" err="1"/>
              <a:t>get_due_pending_messages</a:t>
            </a:r>
            <a:r>
              <a:rPr lang="en-GB" dirty="0"/>
              <a:t>(). │</a:t>
            </a:r>
          </a:p>
          <a:p>
            <a:r>
              <a:rPr lang="en-GB" dirty="0"/>
              <a:t>  └─────────────────────────────────────┴──────────────────────────────────────────────────────────────────────────────────────────────────────────────────────────────────────────────────┘</a:t>
            </a:r>
          </a:p>
          <a:p>
            <a:r>
              <a:rPr lang="en-GB" dirty="0"/>
              <a:t>  </a:t>
            </a:r>
          </a:p>
          <a:p>
            <a:r>
              <a:rPr lang="en-GB" dirty="0"/>
              <a:t>  </a:t>
            </a:r>
            <a:r>
              <a:rPr lang="en-GB" dirty="0" err="1"/>
              <a:t>Concreet</a:t>
            </a:r>
            <a:r>
              <a:rPr lang="en-GB" dirty="0"/>
              <a:t> (defaults: base 5 s, max 600 s)</a:t>
            </a:r>
          </a:p>
          <a:p>
            <a:r>
              <a:rPr lang="en-GB" dirty="0"/>
              <a:t>  </a:t>
            </a:r>
          </a:p>
          <a:p>
            <a:r>
              <a:rPr lang="en-GB" dirty="0"/>
              <a:t>  ┌───────────────┬─────────┬─────────┬─────────────────┬────────────────────────────────┐</a:t>
            </a:r>
          </a:p>
          <a:p>
            <a:r>
              <a:rPr lang="en-GB" dirty="0"/>
              <a:t>  │ </a:t>
            </a:r>
            <a:r>
              <a:rPr lang="en-GB" dirty="0" err="1"/>
              <a:t>attempt_count</a:t>
            </a:r>
            <a:r>
              <a:rPr lang="en-GB" dirty="0"/>
              <a:t> │ 5 × 2^n │ Met cap │    </a:t>
            </a:r>
            <a:r>
              <a:rPr lang="en-GB" dirty="0" err="1"/>
              <a:t>Wachttijd</a:t>
            </a:r>
            <a:r>
              <a:rPr lang="en-GB" dirty="0"/>
              <a:t>    │    </a:t>
            </a:r>
            <a:r>
              <a:rPr lang="en-GB" dirty="0" err="1"/>
              <a:t>next_retry_at</a:t>
            </a:r>
            <a:r>
              <a:rPr lang="en-GB" dirty="0"/>
              <a:t> (</a:t>
            </a:r>
            <a:r>
              <a:rPr lang="en-GB" dirty="0" err="1"/>
              <a:t>vanaf</a:t>
            </a:r>
            <a:r>
              <a:rPr lang="en-GB" dirty="0"/>
              <a:t> 12:00:00)    │</a:t>
            </a:r>
          </a:p>
          <a:p>
            <a:r>
              <a:rPr lang="en-GB" dirty="0"/>
              <a:t>  ├───────────────┼─────────┼─────────┼─────────────────┼──────────────────────────────────────┤</a:t>
            </a:r>
          </a:p>
          <a:p>
            <a:r>
              <a:rPr lang="en-GB" dirty="0"/>
              <a:t>  │       0       │   5 s   │   5 s   │ 5 sec           │ 12:00:05                             │</a:t>
            </a:r>
          </a:p>
          <a:p>
            <a:r>
              <a:rPr lang="en-GB" dirty="0"/>
              <a:t>  ├───────────────┼─────────┼─────────┼─────────────────┼──────────────────────────────────────┤</a:t>
            </a:r>
          </a:p>
          <a:p>
            <a:r>
              <a:rPr lang="en-GB" dirty="0"/>
              <a:t>  │       1       │  10 s   │  10 s   │ 10 sec          │ 12:00:10                             │</a:t>
            </a:r>
          </a:p>
          <a:p>
            <a:r>
              <a:rPr lang="en-GB" dirty="0"/>
              <a:t>  ├───────────────┼─────────┼─────────┼─────────────────┼──────────────────────────────────────┤</a:t>
            </a:r>
          </a:p>
          <a:p>
            <a:r>
              <a:rPr lang="en-GB" dirty="0"/>
              <a:t>  │       2       │  20 s   │  20 s   │ 20 sec          │ 12:00:20                             │</a:t>
            </a:r>
          </a:p>
          <a:p>
            <a:r>
              <a:rPr lang="en-GB" dirty="0"/>
              <a:t>  ├───────────────┼─────────┼─────────┼─────────────────┼──────────────────────────────────────┤</a:t>
            </a:r>
          </a:p>
          <a:p>
            <a:r>
              <a:rPr lang="en-GB" dirty="0"/>
              <a:t>  │       3       │  40 s   │  40 s   │ 40 sec          │ 12:00:40                             │</a:t>
            </a:r>
          </a:p>
          <a:p>
            <a:r>
              <a:rPr lang="en-GB" dirty="0"/>
              <a:t>  ├───────────────┼─────────┼─────────┼─────────────────┼──────────────────────────────────────┤</a:t>
            </a:r>
          </a:p>
          <a:p>
            <a:r>
              <a:rPr lang="en-GB" dirty="0"/>
              <a:t>  │       4       │  80 s   │  80 s   │ 1 min 20 s      │ 12:01:20                             │</a:t>
            </a:r>
          </a:p>
          <a:p>
            <a:r>
              <a:rPr lang="en-GB" dirty="0"/>
              <a:t>  ├───────────────┼─────────┼─────────┼─────────────────┼──────────────────────────────────────┤</a:t>
            </a:r>
          </a:p>
          <a:p>
            <a:r>
              <a:rPr lang="en-GB" dirty="0"/>
              <a:t>  │       5       │  160 s  │  160 s  │ 2 min 40 s      │ 12:02:40                             │</a:t>
            </a:r>
          </a:p>
          <a:p>
            <a:r>
              <a:rPr lang="en-GB" dirty="0"/>
              <a:t>  ├───────────────┼─────────┼─────────┼─────────────────┼──────────────────────────────────────┤</a:t>
            </a:r>
          </a:p>
          <a:p>
            <a:r>
              <a:rPr lang="en-GB" dirty="0"/>
              <a:t>  │       6       │  320 s  │  320 s  │ 5 min 20 s      │ 12:05:20                             │</a:t>
            </a:r>
          </a:p>
          <a:p>
            <a:r>
              <a:rPr lang="en-GB" dirty="0"/>
              <a:t>  ├───────────────┼─────────┼─────────┼─────────────────┼──────────────────────────────────────┤</a:t>
            </a:r>
          </a:p>
          <a:p>
            <a:r>
              <a:rPr lang="en-GB" dirty="0"/>
              <a:t>  │       7       │  640 s  │  600 s  │ 10 min (</a:t>
            </a:r>
            <a:r>
              <a:rPr lang="en-GB" dirty="0" err="1"/>
              <a:t>gecapt</a:t>
            </a:r>
            <a:r>
              <a:rPr lang="en-GB" dirty="0"/>
              <a:t>) │ 12:10:00                             │</a:t>
            </a:r>
          </a:p>
          <a:p>
            <a:r>
              <a:rPr lang="en-GB" dirty="0"/>
              <a:t>  ├───────────────┼─────────┼─────────┼─────────────────┼──────────────────────────────────────┤</a:t>
            </a:r>
          </a:p>
          <a:p>
            <a:r>
              <a:rPr lang="en-GB" dirty="0"/>
              <a:t>  │       8       │ 1280 s  │  600 s  │ 10 min (</a:t>
            </a:r>
            <a:r>
              <a:rPr lang="en-GB" dirty="0" err="1"/>
              <a:t>gecapt</a:t>
            </a:r>
            <a:r>
              <a:rPr lang="en-GB" dirty="0"/>
              <a:t>) │ 12:10:00                             │</a:t>
            </a:r>
          </a:p>
          <a:p>
            <a:r>
              <a:rPr lang="en-GB" dirty="0"/>
              <a:t>  ├───────────────┼─────────┼─────────┼─────────────────┼──────────────────────────────────────┤</a:t>
            </a:r>
          </a:p>
          <a:p>
            <a:r>
              <a:rPr lang="en-GB" dirty="0"/>
              <a:t>  │       9       │ 2560 s  │  600 s  │ 10 min (</a:t>
            </a:r>
            <a:r>
              <a:rPr lang="en-GB" dirty="0" err="1"/>
              <a:t>gecapt</a:t>
            </a:r>
            <a:r>
              <a:rPr lang="en-GB" dirty="0"/>
              <a:t>) │ 12:10:00                             │</a:t>
            </a:r>
          </a:p>
          <a:p>
            <a:r>
              <a:rPr lang="en-GB" dirty="0"/>
              <a:t>  ├───────────────┼─────────┼─────────┼─────────────────┼──────────────────────────────────────┤</a:t>
            </a:r>
          </a:p>
          <a:p>
            <a:r>
              <a:rPr lang="en-GB" dirty="0"/>
              <a:t>  │      10       │    —    │    —    │ —               │ → dead-letter (</a:t>
            </a:r>
            <a:r>
              <a:rPr lang="en-GB" dirty="0" err="1"/>
              <a:t>max_attempts</a:t>
            </a:r>
            <a:r>
              <a:rPr lang="en-GB" dirty="0"/>
              <a:t> </a:t>
            </a:r>
            <a:r>
              <a:rPr lang="en-GB" dirty="0" err="1"/>
              <a:t>bereikt</a:t>
            </a:r>
            <a:r>
              <a:rPr lang="en-GB" dirty="0"/>
              <a:t>) │</a:t>
            </a:r>
          </a:p>
          <a:p>
            <a:r>
              <a:rPr lang="en-GB" dirty="0"/>
              <a:t>  └───────────────┴─────────┴─────────┴─────────────────┴──────────────────────────────────────┘</a:t>
            </a:r>
          </a:p>
          <a:p>
            <a:r>
              <a:rPr lang="en-GB" dirty="0"/>
              <a:t>  </a:t>
            </a:r>
          </a:p>
          <a:p>
            <a:r>
              <a:rPr lang="en-GB" dirty="0"/>
              <a:t>  </a:t>
            </a:r>
            <a:r>
              <a:rPr lang="en-GB" dirty="0" err="1"/>
              <a:t>Totale</a:t>
            </a:r>
            <a:r>
              <a:rPr lang="en-GB" dirty="0"/>
              <a:t> </a:t>
            </a:r>
            <a:r>
              <a:rPr lang="en-GB" dirty="0" err="1"/>
              <a:t>tijd</a:t>
            </a:r>
            <a:r>
              <a:rPr lang="en-GB" dirty="0"/>
              <a:t> </a:t>
            </a:r>
            <a:r>
              <a:rPr lang="en-GB" dirty="0" err="1"/>
              <a:t>vóór</a:t>
            </a:r>
            <a:r>
              <a:rPr lang="en-GB" dirty="0"/>
              <a:t> dead-letter (met defaults): ~30 min — </a:t>
            </a:r>
            <a:r>
              <a:rPr lang="en-GB" dirty="0" err="1"/>
              <a:t>genoeg</a:t>
            </a:r>
            <a:r>
              <a:rPr lang="en-GB" dirty="0"/>
              <a:t> om </a:t>
            </a:r>
            <a:r>
              <a:rPr lang="en-GB" dirty="0" err="1"/>
              <a:t>een</a:t>
            </a:r>
            <a:r>
              <a:rPr lang="en-GB" dirty="0"/>
              <a:t> </a:t>
            </a:r>
            <a:r>
              <a:rPr lang="en-GB" dirty="0" err="1"/>
              <a:t>korte</a:t>
            </a:r>
            <a:r>
              <a:rPr lang="en-GB" dirty="0"/>
              <a:t> HR-</a:t>
            </a:r>
            <a:r>
              <a:rPr lang="en-GB" dirty="0" err="1"/>
              <a:t>uitval</a:t>
            </a:r>
            <a:r>
              <a:rPr lang="en-GB" dirty="0"/>
              <a:t> </a:t>
            </a:r>
            <a:r>
              <a:rPr lang="en-GB" dirty="0" err="1"/>
              <a:t>te</a:t>
            </a:r>
            <a:r>
              <a:rPr lang="en-GB" dirty="0"/>
              <a:t> </a:t>
            </a:r>
            <a:r>
              <a:rPr lang="en-GB" dirty="0" err="1"/>
              <a:t>overbruggen</a:t>
            </a:r>
            <a:r>
              <a:rPr lang="en-GB" dirty="0"/>
              <a:t> </a:t>
            </a:r>
            <a:r>
              <a:rPr lang="en-GB" dirty="0" err="1"/>
              <a:t>zonder</a:t>
            </a:r>
            <a:r>
              <a:rPr lang="en-GB" dirty="0"/>
              <a:t> </a:t>
            </a:r>
            <a:r>
              <a:rPr lang="en-GB" dirty="0" err="1"/>
              <a:t>uren</a:t>
            </a:r>
            <a:r>
              <a:rPr lang="en-GB" dirty="0"/>
              <a:t> </a:t>
            </a:r>
            <a:r>
              <a:rPr lang="en-GB" dirty="0" err="1"/>
              <a:t>te</a:t>
            </a:r>
            <a:r>
              <a:rPr lang="en-GB" dirty="0"/>
              <a:t> </a:t>
            </a:r>
            <a:r>
              <a:rPr lang="en-GB" dirty="0" err="1"/>
              <a:t>wachten</a:t>
            </a:r>
            <a:r>
              <a:rPr lang="en-GB" dirty="0"/>
              <a:t>.</a:t>
            </a:r>
          </a:p>
          <a:p>
            <a:r>
              <a:rPr lang="en-GB" dirty="0"/>
              <a:t>  </a:t>
            </a:r>
          </a:p>
          <a:p>
            <a:r>
              <a:rPr lang="en-GB" dirty="0"/>
              <a:t>  </a:t>
            </a:r>
            <a:r>
              <a:rPr lang="en-GB" dirty="0" err="1"/>
              <a:t>Waarom</a:t>
            </a:r>
            <a:r>
              <a:rPr lang="en-GB" dirty="0"/>
              <a:t> </a:t>
            </a:r>
            <a:r>
              <a:rPr lang="en-GB" dirty="0" err="1"/>
              <a:t>dit</a:t>
            </a:r>
            <a:r>
              <a:rPr lang="en-GB" dirty="0"/>
              <a:t> </a:t>
            </a:r>
            <a:r>
              <a:rPr lang="en-GB" dirty="0" err="1"/>
              <a:t>goed</a:t>
            </a:r>
            <a:r>
              <a:rPr lang="en-GB" dirty="0"/>
              <a:t> is</a:t>
            </a:r>
          </a:p>
          <a:p>
            <a:endParaRPr lang="en-GB" dirty="0"/>
          </a:p>
          <a:p>
            <a:r>
              <a:rPr lang="en-GB" dirty="0"/>
              <a:t>  - Snel </a:t>
            </a:r>
            <a:r>
              <a:rPr lang="en-GB" dirty="0" err="1"/>
              <a:t>proberen</a:t>
            </a:r>
            <a:r>
              <a:rPr lang="en-GB" dirty="0"/>
              <a:t> </a:t>
            </a:r>
            <a:r>
              <a:rPr lang="en-GB" dirty="0" err="1"/>
              <a:t>bij</a:t>
            </a:r>
            <a:r>
              <a:rPr lang="en-GB" dirty="0"/>
              <a:t> </a:t>
            </a:r>
            <a:r>
              <a:rPr lang="en-GB" dirty="0" err="1"/>
              <a:t>hicc</a:t>
            </a:r>
            <a:r>
              <a:rPr lang="en-GB" dirty="0"/>
              <a:t>-ups: de </a:t>
            </a:r>
            <a:r>
              <a:rPr lang="en-GB" dirty="0" err="1"/>
              <a:t>eerste</a:t>
            </a:r>
            <a:r>
              <a:rPr lang="en-GB" dirty="0"/>
              <a:t> </a:t>
            </a:r>
            <a:r>
              <a:rPr lang="en-GB" dirty="0" err="1"/>
              <a:t>pogingen</a:t>
            </a:r>
            <a:r>
              <a:rPr lang="en-GB" dirty="0"/>
              <a:t> </a:t>
            </a:r>
            <a:r>
              <a:rPr lang="en-GB" dirty="0" err="1"/>
              <a:t>gebeuren</a:t>
            </a:r>
            <a:r>
              <a:rPr lang="en-GB" dirty="0"/>
              <a:t> </a:t>
            </a:r>
            <a:r>
              <a:rPr lang="en-GB" dirty="0" err="1"/>
              <a:t>binnen</a:t>
            </a:r>
            <a:r>
              <a:rPr lang="en-GB" dirty="0"/>
              <a:t> </a:t>
            </a:r>
            <a:r>
              <a:rPr lang="en-GB" dirty="0" err="1"/>
              <a:t>seconden</a:t>
            </a:r>
            <a:r>
              <a:rPr lang="en-GB" dirty="0"/>
              <a:t> — </a:t>
            </a:r>
            <a:r>
              <a:rPr lang="en-GB" dirty="0" err="1"/>
              <a:t>een</a:t>
            </a:r>
            <a:r>
              <a:rPr lang="en-GB" dirty="0"/>
              <a:t> </a:t>
            </a:r>
            <a:r>
              <a:rPr lang="en-GB" dirty="0" err="1"/>
              <a:t>kortstondige</a:t>
            </a:r>
            <a:r>
              <a:rPr lang="en-GB" dirty="0"/>
              <a:t> </a:t>
            </a:r>
            <a:r>
              <a:rPr lang="en-GB" dirty="0" err="1"/>
              <a:t>netwerk</a:t>
            </a:r>
            <a:r>
              <a:rPr lang="en-GB" dirty="0"/>
              <a:t>- of restart-glitch </a:t>
            </a:r>
            <a:r>
              <a:rPr lang="en-GB" dirty="0" err="1"/>
              <a:t>wordt</a:t>
            </a:r>
            <a:r>
              <a:rPr lang="en-GB" dirty="0"/>
              <a:t> </a:t>
            </a:r>
            <a:r>
              <a:rPr lang="en-GB" dirty="0" err="1"/>
              <a:t>vrijwel</a:t>
            </a:r>
            <a:r>
              <a:rPr lang="en-GB" dirty="0"/>
              <a:t> </a:t>
            </a:r>
            <a:r>
              <a:rPr lang="en-GB" dirty="0" err="1"/>
              <a:t>onmiddellijk</a:t>
            </a:r>
            <a:r>
              <a:rPr lang="en-GB" dirty="0"/>
              <a:t> </a:t>
            </a:r>
            <a:r>
              <a:rPr lang="en-GB" dirty="0" err="1"/>
              <a:t>opgevangen</a:t>
            </a:r>
            <a:r>
              <a:rPr lang="en-GB" dirty="0"/>
              <a:t>.</a:t>
            </a:r>
          </a:p>
          <a:p>
            <a:r>
              <a:rPr lang="en-GB" dirty="0"/>
              <a:t>  - Lange </a:t>
            </a:r>
            <a:r>
              <a:rPr lang="en-GB" dirty="0" err="1"/>
              <a:t>uitval</a:t>
            </a:r>
            <a:r>
              <a:rPr lang="en-GB" dirty="0"/>
              <a:t> = minder </a:t>
            </a:r>
            <a:r>
              <a:rPr lang="en-GB" dirty="0" err="1"/>
              <a:t>druk</a:t>
            </a:r>
            <a:r>
              <a:rPr lang="en-GB" dirty="0"/>
              <a:t>: </a:t>
            </a:r>
            <a:r>
              <a:rPr lang="en-GB" dirty="0" err="1"/>
              <a:t>na</a:t>
            </a:r>
            <a:r>
              <a:rPr lang="en-GB" dirty="0"/>
              <a:t> </a:t>
            </a:r>
            <a:r>
              <a:rPr lang="en-GB" dirty="0" err="1"/>
              <a:t>elke</a:t>
            </a:r>
            <a:r>
              <a:rPr lang="en-GB" dirty="0"/>
              <a:t> </a:t>
            </a:r>
            <a:r>
              <a:rPr lang="en-GB" dirty="0" err="1"/>
              <a:t>faal</a:t>
            </a:r>
            <a:r>
              <a:rPr lang="en-GB" dirty="0"/>
              <a:t> </a:t>
            </a:r>
            <a:r>
              <a:rPr lang="en-GB" dirty="0" err="1"/>
              <a:t>verdubbelt</a:t>
            </a:r>
            <a:r>
              <a:rPr lang="en-GB" dirty="0"/>
              <a:t> de </a:t>
            </a:r>
            <a:r>
              <a:rPr lang="en-GB" dirty="0" err="1"/>
              <a:t>wachttijd</a:t>
            </a:r>
            <a:r>
              <a:rPr lang="en-GB" dirty="0"/>
              <a:t>, </a:t>
            </a:r>
            <a:r>
              <a:rPr lang="en-GB" dirty="0" err="1"/>
              <a:t>dus</a:t>
            </a:r>
            <a:r>
              <a:rPr lang="en-GB" dirty="0"/>
              <a:t> </a:t>
            </a:r>
            <a:r>
              <a:rPr lang="en-GB" dirty="0" err="1"/>
              <a:t>een</a:t>
            </a:r>
            <a:r>
              <a:rPr lang="en-GB" dirty="0"/>
              <a:t> HR-</a:t>
            </a:r>
            <a:r>
              <a:rPr lang="en-GB" dirty="0" err="1"/>
              <a:t>systeem</a:t>
            </a:r>
            <a:r>
              <a:rPr lang="en-GB" dirty="0"/>
              <a:t> </a:t>
            </a:r>
            <a:r>
              <a:rPr lang="en-GB" dirty="0" err="1"/>
              <a:t>dat</a:t>
            </a:r>
            <a:r>
              <a:rPr lang="en-GB" dirty="0"/>
              <a:t> </a:t>
            </a:r>
            <a:r>
              <a:rPr lang="en-GB" dirty="0" err="1"/>
              <a:t>langere</a:t>
            </a:r>
            <a:r>
              <a:rPr lang="en-GB" dirty="0"/>
              <a:t> </a:t>
            </a:r>
            <a:r>
              <a:rPr lang="en-GB" dirty="0" err="1"/>
              <a:t>tijd</a:t>
            </a:r>
            <a:r>
              <a:rPr lang="en-GB" dirty="0"/>
              <a:t> plat </a:t>
            </a:r>
            <a:r>
              <a:rPr lang="en-GB" dirty="0" err="1"/>
              <a:t>ligt</a:t>
            </a:r>
            <a:r>
              <a:rPr lang="en-GB" dirty="0"/>
              <a:t> </a:t>
            </a:r>
            <a:r>
              <a:rPr lang="en-GB" dirty="0" err="1"/>
              <a:t>krijgt</a:t>
            </a:r>
            <a:r>
              <a:rPr lang="en-GB" dirty="0"/>
              <a:t> </a:t>
            </a:r>
            <a:r>
              <a:rPr lang="en-GB" dirty="0" err="1"/>
              <a:t>niet</a:t>
            </a:r>
            <a:r>
              <a:rPr lang="en-GB" dirty="0"/>
              <a:t> om de </a:t>
            </a:r>
            <a:r>
              <a:rPr lang="en-GB" dirty="0" err="1"/>
              <a:t>seconde</a:t>
            </a:r>
            <a:r>
              <a:rPr lang="en-GB" dirty="0"/>
              <a:t> </a:t>
            </a:r>
            <a:r>
              <a:rPr lang="en-GB" dirty="0" err="1"/>
              <a:t>een</a:t>
            </a:r>
            <a:r>
              <a:rPr lang="en-GB" dirty="0"/>
              <a:t> hammering — wat het </a:t>
            </a:r>
            <a:r>
              <a:rPr lang="en-GB" dirty="0" err="1"/>
              <a:t>zelf</a:t>
            </a:r>
            <a:r>
              <a:rPr lang="en-GB" dirty="0"/>
              <a:t> </a:t>
            </a:r>
            <a:r>
              <a:rPr lang="en-GB" dirty="0" err="1"/>
              <a:t>weer</a:t>
            </a:r>
            <a:r>
              <a:rPr lang="en-GB" dirty="0"/>
              <a:t> </a:t>
            </a:r>
            <a:r>
              <a:rPr lang="en-GB" dirty="0" err="1"/>
              <a:t>kan</a:t>
            </a:r>
            <a:r>
              <a:rPr lang="en-GB" dirty="0"/>
              <a:t> </a:t>
            </a:r>
            <a:r>
              <a:rPr lang="en-GB" dirty="0" err="1"/>
              <a:t>helpen</a:t>
            </a:r>
            <a:r>
              <a:rPr lang="en-GB" dirty="0"/>
              <a:t> </a:t>
            </a:r>
            <a:r>
              <a:rPr lang="en-GB" dirty="0" err="1"/>
              <a:t>herstellen</a:t>
            </a:r>
            <a:r>
              <a:rPr lang="en-GB" dirty="0"/>
              <a:t> ("thundering herd" </a:t>
            </a:r>
            <a:r>
              <a:rPr lang="en-GB" dirty="0" err="1"/>
              <a:t>vermijden</a:t>
            </a:r>
            <a:r>
              <a:rPr lang="en-GB" dirty="0"/>
              <a:t>).</a:t>
            </a:r>
          </a:p>
          <a:p>
            <a:r>
              <a:rPr lang="en-GB" dirty="0"/>
              <a:t>  - min(…, </a:t>
            </a:r>
            <a:r>
              <a:rPr lang="en-GB" dirty="0" err="1"/>
              <a:t>max_backoff_s</a:t>
            </a:r>
            <a:r>
              <a:rPr lang="en-GB" dirty="0"/>
              <a:t>) </a:t>
            </a:r>
            <a:r>
              <a:rPr lang="en-GB" dirty="0" err="1"/>
              <a:t>voorkomt</a:t>
            </a:r>
            <a:r>
              <a:rPr lang="en-GB" dirty="0"/>
              <a:t> </a:t>
            </a:r>
            <a:r>
              <a:rPr lang="en-GB" dirty="0" err="1"/>
              <a:t>eindeloos</a:t>
            </a:r>
            <a:r>
              <a:rPr lang="en-GB" dirty="0"/>
              <a:t> </a:t>
            </a:r>
            <a:r>
              <a:rPr lang="en-GB" dirty="0" err="1"/>
              <a:t>uitgroeien</a:t>
            </a:r>
            <a:r>
              <a:rPr lang="en-GB" dirty="0"/>
              <a:t>: </a:t>
            </a:r>
            <a:r>
              <a:rPr lang="en-GB" dirty="0" err="1"/>
              <a:t>zonder</a:t>
            </a:r>
            <a:r>
              <a:rPr lang="en-GB" dirty="0"/>
              <a:t> cap </a:t>
            </a:r>
            <a:r>
              <a:rPr lang="en-GB" dirty="0" err="1"/>
              <a:t>zou</a:t>
            </a:r>
            <a:r>
              <a:rPr lang="en-GB" dirty="0"/>
              <a:t> </a:t>
            </a:r>
            <a:r>
              <a:rPr lang="en-GB" dirty="0" err="1"/>
              <a:t>na</a:t>
            </a:r>
            <a:r>
              <a:rPr lang="en-GB" dirty="0"/>
              <a:t> 20 </a:t>
            </a:r>
            <a:r>
              <a:rPr lang="en-GB" dirty="0" err="1"/>
              <a:t>pogingen</a:t>
            </a:r>
            <a:r>
              <a:rPr lang="en-GB" dirty="0"/>
              <a:t> de </a:t>
            </a:r>
            <a:r>
              <a:rPr lang="en-GB" dirty="0" err="1"/>
              <a:t>wachttijd</a:t>
            </a:r>
            <a:r>
              <a:rPr lang="en-GB" dirty="0"/>
              <a:t> </a:t>
            </a:r>
            <a:r>
              <a:rPr lang="en-GB" dirty="0" err="1"/>
              <a:t>dagen</a:t>
            </a:r>
            <a:r>
              <a:rPr lang="en-GB" dirty="0"/>
              <a:t> </a:t>
            </a:r>
            <a:r>
              <a:rPr lang="en-GB" dirty="0" err="1"/>
              <a:t>worden</a:t>
            </a:r>
            <a:r>
              <a:rPr lang="en-GB" dirty="0"/>
              <a:t>; nu is </a:t>
            </a:r>
            <a:r>
              <a:rPr lang="en-GB" dirty="0" err="1"/>
              <a:t>hij</a:t>
            </a:r>
            <a:r>
              <a:rPr lang="en-GB" dirty="0"/>
              <a:t> </a:t>
            </a:r>
            <a:r>
              <a:rPr lang="en-GB" dirty="0" err="1"/>
              <a:t>gegarandeerd</a:t>
            </a:r>
            <a:r>
              <a:rPr lang="en-GB" dirty="0"/>
              <a:t> ≤ 10 min.</a:t>
            </a:r>
          </a:p>
          <a:p>
            <a:r>
              <a:rPr lang="en-GB" dirty="0"/>
              <a:t>  - </a:t>
            </a:r>
            <a:r>
              <a:rPr lang="en-GB" dirty="0" err="1"/>
              <a:t>Voorspelbare</a:t>
            </a:r>
            <a:r>
              <a:rPr lang="en-GB" dirty="0"/>
              <a:t> worst-case: met </a:t>
            </a:r>
            <a:r>
              <a:rPr lang="en-GB" dirty="0" err="1"/>
              <a:t>max_attempts</a:t>
            </a:r>
            <a:r>
              <a:rPr lang="en-GB" dirty="0"/>
              <a:t>=10 </a:t>
            </a:r>
            <a:r>
              <a:rPr lang="en-GB" dirty="0" err="1"/>
              <a:t>en</a:t>
            </a:r>
            <a:r>
              <a:rPr lang="en-GB" dirty="0"/>
              <a:t> </a:t>
            </a:r>
            <a:r>
              <a:rPr lang="en-GB" dirty="0" err="1"/>
              <a:t>max_backoff_s</a:t>
            </a:r>
            <a:r>
              <a:rPr lang="en-GB" dirty="0"/>
              <a:t>=600 </a:t>
            </a:r>
            <a:r>
              <a:rPr lang="en-GB" dirty="0" err="1"/>
              <a:t>weet</a:t>
            </a:r>
            <a:r>
              <a:rPr lang="en-GB" dirty="0"/>
              <a:t> je </a:t>
            </a:r>
            <a:r>
              <a:rPr lang="en-GB" dirty="0" err="1"/>
              <a:t>dat</a:t>
            </a:r>
            <a:r>
              <a:rPr lang="en-GB" dirty="0"/>
              <a:t> </a:t>
            </a:r>
            <a:r>
              <a:rPr lang="en-GB" dirty="0" err="1"/>
              <a:t>een</a:t>
            </a:r>
            <a:r>
              <a:rPr lang="en-GB" dirty="0"/>
              <a:t> </a:t>
            </a:r>
            <a:r>
              <a:rPr lang="en-GB" dirty="0" err="1"/>
              <a:t>bericht</a:t>
            </a:r>
            <a:r>
              <a:rPr lang="en-GB" dirty="0"/>
              <a:t> max ~30 min later in dead-letter </a:t>
            </a:r>
            <a:r>
              <a:rPr lang="en-GB" dirty="0" err="1"/>
              <a:t>belandt</a:t>
            </a:r>
            <a:r>
              <a:rPr lang="en-GB" dirty="0"/>
              <a:t> </a:t>
            </a:r>
            <a:r>
              <a:rPr lang="en-GB" dirty="0" err="1"/>
              <a:t>en</a:t>
            </a:r>
            <a:r>
              <a:rPr lang="en-GB" dirty="0"/>
              <a:t> je </a:t>
            </a:r>
            <a:r>
              <a:rPr lang="en-GB" dirty="0" err="1"/>
              <a:t>een</a:t>
            </a:r>
            <a:r>
              <a:rPr lang="en-GB" dirty="0"/>
              <a:t> operator-mail </a:t>
            </a:r>
            <a:r>
              <a:rPr lang="en-GB" dirty="0" err="1"/>
              <a:t>krijgt</a:t>
            </a:r>
            <a:r>
              <a:rPr lang="en-GB" dirty="0"/>
              <a:t>.</a:t>
            </a:r>
          </a:p>
          <a:p>
            <a:endParaRPr lang="en-GB" dirty="0"/>
          </a:p>
          <a:p>
            <a:r>
              <a:rPr lang="en-GB" dirty="0"/>
              <a:t>  In code   </a:t>
            </a:r>
          </a:p>
          <a:p>
            <a:endParaRPr lang="en-GB" dirty="0"/>
          </a:p>
          <a:p>
            <a:r>
              <a:rPr lang="en-GB" dirty="0"/>
              <a:t>  In </a:t>
            </a:r>
            <a:r>
              <a:rPr lang="en-GB" dirty="0" err="1"/>
              <a:t>MomRepository.mark_failure</a:t>
            </a:r>
            <a:r>
              <a:rPr lang="en-GB" dirty="0"/>
              <a:t>():</a:t>
            </a:r>
          </a:p>
          <a:p>
            <a:r>
              <a:rPr lang="en-GB" dirty="0"/>
              <a:t>  </a:t>
            </a:r>
          </a:p>
          <a:p>
            <a:r>
              <a:rPr lang="en-GB" dirty="0"/>
              <a:t>  delay = min(</a:t>
            </a:r>
            <a:r>
              <a:rPr lang="en-GB" dirty="0" err="1"/>
              <a:t>base_backoff_seconds</a:t>
            </a:r>
            <a:r>
              <a:rPr lang="en-GB" dirty="0"/>
              <a:t> * (2 ** </a:t>
            </a:r>
            <a:r>
              <a:rPr lang="en-GB" dirty="0" err="1"/>
              <a:t>attempt_count</a:t>
            </a:r>
            <a:r>
              <a:rPr lang="en-GB" dirty="0"/>
              <a:t>), </a:t>
            </a:r>
            <a:r>
              <a:rPr lang="en-GB" dirty="0" err="1"/>
              <a:t>max_backoff_seconds</a:t>
            </a:r>
            <a:r>
              <a:rPr lang="en-GB" dirty="0"/>
              <a:t>)</a:t>
            </a:r>
          </a:p>
          <a:p>
            <a:r>
              <a:rPr lang="en-GB" dirty="0"/>
              <a:t>  </a:t>
            </a:r>
            <a:r>
              <a:rPr lang="en-GB" dirty="0" err="1"/>
              <a:t>next_retry_at</a:t>
            </a:r>
            <a:r>
              <a:rPr lang="en-GB" dirty="0"/>
              <a:t> = </a:t>
            </a:r>
            <a:r>
              <a:rPr lang="en-GB" dirty="0" err="1"/>
              <a:t>datetime.now</a:t>
            </a:r>
            <a:r>
              <a:rPr lang="en-GB" dirty="0"/>
              <a:t>() + </a:t>
            </a:r>
            <a:r>
              <a:rPr lang="en-GB" dirty="0" err="1"/>
              <a:t>timedelta</a:t>
            </a:r>
            <a:r>
              <a:rPr lang="en-GB" dirty="0"/>
              <a:t>(seconds=delay)</a:t>
            </a:r>
          </a:p>
          <a:p>
            <a:r>
              <a:rPr lang="en-GB" dirty="0"/>
              <a:t>  </a:t>
            </a:r>
          </a:p>
          <a:p>
            <a:r>
              <a:rPr lang="en-GB" dirty="0"/>
              <a:t>  De broker-worker </a:t>
            </a:r>
            <a:r>
              <a:rPr lang="en-GB" dirty="0" err="1"/>
              <a:t>filtert</a:t>
            </a:r>
            <a:r>
              <a:rPr lang="en-GB" dirty="0"/>
              <a:t> </a:t>
            </a:r>
            <a:r>
              <a:rPr lang="en-GB" dirty="0" err="1"/>
              <a:t>vervolgens</a:t>
            </a:r>
            <a:r>
              <a:rPr lang="en-GB" dirty="0"/>
              <a:t> in </a:t>
            </a:r>
            <a:r>
              <a:rPr lang="en-GB" dirty="0" err="1"/>
              <a:t>get_due_pending_messages</a:t>
            </a:r>
            <a:r>
              <a:rPr lang="en-GB" dirty="0"/>
              <a:t>():</a:t>
            </a:r>
          </a:p>
          <a:p>
            <a:r>
              <a:rPr lang="en-GB" dirty="0"/>
              <a:t>  </a:t>
            </a:r>
          </a:p>
          <a:p>
            <a:r>
              <a:rPr lang="en-GB" dirty="0"/>
              <a:t>  WHERE </a:t>
            </a:r>
            <a:r>
              <a:rPr lang="en-GB" dirty="0" err="1"/>
              <a:t>dead_letter</a:t>
            </a:r>
            <a:r>
              <a:rPr lang="en-GB" dirty="0"/>
              <a:t> = false</a:t>
            </a:r>
          </a:p>
          <a:p>
            <a:r>
              <a:rPr lang="en-GB" dirty="0"/>
              <a:t>    AND (</a:t>
            </a:r>
            <a:r>
              <a:rPr lang="en-GB" dirty="0" err="1"/>
              <a:t>next_retry_at</a:t>
            </a:r>
            <a:r>
              <a:rPr lang="en-GB" dirty="0"/>
              <a:t> IS NULL OR </a:t>
            </a:r>
            <a:r>
              <a:rPr lang="en-GB" dirty="0" err="1"/>
              <a:t>next_retry_at</a:t>
            </a:r>
            <a:r>
              <a:rPr lang="en-GB" dirty="0"/>
              <a:t> &lt;= NOW())</a:t>
            </a:r>
          </a:p>
          <a:p>
            <a:r>
              <a:rPr lang="en-GB" dirty="0"/>
              <a:t>  ORDER BY </a:t>
            </a:r>
            <a:r>
              <a:rPr lang="en-GB" dirty="0" err="1"/>
              <a:t>next_retry_at</a:t>
            </a:r>
            <a:r>
              <a:rPr lang="en-GB" dirty="0"/>
              <a:t> NULLS FIRST</a:t>
            </a:r>
          </a:p>
          <a:p>
            <a:r>
              <a:rPr lang="en-GB" dirty="0"/>
              <a:t>  LIMIT :</a:t>
            </a:r>
            <a:r>
              <a:rPr lang="en-GB" dirty="0" err="1"/>
              <a:t>batch_size</a:t>
            </a:r>
            <a:endParaRPr lang="en-GB" dirty="0"/>
          </a:p>
          <a:p>
            <a:endParaRPr lang="en-GB" dirty="0"/>
          </a:p>
          <a:p>
            <a:r>
              <a:rPr lang="en-GB" dirty="0"/>
              <a:t>  → </a:t>
            </a:r>
            <a:r>
              <a:rPr lang="en-GB" dirty="0" err="1"/>
              <a:t>rijen</a:t>
            </a:r>
            <a:r>
              <a:rPr lang="en-GB" dirty="0"/>
              <a:t> </a:t>
            </a:r>
            <a:r>
              <a:rPr lang="en-GB" dirty="0" err="1"/>
              <a:t>waarvan</a:t>
            </a:r>
            <a:r>
              <a:rPr lang="en-GB" dirty="0"/>
              <a:t> </a:t>
            </a:r>
            <a:r>
              <a:rPr lang="en-GB" dirty="0" err="1"/>
              <a:t>next_retry_at</a:t>
            </a:r>
            <a:r>
              <a:rPr lang="en-GB" dirty="0"/>
              <a:t> in de </a:t>
            </a:r>
            <a:r>
              <a:rPr lang="en-GB" dirty="0" err="1"/>
              <a:t>toekomst</a:t>
            </a:r>
            <a:r>
              <a:rPr lang="en-GB" dirty="0"/>
              <a:t> </a:t>
            </a:r>
            <a:r>
              <a:rPr lang="en-GB" dirty="0" err="1"/>
              <a:t>ligt</a:t>
            </a:r>
            <a:r>
              <a:rPr lang="en-GB" dirty="0"/>
              <a:t>, </a:t>
            </a:r>
            <a:r>
              <a:rPr lang="en-GB" dirty="0" err="1"/>
              <a:t>blijven</a:t>
            </a:r>
            <a:r>
              <a:rPr lang="en-GB" dirty="0"/>
              <a:t> </a:t>
            </a:r>
            <a:r>
              <a:rPr lang="en-GB" dirty="0" err="1"/>
              <a:t>gewoon</a:t>
            </a:r>
            <a:r>
              <a:rPr lang="en-GB" dirty="0"/>
              <a:t> </a:t>
            </a:r>
            <a:r>
              <a:rPr lang="en-GB" dirty="0" err="1"/>
              <a:t>liggen</a:t>
            </a:r>
            <a:r>
              <a:rPr lang="en-GB" dirty="0"/>
              <a:t> tot </a:t>
            </a:r>
            <a:r>
              <a:rPr lang="en-GB" dirty="0" err="1"/>
              <a:t>hun</a:t>
            </a:r>
            <a:r>
              <a:rPr lang="en-GB" dirty="0"/>
              <a:t> </a:t>
            </a:r>
            <a:r>
              <a:rPr lang="en-GB" dirty="0" err="1"/>
              <a:t>beurt</a:t>
            </a:r>
            <a:r>
              <a:rPr lang="en-GB" dirty="0"/>
              <a:t> </a:t>
            </a:r>
            <a:r>
              <a:rPr lang="en-GB" dirty="0" err="1"/>
              <a:t>komt</a:t>
            </a:r>
            <a:r>
              <a:rPr lang="en-GB" dirty="0"/>
              <a:t>.</a:t>
            </a:r>
          </a:p>
          <a:p>
            <a:r>
              <a:rPr lang="en-GB" dirty="0"/>
              <a:t> </a:t>
            </a:r>
            <a:endParaRPr lang="en-BE" dirty="0"/>
          </a:p>
        </p:txBody>
      </p:sp>
      <p:sp>
        <p:nvSpPr>
          <p:cNvPr id="4" name="Slide Number Placeholder 3"/>
          <p:cNvSpPr>
            <a:spLocks noGrp="1"/>
          </p:cNvSpPr>
          <p:nvPr>
            <p:ph type="sldNum" sz="quarter" idx="5"/>
          </p:nvPr>
        </p:nvSpPr>
        <p:spPr/>
        <p:txBody>
          <a:bodyPr/>
          <a:lstStyle/>
          <a:p>
            <a:fld id="{6C11C5A2-6844-DC44-92D7-B5E8680DCECE}" type="slidenum">
              <a:rPr lang="en-BE" smtClean="0"/>
              <a:t>11</a:t>
            </a:fld>
            <a:endParaRPr lang="en-BE"/>
          </a:p>
        </p:txBody>
      </p:sp>
    </p:spTree>
    <p:extLst>
      <p:ext uri="{BB962C8B-B14F-4D97-AF65-F5344CB8AC3E}">
        <p14:creationId xmlns:p14="http://schemas.microsoft.com/office/powerpoint/2010/main" val="2100923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377440"/>
            <a:ext cx="12191695" cy="2377440"/>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0080"/>
            <a:ext cx="10972800" cy="457200"/>
          </a:xfrm>
          <a:prstGeom prst="rect">
            <a:avLst/>
          </a:prstGeom>
          <a:noFill/>
        </p:spPr>
        <p:txBody>
          <a:bodyPr wrap="square" lIns="45720" rIns="45720">
            <a:spAutoFit/>
          </a:bodyPr>
          <a:lstStyle/>
          <a:p>
            <a:pPr algn="l"/>
            <a:r>
              <a:rPr sz="1800" b="1" dirty="0">
                <a:solidFill>
                  <a:srgbClr val="FFC107"/>
                </a:solidFill>
                <a:latin typeface="Calibri"/>
              </a:rPr>
              <a:t>⚔  TECHNISCHE VOORSTELLING</a:t>
            </a:r>
          </a:p>
        </p:txBody>
      </p:sp>
      <p:sp>
        <p:nvSpPr>
          <p:cNvPr id="5" name="TextBox 4"/>
          <p:cNvSpPr txBox="1"/>
          <p:nvPr/>
        </p:nvSpPr>
        <p:spPr>
          <a:xfrm>
            <a:off x="548640" y="2606040"/>
            <a:ext cx="10972800" cy="822960"/>
          </a:xfrm>
          <a:prstGeom prst="rect">
            <a:avLst/>
          </a:prstGeom>
          <a:noFill/>
        </p:spPr>
        <p:txBody>
          <a:bodyPr wrap="square" lIns="45720" rIns="45720">
            <a:spAutoFit/>
          </a:bodyPr>
          <a:lstStyle/>
          <a:p>
            <a:pPr algn="l"/>
            <a:r>
              <a:rPr sz="5400" b="1">
                <a:solidFill>
                  <a:srgbClr val="FFFFFF"/>
                </a:solidFill>
                <a:latin typeface="Calibri"/>
              </a:rPr>
              <a:t>WarriorFit</a:t>
            </a:r>
          </a:p>
        </p:txBody>
      </p:sp>
      <p:sp>
        <p:nvSpPr>
          <p:cNvPr id="6" name="TextBox 5"/>
          <p:cNvSpPr txBox="1"/>
          <p:nvPr/>
        </p:nvSpPr>
        <p:spPr>
          <a:xfrm>
            <a:off x="548640" y="3520440"/>
            <a:ext cx="10972800" cy="822960"/>
          </a:xfrm>
          <a:prstGeom prst="rect">
            <a:avLst/>
          </a:prstGeom>
          <a:noFill/>
        </p:spPr>
        <p:txBody>
          <a:bodyPr wrap="square" lIns="45720" rIns="45720">
            <a:spAutoFit/>
          </a:bodyPr>
          <a:lstStyle/>
          <a:p>
            <a:pPr algn="l"/>
            <a:r>
              <a:rPr sz="2200" b="1">
                <a:solidFill>
                  <a:srgbClr val="FFC107"/>
                </a:solidFill>
                <a:latin typeface="Calibri"/>
              </a:rPr>
              <a:t>Architectuur · Stack · Patronen · Security · Eval MFFT</a:t>
            </a:r>
          </a:p>
        </p:txBody>
      </p:sp>
      <p:sp>
        <p:nvSpPr>
          <p:cNvPr id="7" name="TextBox 6"/>
          <p:cNvSpPr txBox="1"/>
          <p:nvPr/>
        </p:nvSpPr>
        <p:spPr>
          <a:xfrm>
            <a:off x="548640" y="5074920"/>
            <a:ext cx="10972800" cy="548640"/>
          </a:xfrm>
          <a:prstGeom prst="rect">
            <a:avLst/>
          </a:prstGeom>
          <a:noFill/>
        </p:spPr>
        <p:txBody>
          <a:bodyPr wrap="square" lIns="45720" rIns="45720">
            <a:spAutoFit/>
          </a:bodyPr>
          <a:lstStyle/>
          <a:p>
            <a:pPr algn="l"/>
            <a:r>
              <a:rPr sz="1800" b="0">
                <a:solidFill>
                  <a:srgbClr val="C3B091"/>
                </a:solidFill>
                <a:latin typeface="Calibri"/>
              </a:rPr>
              <a:t>Shiny for Python · SQLAlchemy async · PostgreSQL · dependency-injector</a:t>
            </a:r>
          </a:p>
        </p:txBody>
      </p:sp>
      <p:sp>
        <p:nvSpPr>
          <p:cNvPr id="8" name="TextBox 7"/>
          <p:cNvSpPr txBox="1"/>
          <p:nvPr/>
        </p:nvSpPr>
        <p:spPr>
          <a:xfrm>
            <a:off x="548640" y="5943600"/>
            <a:ext cx="10972800" cy="457200"/>
          </a:xfrm>
          <a:prstGeom prst="rect">
            <a:avLst/>
          </a:prstGeom>
          <a:noFill/>
        </p:spPr>
        <p:txBody>
          <a:bodyPr wrap="square" lIns="45720" rIns="45720">
            <a:spAutoFit/>
          </a:bodyPr>
          <a:lstStyle/>
          <a:p>
            <a:pPr algn="l"/>
            <a:r>
              <a:rPr sz="1400" b="0">
                <a:solidFill>
                  <a:srgbClr val="C3B091"/>
                </a:solidFill>
                <a:latin typeface="Calibri"/>
              </a:rPr>
              <a:t>Benoit Goethals  ·  Academiejaar 2025-2026  ·  ~1 050 commits · 273 SP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oster with text and images&#10;&#10;AI-generated content may be incorrect.">
            <a:extLst>
              <a:ext uri="{FF2B5EF4-FFF2-40B4-BE49-F238E27FC236}">
                <a16:creationId xmlns:a16="http://schemas.microsoft.com/office/drawing/2014/main" id="{A3CFBF23-E9ED-619F-B608-33655316C87C}"/>
              </a:ext>
            </a:extLst>
          </p:cNvPr>
          <p:cNvPicPr>
            <a:picLocks noChangeAspect="1"/>
          </p:cNvPicPr>
          <p:nvPr/>
        </p:nvPicPr>
        <p:blipFill>
          <a:blip r:embed="rId2"/>
          <a:stretch>
            <a:fillRect/>
          </a:stretch>
        </p:blipFill>
        <p:spPr>
          <a:xfrm>
            <a:off x="950119" y="101070"/>
            <a:ext cx="9983788" cy="6655859"/>
          </a:xfrm>
          <a:prstGeom prst="rect">
            <a:avLst/>
          </a:prstGeom>
        </p:spPr>
      </p:pic>
    </p:spTree>
    <p:extLst>
      <p:ext uri="{BB962C8B-B14F-4D97-AF65-F5344CB8AC3E}">
        <p14:creationId xmlns:p14="http://schemas.microsoft.com/office/powerpoint/2010/main" val="1449615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TECHNOLOGIE-STACK</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Pure Python, volledig async, één gedeelde codebase</a:t>
            </a:r>
          </a:p>
        </p:txBody>
      </p:sp>
      <p:sp>
        <p:nvSpPr>
          <p:cNvPr id="6" name="Rounded Rectangle 5"/>
          <p:cNvSpPr/>
          <p:nvPr/>
        </p:nvSpPr>
        <p:spPr>
          <a:xfrm>
            <a:off x="548640" y="2194560"/>
            <a:ext cx="2743200" cy="1828800"/>
          </a:xfrm>
          <a:prstGeom prst="round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377440"/>
            <a:ext cx="2743200" cy="457200"/>
          </a:xfrm>
          <a:prstGeom prst="rect">
            <a:avLst/>
          </a:prstGeom>
          <a:noFill/>
        </p:spPr>
        <p:txBody>
          <a:bodyPr wrap="square" lIns="45720" rIns="45720">
            <a:spAutoFit/>
          </a:bodyPr>
          <a:lstStyle/>
          <a:p>
            <a:pPr algn="ctr"/>
            <a:r>
              <a:rPr sz="1800" b="1">
                <a:solidFill>
                  <a:srgbClr val="FFFFFF"/>
                </a:solidFill>
                <a:latin typeface="Calibri"/>
              </a:rPr>
              <a:t>Shiny for Python</a:t>
            </a:r>
          </a:p>
        </p:txBody>
      </p:sp>
      <p:sp>
        <p:nvSpPr>
          <p:cNvPr id="8" name="TextBox 7"/>
          <p:cNvSpPr txBox="1"/>
          <p:nvPr/>
        </p:nvSpPr>
        <p:spPr>
          <a:xfrm>
            <a:off x="548640" y="2880360"/>
            <a:ext cx="2743200" cy="365760"/>
          </a:xfrm>
          <a:prstGeom prst="rect">
            <a:avLst/>
          </a:prstGeom>
          <a:noFill/>
        </p:spPr>
        <p:txBody>
          <a:bodyPr wrap="square" lIns="45720" rIns="45720">
            <a:spAutoFit/>
          </a:bodyPr>
          <a:lstStyle/>
          <a:p>
            <a:pPr algn="ctr"/>
            <a:r>
              <a:rPr sz="1200" b="0">
                <a:solidFill>
                  <a:srgbClr val="F5F1E6"/>
                </a:solidFill>
                <a:latin typeface="Calibri"/>
              </a:rPr>
              <a:t>1.4</a:t>
            </a:r>
          </a:p>
        </p:txBody>
      </p:sp>
      <p:sp>
        <p:nvSpPr>
          <p:cNvPr id="9" name="TextBox 8"/>
          <p:cNvSpPr txBox="1"/>
          <p:nvPr/>
        </p:nvSpPr>
        <p:spPr>
          <a:xfrm>
            <a:off x="548640" y="3246120"/>
            <a:ext cx="2743200" cy="731520"/>
          </a:xfrm>
          <a:prstGeom prst="rect">
            <a:avLst/>
          </a:prstGeom>
          <a:noFill/>
        </p:spPr>
        <p:txBody>
          <a:bodyPr wrap="square" lIns="45720" rIns="45720">
            <a:spAutoFit/>
          </a:bodyPr>
          <a:lstStyle/>
          <a:p>
            <a:pPr algn="ctr"/>
            <a:r>
              <a:rPr sz="1100" b="0">
                <a:solidFill>
                  <a:srgbClr val="F5F1E6"/>
                </a:solidFill>
                <a:latin typeface="Calibri"/>
              </a:rPr>
              <a:t>Reactive web UI · 24 pagina's</a:t>
            </a:r>
          </a:p>
        </p:txBody>
      </p:sp>
      <p:sp>
        <p:nvSpPr>
          <p:cNvPr id="10" name="Rounded Rectangle 9"/>
          <p:cNvSpPr/>
          <p:nvPr/>
        </p:nvSpPr>
        <p:spPr>
          <a:xfrm>
            <a:off x="3474720" y="2194560"/>
            <a:ext cx="2743200" cy="1828800"/>
          </a:xfrm>
          <a:prstGeom prst="round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0" y="2377440"/>
            <a:ext cx="2743200" cy="457200"/>
          </a:xfrm>
          <a:prstGeom prst="rect">
            <a:avLst/>
          </a:prstGeom>
          <a:noFill/>
        </p:spPr>
        <p:txBody>
          <a:bodyPr wrap="square" lIns="45720" rIns="45720">
            <a:spAutoFit/>
          </a:bodyPr>
          <a:lstStyle/>
          <a:p>
            <a:pPr algn="ctr"/>
            <a:r>
              <a:rPr sz="1800" b="1">
                <a:solidFill>
                  <a:srgbClr val="FFFFFF"/>
                </a:solidFill>
                <a:latin typeface="Calibri"/>
              </a:rPr>
              <a:t>SQLAlchemy 2.x</a:t>
            </a:r>
          </a:p>
        </p:txBody>
      </p:sp>
      <p:sp>
        <p:nvSpPr>
          <p:cNvPr id="12" name="TextBox 11"/>
          <p:cNvSpPr txBox="1"/>
          <p:nvPr/>
        </p:nvSpPr>
        <p:spPr>
          <a:xfrm>
            <a:off x="3474720" y="2880360"/>
            <a:ext cx="2743200" cy="365760"/>
          </a:xfrm>
          <a:prstGeom prst="rect">
            <a:avLst/>
          </a:prstGeom>
          <a:noFill/>
        </p:spPr>
        <p:txBody>
          <a:bodyPr wrap="square" lIns="45720" rIns="45720">
            <a:spAutoFit/>
          </a:bodyPr>
          <a:lstStyle/>
          <a:p>
            <a:pPr algn="ctr"/>
            <a:r>
              <a:rPr sz="1200" b="0">
                <a:solidFill>
                  <a:srgbClr val="F5F1E6"/>
                </a:solidFill>
                <a:latin typeface="Calibri"/>
              </a:rPr>
              <a:t>asyncio</a:t>
            </a:r>
          </a:p>
        </p:txBody>
      </p:sp>
      <p:sp>
        <p:nvSpPr>
          <p:cNvPr id="13" name="TextBox 12"/>
          <p:cNvSpPr txBox="1"/>
          <p:nvPr/>
        </p:nvSpPr>
        <p:spPr>
          <a:xfrm>
            <a:off x="3474720" y="3246120"/>
            <a:ext cx="2743200" cy="731520"/>
          </a:xfrm>
          <a:prstGeom prst="rect">
            <a:avLst/>
          </a:prstGeom>
          <a:noFill/>
        </p:spPr>
        <p:txBody>
          <a:bodyPr wrap="square" lIns="45720" rIns="45720">
            <a:spAutoFit/>
          </a:bodyPr>
          <a:lstStyle/>
          <a:p>
            <a:pPr algn="ctr"/>
            <a:r>
              <a:rPr sz="1100" b="0">
                <a:solidFill>
                  <a:srgbClr val="F5F1E6"/>
                </a:solidFill>
                <a:latin typeface="Calibri"/>
              </a:rPr>
              <a:t>ORM · joined-table inheritance</a:t>
            </a:r>
          </a:p>
        </p:txBody>
      </p:sp>
      <p:sp>
        <p:nvSpPr>
          <p:cNvPr id="14" name="Rounded Rectangle 13"/>
          <p:cNvSpPr/>
          <p:nvPr/>
        </p:nvSpPr>
        <p:spPr>
          <a:xfrm>
            <a:off x="6400800" y="2194560"/>
            <a:ext cx="2743200" cy="18288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2377440"/>
            <a:ext cx="2743200" cy="457200"/>
          </a:xfrm>
          <a:prstGeom prst="rect">
            <a:avLst/>
          </a:prstGeom>
          <a:noFill/>
        </p:spPr>
        <p:txBody>
          <a:bodyPr wrap="square" lIns="45720" rIns="45720">
            <a:spAutoFit/>
          </a:bodyPr>
          <a:lstStyle/>
          <a:p>
            <a:pPr algn="ctr"/>
            <a:r>
              <a:rPr sz="1800" b="1">
                <a:solidFill>
                  <a:srgbClr val="FFFFFF"/>
                </a:solidFill>
                <a:latin typeface="Calibri"/>
              </a:rPr>
              <a:t>PostgreSQL</a:t>
            </a:r>
          </a:p>
        </p:txBody>
      </p:sp>
      <p:sp>
        <p:nvSpPr>
          <p:cNvPr id="16" name="TextBox 15"/>
          <p:cNvSpPr txBox="1"/>
          <p:nvPr/>
        </p:nvSpPr>
        <p:spPr>
          <a:xfrm>
            <a:off x="6400800" y="2880360"/>
            <a:ext cx="2743200" cy="365760"/>
          </a:xfrm>
          <a:prstGeom prst="rect">
            <a:avLst/>
          </a:prstGeom>
          <a:noFill/>
        </p:spPr>
        <p:txBody>
          <a:bodyPr wrap="square" lIns="45720" rIns="45720">
            <a:spAutoFit/>
          </a:bodyPr>
          <a:lstStyle/>
          <a:p>
            <a:pPr algn="ctr"/>
            <a:r>
              <a:rPr sz="1200" b="0">
                <a:solidFill>
                  <a:srgbClr val="F5F1E6"/>
                </a:solidFill>
                <a:latin typeface="Calibri"/>
              </a:rPr>
              <a:t>16 · SSL/TLS</a:t>
            </a:r>
          </a:p>
        </p:txBody>
      </p:sp>
      <p:sp>
        <p:nvSpPr>
          <p:cNvPr id="17" name="TextBox 16"/>
          <p:cNvSpPr txBox="1"/>
          <p:nvPr/>
        </p:nvSpPr>
        <p:spPr>
          <a:xfrm>
            <a:off x="6400800" y="3246120"/>
            <a:ext cx="2743200" cy="731520"/>
          </a:xfrm>
          <a:prstGeom prst="rect">
            <a:avLst/>
          </a:prstGeom>
          <a:noFill/>
        </p:spPr>
        <p:txBody>
          <a:bodyPr wrap="square" lIns="45720" rIns="45720">
            <a:spAutoFit/>
          </a:bodyPr>
          <a:lstStyle/>
          <a:p>
            <a:pPr algn="ctr"/>
            <a:r>
              <a:rPr sz="1100" b="0">
                <a:solidFill>
                  <a:srgbClr val="F5F1E6"/>
                </a:solidFill>
                <a:latin typeface="Calibri"/>
              </a:rPr>
              <a:t>Persistentie + audit + outbox</a:t>
            </a:r>
          </a:p>
        </p:txBody>
      </p:sp>
      <p:sp>
        <p:nvSpPr>
          <p:cNvPr id="18" name="Rounded Rectangle 17"/>
          <p:cNvSpPr/>
          <p:nvPr/>
        </p:nvSpPr>
        <p:spPr>
          <a:xfrm>
            <a:off x="9326880" y="2194560"/>
            <a:ext cx="2743200" cy="1828800"/>
          </a:xfrm>
          <a:prstGeom prst="roundRect">
            <a:avLst/>
          </a:prstGeom>
          <a:solidFill>
            <a:srgbClr val="C3B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0" y="2377440"/>
            <a:ext cx="2743200" cy="457200"/>
          </a:xfrm>
          <a:prstGeom prst="rect">
            <a:avLst/>
          </a:prstGeom>
          <a:noFill/>
        </p:spPr>
        <p:txBody>
          <a:bodyPr wrap="square" lIns="45720" rIns="45720">
            <a:spAutoFit/>
          </a:bodyPr>
          <a:lstStyle/>
          <a:p>
            <a:pPr algn="ctr"/>
            <a:r>
              <a:rPr sz="1800" b="1">
                <a:solidFill>
                  <a:srgbClr val="FFFFFF"/>
                </a:solidFill>
                <a:latin typeface="Calibri"/>
              </a:rPr>
              <a:t>dependency-injector</a:t>
            </a:r>
          </a:p>
        </p:txBody>
      </p:sp>
      <p:sp>
        <p:nvSpPr>
          <p:cNvPr id="20" name="TextBox 19"/>
          <p:cNvSpPr txBox="1"/>
          <p:nvPr/>
        </p:nvSpPr>
        <p:spPr>
          <a:xfrm>
            <a:off x="9326880" y="2880360"/>
            <a:ext cx="2743200" cy="365760"/>
          </a:xfrm>
          <a:prstGeom prst="rect">
            <a:avLst/>
          </a:prstGeom>
          <a:noFill/>
        </p:spPr>
        <p:txBody>
          <a:bodyPr wrap="square" lIns="45720" rIns="45720">
            <a:spAutoFit/>
          </a:bodyPr>
          <a:lstStyle/>
          <a:p>
            <a:pPr algn="ctr"/>
            <a:r>
              <a:rPr sz="1200" b="0">
                <a:solidFill>
                  <a:srgbClr val="F5F1E6"/>
                </a:solidFill>
                <a:latin typeface="Calibri"/>
              </a:rPr>
              <a:t>Singleton</a:t>
            </a:r>
          </a:p>
        </p:txBody>
      </p:sp>
      <p:sp>
        <p:nvSpPr>
          <p:cNvPr id="21" name="TextBox 20"/>
          <p:cNvSpPr txBox="1"/>
          <p:nvPr/>
        </p:nvSpPr>
        <p:spPr>
          <a:xfrm>
            <a:off x="9326880" y="3246120"/>
            <a:ext cx="2743200" cy="731520"/>
          </a:xfrm>
          <a:prstGeom prst="rect">
            <a:avLst/>
          </a:prstGeom>
          <a:noFill/>
        </p:spPr>
        <p:txBody>
          <a:bodyPr wrap="square" lIns="45720" rIns="45720">
            <a:spAutoFit/>
          </a:bodyPr>
          <a:lstStyle/>
          <a:p>
            <a:pPr algn="ctr"/>
            <a:r>
              <a:rPr sz="1100" b="0">
                <a:solidFill>
                  <a:srgbClr val="F5F1E6"/>
                </a:solidFill>
                <a:latin typeface="Calibri"/>
              </a:rPr>
              <a:t>DI container · 40+ singletons</a:t>
            </a:r>
          </a:p>
        </p:txBody>
      </p:sp>
      <p:sp>
        <p:nvSpPr>
          <p:cNvPr id="22" name="Rounded Rectangle 21"/>
          <p:cNvSpPr/>
          <p:nvPr/>
        </p:nvSpPr>
        <p:spPr>
          <a:xfrm>
            <a:off x="548640" y="4206240"/>
            <a:ext cx="2743200" cy="1828800"/>
          </a:xfrm>
          <a:prstGeom prst="round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4389120"/>
            <a:ext cx="2743200" cy="457200"/>
          </a:xfrm>
          <a:prstGeom prst="rect">
            <a:avLst/>
          </a:prstGeom>
          <a:noFill/>
        </p:spPr>
        <p:txBody>
          <a:bodyPr wrap="square" lIns="45720" rIns="45720">
            <a:spAutoFit/>
          </a:bodyPr>
          <a:lstStyle/>
          <a:p>
            <a:pPr algn="ctr"/>
            <a:r>
              <a:rPr sz="1800" b="1">
                <a:solidFill>
                  <a:srgbClr val="FFFFFF"/>
                </a:solidFill>
                <a:latin typeface="Calibri"/>
              </a:rPr>
              <a:t>Plotly</a:t>
            </a:r>
          </a:p>
        </p:txBody>
      </p:sp>
      <p:sp>
        <p:nvSpPr>
          <p:cNvPr id="24" name="TextBox 23"/>
          <p:cNvSpPr txBox="1"/>
          <p:nvPr/>
        </p:nvSpPr>
        <p:spPr>
          <a:xfrm>
            <a:off x="548640" y="4892040"/>
            <a:ext cx="2743200" cy="365760"/>
          </a:xfrm>
          <a:prstGeom prst="rect">
            <a:avLst/>
          </a:prstGeom>
          <a:noFill/>
        </p:spPr>
        <p:txBody>
          <a:bodyPr wrap="square" lIns="45720" rIns="45720">
            <a:spAutoFit/>
          </a:bodyPr>
          <a:lstStyle/>
          <a:p>
            <a:pPr algn="ctr"/>
            <a:r>
              <a:rPr sz="1200" b="0">
                <a:solidFill>
                  <a:srgbClr val="F5F1E6"/>
                </a:solidFill>
                <a:latin typeface="Calibri"/>
              </a:rPr>
              <a:t>express+graph</a:t>
            </a:r>
          </a:p>
        </p:txBody>
      </p:sp>
      <p:sp>
        <p:nvSpPr>
          <p:cNvPr id="25" name="TextBox 24"/>
          <p:cNvSpPr txBox="1"/>
          <p:nvPr/>
        </p:nvSpPr>
        <p:spPr>
          <a:xfrm>
            <a:off x="548640" y="5257800"/>
            <a:ext cx="2743200" cy="731520"/>
          </a:xfrm>
          <a:prstGeom prst="rect">
            <a:avLst/>
          </a:prstGeom>
          <a:noFill/>
        </p:spPr>
        <p:txBody>
          <a:bodyPr wrap="square" lIns="45720" rIns="45720">
            <a:spAutoFit/>
          </a:bodyPr>
          <a:lstStyle/>
          <a:p>
            <a:pPr algn="ctr"/>
            <a:r>
              <a:rPr sz="1100" b="0">
                <a:solidFill>
                  <a:srgbClr val="F5F1E6"/>
                </a:solidFill>
                <a:latin typeface="Calibri"/>
              </a:rPr>
              <a:t>Dashboards · histograms · gauges</a:t>
            </a:r>
          </a:p>
        </p:txBody>
      </p:sp>
      <p:sp>
        <p:nvSpPr>
          <p:cNvPr id="26" name="Rounded Rectangle 25"/>
          <p:cNvSpPr/>
          <p:nvPr/>
        </p:nvSpPr>
        <p:spPr>
          <a:xfrm>
            <a:off x="3474720" y="4206240"/>
            <a:ext cx="2743200" cy="18288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0" y="4389120"/>
            <a:ext cx="2743200" cy="457200"/>
          </a:xfrm>
          <a:prstGeom prst="rect">
            <a:avLst/>
          </a:prstGeom>
          <a:noFill/>
        </p:spPr>
        <p:txBody>
          <a:bodyPr wrap="square" lIns="45720" rIns="45720">
            <a:spAutoFit/>
          </a:bodyPr>
          <a:lstStyle/>
          <a:p>
            <a:pPr algn="ctr"/>
            <a:r>
              <a:rPr sz="1800" b="1">
                <a:solidFill>
                  <a:srgbClr val="FFFFFF"/>
                </a:solidFill>
                <a:latin typeface="Calibri"/>
              </a:rPr>
              <a:t>Argon2id</a:t>
            </a:r>
          </a:p>
        </p:txBody>
      </p:sp>
      <p:sp>
        <p:nvSpPr>
          <p:cNvPr id="28" name="TextBox 27"/>
          <p:cNvSpPr txBox="1"/>
          <p:nvPr/>
        </p:nvSpPr>
        <p:spPr>
          <a:xfrm>
            <a:off x="3474720" y="4892040"/>
            <a:ext cx="2743200" cy="365760"/>
          </a:xfrm>
          <a:prstGeom prst="rect">
            <a:avLst/>
          </a:prstGeom>
          <a:noFill/>
        </p:spPr>
        <p:txBody>
          <a:bodyPr wrap="square" lIns="45720" rIns="45720">
            <a:spAutoFit/>
          </a:bodyPr>
          <a:lstStyle/>
          <a:p>
            <a:pPr algn="ctr"/>
            <a:r>
              <a:rPr sz="1200" b="0">
                <a:solidFill>
                  <a:srgbClr val="F5F1E6"/>
                </a:solidFill>
                <a:latin typeface="Calibri"/>
              </a:rPr>
              <a:t>via passlib</a:t>
            </a:r>
          </a:p>
        </p:txBody>
      </p:sp>
      <p:sp>
        <p:nvSpPr>
          <p:cNvPr id="29" name="TextBox 28"/>
          <p:cNvSpPr txBox="1"/>
          <p:nvPr/>
        </p:nvSpPr>
        <p:spPr>
          <a:xfrm>
            <a:off x="3474720" y="5257800"/>
            <a:ext cx="2743200" cy="731520"/>
          </a:xfrm>
          <a:prstGeom prst="rect">
            <a:avLst/>
          </a:prstGeom>
          <a:noFill/>
        </p:spPr>
        <p:txBody>
          <a:bodyPr wrap="square" lIns="45720" rIns="45720">
            <a:spAutoFit/>
          </a:bodyPr>
          <a:lstStyle/>
          <a:p>
            <a:pPr algn="ctr"/>
            <a:r>
              <a:rPr sz="1100" b="0">
                <a:solidFill>
                  <a:srgbClr val="F5F1E6"/>
                </a:solidFill>
                <a:latin typeface="Calibri"/>
              </a:rPr>
              <a:t>Password hashing · non-blocking</a:t>
            </a:r>
          </a:p>
        </p:txBody>
      </p:sp>
      <p:sp>
        <p:nvSpPr>
          <p:cNvPr id="30" name="Rounded Rectangle 29"/>
          <p:cNvSpPr/>
          <p:nvPr/>
        </p:nvSpPr>
        <p:spPr>
          <a:xfrm>
            <a:off x="6400800" y="4206240"/>
            <a:ext cx="2743200" cy="1828800"/>
          </a:xfrm>
          <a:prstGeom prst="roundRect">
            <a:avLst/>
          </a:prstGeom>
          <a:solidFill>
            <a:srgbClr val="C3B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4389120"/>
            <a:ext cx="2743200" cy="457200"/>
          </a:xfrm>
          <a:prstGeom prst="rect">
            <a:avLst/>
          </a:prstGeom>
          <a:noFill/>
        </p:spPr>
        <p:txBody>
          <a:bodyPr wrap="square" lIns="45720" rIns="45720">
            <a:spAutoFit/>
          </a:bodyPr>
          <a:lstStyle/>
          <a:p>
            <a:pPr algn="ctr"/>
            <a:r>
              <a:rPr sz="1800" b="1">
                <a:solidFill>
                  <a:srgbClr val="FFFFFF"/>
                </a:solidFill>
                <a:latin typeface="Calibri"/>
              </a:rPr>
              <a:t>reportlab</a:t>
            </a:r>
          </a:p>
        </p:txBody>
      </p:sp>
      <p:sp>
        <p:nvSpPr>
          <p:cNvPr id="32" name="TextBox 31"/>
          <p:cNvSpPr txBox="1"/>
          <p:nvPr/>
        </p:nvSpPr>
        <p:spPr>
          <a:xfrm>
            <a:off x="6400800" y="4892040"/>
            <a:ext cx="2743200" cy="365760"/>
          </a:xfrm>
          <a:prstGeom prst="rect">
            <a:avLst/>
          </a:prstGeom>
          <a:noFill/>
        </p:spPr>
        <p:txBody>
          <a:bodyPr wrap="square" lIns="45720" rIns="45720">
            <a:spAutoFit/>
          </a:bodyPr>
          <a:lstStyle/>
          <a:p>
            <a:pPr algn="ctr"/>
            <a:r>
              <a:rPr sz="1200" b="0">
                <a:solidFill>
                  <a:srgbClr val="F5F1E6"/>
                </a:solidFill>
                <a:latin typeface="Calibri"/>
              </a:rPr>
              <a:t>A4 / landscape</a:t>
            </a:r>
          </a:p>
        </p:txBody>
      </p:sp>
      <p:sp>
        <p:nvSpPr>
          <p:cNvPr id="33" name="TextBox 32"/>
          <p:cNvSpPr txBox="1"/>
          <p:nvPr/>
        </p:nvSpPr>
        <p:spPr>
          <a:xfrm>
            <a:off x="6400800" y="5257800"/>
            <a:ext cx="2743200" cy="731520"/>
          </a:xfrm>
          <a:prstGeom prst="rect">
            <a:avLst/>
          </a:prstGeom>
          <a:noFill/>
        </p:spPr>
        <p:txBody>
          <a:bodyPr wrap="square" lIns="45720" rIns="45720">
            <a:spAutoFit/>
          </a:bodyPr>
          <a:lstStyle/>
          <a:p>
            <a:pPr algn="ctr"/>
            <a:r>
              <a:rPr sz="1100" b="0">
                <a:solidFill>
                  <a:srgbClr val="F5F1E6"/>
                </a:solidFill>
                <a:latin typeface="Calibri"/>
              </a:rPr>
              <a:t>PDF rapporten</a:t>
            </a:r>
          </a:p>
        </p:txBody>
      </p:sp>
      <p:sp>
        <p:nvSpPr>
          <p:cNvPr id="34" name="Rounded Rectangle 33"/>
          <p:cNvSpPr/>
          <p:nvPr/>
        </p:nvSpPr>
        <p:spPr>
          <a:xfrm>
            <a:off x="9326880" y="4206240"/>
            <a:ext cx="2743200" cy="1828800"/>
          </a:xfrm>
          <a:prstGeom prst="round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26880" y="4389120"/>
            <a:ext cx="2743200" cy="457200"/>
          </a:xfrm>
          <a:prstGeom prst="rect">
            <a:avLst/>
          </a:prstGeom>
          <a:noFill/>
        </p:spPr>
        <p:txBody>
          <a:bodyPr wrap="square" lIns="45720" rIns="45720">
            <a:spAutoFit/>
          </a:bodyPr>
          <a:lstStyle/>
          <a:p>
            <a:pPr algn="ctr"/>
            <a:r>
              <a:rPr sz="1800" b="1">
                <a:solidFill>
                  <a:srgbClr val="FFFFFF"/>
                </a:solidFill>
                <a:latin typeface="Calibri"/>
              </a:rPr>
              <a:t>pytest</a:t>
            </a:r>
          </a:p>
        </p:txBody>
      </p:sp>
      <p:sp>
        <p:nvSpPr>
          <p:cNvPr id="36" name="TextBox 35"/>
          <p:cNvSpPr txBox="1"/>
          <p:nvPr/>
        </p:nvSpPr>
        <p:spPr>
          <a:xfrm>
            <a:off x="9326880" y="4892040"/>
            <a:ext cx="2743200" cy="365760"/>
          </a:xfrm>
          <a:prstGeom prst="rect">
            <a:avLst/>
          </a:prstGeom>
          <a:noFill/>
        </p:spPr>
        <p:txBody>
          <a:bodyPr wrap="square" lIns="45720" rIns="45720">
            <a:spAutoFit/>
          </a:bodyPr>
          <a:lstStyle/>
          <a:p>
            <a:pPr algn="ctr"/>
            <a:r>
              <a:rPr sz="1200" b="0">
                <a:solidFill>
                  <a:srgbClr val="F5F1E6"/>
                </a:solidFill>
                <a:latin typeface="Calibri"/>
              </a:rPr>
              <a:t>asyncio</a:t>
            </a:r>
          </a:p>
        </p:txBody>
      </p:sp>
      <p:sp>
        <p:nvSpPr>
          <p:cNvPr id="37" name="TextBox 36"/>
          <p:cNvSpPr txBox="1"/>
          <p:nvPr/>
        </p:nvSpPr>
        <p:spPr>
          <a:xfrm>
            <a:off x="9326880" y="5257800"/>
            <a:ext cx="2743200" cy="731520"/>
          </a:xfrm>
          <a:prstGeom prst="rect">
            <a:avLst/>
          </a:prstGeom>
          <a:noFill/>
        </p:spPr>
        <p:txBody>
          <a:bodyPr wrap="square" lIns="45720" rIns="45720">
            <a:spAutoFit/>
          </a:bodyPr>
          <a:lstStyle/>
          <a:p>
            <a:pPr algn="ctr"/>
            <a:r>
              <a:rPr sz="1100" b="0">
                <a:solidFill>
                  <a:srgbClr val="F5F1E6"/>
                </a:solidFill>
                <a:latin typeface="Calibri"/>
              </a:rPr>
              <a:t>171 groen · 30 MFFT-tests</a:t>
            </a:r>
          </a:p>
        </p:txBody>
      </p:sp>
      <p:sp>
        <p:nvSpPr>
          <p:cNvPr id="38" name="TextBox 37"/>
          <p:cNvSpPr txBox="1"/>
          <p:nvPr/>
        </p:nvSpPr>
        <p:spPr>
          <a:xfrm>
            <a:off x="548640" y="6263640"/>
            <a:ext cx="10972800" cy="365760"/>
          </a:xfrm>
          <a:prstGeom prst="rect">
            <a:avLst/>
          </a:prstGeom>
          <a:noFill/>
        </p:spPr>
        <p:txBody>
          <a:bodyPr wrap="square" lIns="45720" rIns="45720">
            <a:spAutoFit/>
          </a:bodyPr>
          <a:lstStyle/>
          <a:p>
            <a:pPr algn="ctr"/>
            <a:r>
              <a:rPr sz="1200" b="0">
                <a:solidFill>
                  <a:srgbClr val="555555"/>
                </a:solidFill>
                <a:latin typeface="Calibri"/>
              </a:rPr>
              <a:t>Python 3.13+  ·  uv voor afhankelijkheden  ·  ruff (line-length 100) + mypy strict</a:t>
            </a:r>
          </a:p>
        </p:txBody>
      </p:sp>
      <p:sp>
        <p:nvSpPr>
          <p:cNvPr id="39" name="TextBox 3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40" name="TextBox 3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2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ARCHITECTUUR</a:t>
            </a:r>
          </a:p>
        </p:txBody>
      </p:sp>
      <p:sp>
        <p:nvSpPr>
          <p:cNvPr id="5" name="TextBox 4"/>
          <p:cNvSpPr txBox="1"/>
          <p:nvPr/>
        </p:nvSpPr>
        <p:spPr>
          <a:xfrm>
            <a:off x="533754" y="914400"/>
            <a:ext cx="10972800" cy="777240"/>
          </a:xfrm>
          <a:prstGeom prst="rect">
            <a:avLst/>
          </a:prstGeom>
          <a:noFill/>
        </p:spPr>
        <p:txBody>
          <a:bodyPr wrap="square" lIns="45720" rIns="45720">
            <a:spAutoFit/>
          </a:bodyPr>
          <a:lstStyle/>
          <a:p>
            <a:pPr algn="l"/>
            <a:r>
              <a:rPr sz="3200" b="1" dirty="0" err="1">
                <a:solidFill>
                  <a:srgbClr val="222222"/>
                </a:solidFill>
                <a:latin typeface="Calibri"/>
              </a:rPr>
              <a:t>Gelaagde</a:t>
            </a:r>
            <a:r>
              <a:rPr sz="3200" b="1" dirty="0">
                <a:solidFill>
                  <a:srgbClr val="222222"/>
                </a:solidFill>
                <a:latin typeface="Calibri"/>
              </a:rPr>
              <a:t>, </a:t>
            </a:r>
            <a:r>
              <a:rPr sz="3200" b="1" dirty="0" err="1">
                <a:solidFill>
                  <a:srgbClr val="222222"/>
                </a:solidFill>
                <a:latin typeface="Calibri"/>
              </a:rPr>
              <a:t>unidirectionele</a:t>
            </a:r>
            <a:r>
              <a:rPr sz="3200" b="1" dirty="0">
                <a:solidFill>
                  <a:srgbClr val="222222"/>
                </a:solidFill>
                <a:latin typeface="Calibri"/>
              </a:rPr>
              <a:t> </a:t>
            </a:r>
            <a:r>
              <a:rPr sz="3200" b="1" dirty="0" err="1">
                <a:solidFill>
                  <a:srgbClr val="222222"/>
                </a:solidFill>
                <a:latin typeface="Calibri"/>
              </a:rPr>
              <a:t>afhankelijkheidsstroom</a:t>
            </a:r>
            <a:endParaRPr sz="3200" b="1" dirty="0">
              <a:solidFill>
                <a:srgbClr val="222222"/>
              </a:solidFill>
              <a:latin typeface="Calibri"/>
            </a:endParaRPr>
          </a:p>
        </p:txBody>
      </p:sp>
      <p:sp>
        <p:nvSpPr>
          <p:cNvPr id="6" name="Rounded Rectangle 5"/>
          <p:cNvSpPr/>
          <p:nvPr/>
        </p:nvSpPr>
        <p:spPr>
          <a:xfrm>
            <a:off x="548640" y="2194560"/>
            <a:ext cx="5486400" cy="640080"/>
          </a:xfrm>
          <a:prstGeom prst="round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249424"/>
            <a:ext cx="5120640" cy="365760"/>
          </a:xfrm>
          <a:prstGeom prst="rect">
            <a:avLst/>
          </a:prstGeom>
          <a:noFill/>
        </p:spPr>
        <p:txBody>
          <a:bodyPr wrap="square" lIns="45720" rIns="45720">
            <a:spAutoFit/>
          </a:bodyPr>
          <a:lstStyle/>
          <a:p>
            <a:pPr algn="l"/>
            <a:r>
              <a:rPr sz="1400" b="1">
                <a:solidFill>
                  <a:srgbClr val="FFFFFF"/>
                </a:solidFill>
                <a:latin typeface="Calibri"/>
              </a:rPr>
              <a:t>UI · Shiny Pages</a:t>
            </a:r>
          </a:p>
        </p:txBody>
      </p:sp>
      <p:sp>
        <p:nvSpPr>
          <p:cNvPr id="8" name="TextBox 7"/>
          <p:cNvSpPr txBox="1"/>
          <p:nvPr/>
        </p:nvSpPr>
        <p:spPr>
          <a:xfrm>
            <a:off x="731520" y="2542032"/>
            <a:ext cx="5120640" cy="292608"/>
          </a:xfrm>
          <a:prstGeom prst="rect">
            <a:avLst/>
          </a:prstGeom>
          <a:noFill/>
        </p:spPr>
        <p:txBody>
          <a:bodyPr wrap="square" lIns="45720" rIns="45720">
            <a:spAutoFit/>
          </a:bodyPr>
          <a:lstStyle/>
          <a:p>
            <a:pPr algn="l"/>
            <a:r>
              <a:rPr sz="1000" b="0">
                <a:solidFill>
                  <a:srgbClr val="F5F1E6"/>
                </a:solidFill>
                <a:latin typeface="Calibri"/>
              </a:rPr>
              <a:t>24 pagina's · RBAC per rol</a:t>
            </a:r>
          </a:p>
        </p:txBody>
      </p:sp>
      <p:sp>
        <p:nvSpPr>
          <p:cNvPr id="9" name="Rounded Rectangle 8"/>
          <p:cNvSpPr/>
          <p:nvPr/>
        </p:nvSpPr>
        <p:spPr>
          <a:xfrm>
            <a:off x="548640" y="2971800"/>
            <a:ext cx="5486400" cy="640080"/>
          </a:xfrm>
          <a:prstGeom prst="round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026664"/>
            <a:ext cx="5120640" cy="365760"/>
          </a:xfrm>
          <a:prstGeom prst="rect">
            <a:avLst/>
          </a:prstGeom>
          <a:noFill/>
        </p:spPr>
        <p:txBody>
          <a:bodyPr wrap="square" lIns="45720" rIns="45720">
            <a:spAutoFit/>
          </a:bodyPr>
          <a:lstStyle/>
          <a:p>
            <a:pPr algn="l"/>
            <a:r>
              <a:rPr sz="1400" b="1">
                <a:solidFill>
                  <a:srgbClr val="FFFFFF"/>
                </a:solidFill>
                <a:latin typeface="Calibri"/>
              </a:rPr>
              <a:t>Controllers</a:t>
            </a:r>
          </a:p>
        </p:txBody>
      </p:sp>
      <p:sp>
        <p:nvSpPr>
          <p:cNvPr id="11" name="TextBox 10"/>
          <p:cNvSpPr txBox="1"/>
          <p:nvPr/>
        </p:nvSpPr>
        <p:spPr>
          <a:xfrm>
            <a:off x="731520" y="3319272"/>
            <a:ext cx="5120640" cy="292608"/>
          </a:xfrm>
          <a:prstGeom prst="rect">
            <a:avLst/>
          </a:prstGeom>
          <a:noFill/>
        </p:spPr>
        <p:txBody>
          <a:bodyPr wrap="square" lIns="45720" rIns="45720">
            <a:spAutoFit/>
          </a:bodyPr>
          <a:lstStyle/>
          <a:p>
            <a:pPr algn="l"/>
            <a:r>
              <a:rPr sz="1000" b="0">
                <a:solidFill>
                  <a:srgbClr val="F5F1E6"/>
                </a:solidFill>
                <a:latin typeface="Calibri"/>
              </a:rPr>
              <a:t>21 controllers · reactive state</a:t>
            </a:r>
          </a:p>
        </p:txBody>
      </p:sp>
      <p:sp>
        <p:nvSpPr>
          <p:cNvPr id="12" name="Rounded Rectangle 11"/>
          <p:cNvSpPr/>
          <p:nvPr/>
        </p:nvSpPr>
        <p:spPr>
          <a:xfrm>
            <a:off x="548640" y="3749039"/>
            <a:ext cx="5486400" cy="6400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803903"/>
            <a:ext cx="5120640" cy="365760"/>
          </a:xfrm>
          <a:prstGeom prst="rect">
            <a:avLst/>
          </a:prstGeom>
          <a:noFill/>
        </p:spPr>
        <p:txBody>
          <a:bodyPr wrap="square" lIns="45720" rIns="45720">
            <a:spAutoFit/>
          </a:bodyPr>
          <a:lstStyle/>
          <a:p>
            <a:pPr algn="l"/>
            <a:r>
              <a:rPr sz="1400" b="1">
                <a:solidFill>
                  <a:srgbClr val="FFFFFF"/>
                </a:solidFill>
                <a:latin typeface="Calibri"/>
              </a:rPr>
              <a:t>Services + Broker + Calculators</a:t>
            </a:r>
          </a:p>
        </p:txBody>
      </p:sp>
      <p:sp>
        <p:nvSpPr>
          <p:cNvPr id="14" name="TextBox 13"/>
          <p:cNvSpPr txBox="1"/>
          <p:nvPr/>
        </p:nvSpPr>
        <p:spPr>
          <a:xfrm>
            <a:off x="731520" y="4096511"/>
            <a:ext cx="5120640" cy="292608"/>
          </a:xfrm>
          <a:prstGeom prst="rect">
            <a:avLst/>
          </a:prstGeom>
          <a:noFill/>
        </p:spPr>
        <p:txBody>
          <a:bodyPr wrap="square" lIns="45720" rIns="45720">
            <a:spAutoFit/>
          </a:bodyPr>
          <a:lstStyle/>
          <a:p>
            <a:pPr algn="l"/>
            <a:r>
              <a:rPr sz="1000" b="0">
                <a:solidFill>
                  <a:srgbClr val="F5F1E6"/>
                </a:solidFill>
                <a:latin typeface="Calibri"/>
              </a:rPr>
              <a:t>Async business logic</a:t>
            </a:r>
          </a:p>
        </p:txBody>
      </p:sp>
      <p:sp>
        <p:nvSpPr>
          <p:cNvPr id="15" name="Rounded Rectangle 14"/>
          <p:cNvSpPr/>
          <p:nvPr/>
        </p:nvSpPr>
        <p:spPr>
          <a:xfrm>
            <a:off x="548640" y="4526279"/>
            <a:ext cx="5486400" cy="640080"/>
          </a:xfrm>
          <a:prstGeom prst="round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581143"/>
            <a:ext cx="5120640" cy="365760"/>
          </a:xfrm>
          <a:prstGeom prst="rect">
            <a:avLst/>
          </a:prstGeom>
          <a:noFill/>
        </p:spPr>
        <p:txBody>
          <a:bodyPr wrap="square" lIns="45720" rIns="45720">
            <a:spAutoFit/>
          </a:bodyPr>
          <a:lstStyle/>
          <a:p>
            <a:pPr algn="l"/>
            <a:r>
              <a:rPr sz="1400" b="1">
                <a:solidFill>
                  <a:srgbClr val="FFFFFF"/>
                </a:solidFill>
                <a:latin typeface="Calibri"/>
              </a:rPr>
              <a:t>Repositories (async)</a:t>
            </a:r>
          </a:p>
        </p:txBody>
      </p:sp>
      <p:sp>
        <p:nvSpPr>
          <p:cNvPr id="17" name="TextBox 16"/>
          <p:cNvSpPr txBox="1"/>
          <p:nvPr/>
        </p:nvSpPr>
        <p:spPr>
          <a:xfrm>
            <a:off x="731520" y="4873751"/>
            <a:ext cx="5120640" cy="292608"/>
          </a:xfrm>
          <a:prstGeom prst="rect">
            <a:avLst/>
          </a:prstGeom>
          <a:noFill/>
        </p:spPr>
        <p:txBody>
          <a:bodyPr wrap="square" lIns="45720" rIns="45720">
            <a:spAutoFit/>
          </a:bodyPr>
          <a:lstStyle/>
          <a:p>
            <a:pPr algn="l"/>
            <a:r>
              <a:rPr sz="1000" b="0">
                <a:solidFill>
                  <a:srgbClr val="F5F1E6"/>
                </a:solidFill>
                <a:latin typeface="Calibri"/>
              </a:rPr>
              <a:t>Polymorphic FitnessTest queries</a:t>
            </a:r>
          </a:p>
        </p:txBody>
      </p:sp>
      <p:sp>
        <p:nvSpPr>
          <p:cNvPr id="18" name="Rounded Rectangle 17"/>
          <p:cNvSpPr/>
          <p:nvPr/>
        </p:nvSpPr>
        <p:spPr>
          <a:xfrm>
            <a:off x="548640" y="5303520"/>
            <a:ext cx="5486400" cy="640080"/>
          </a:xfrm>
          <a:prstGeom prst="round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358384"/>
            <a:ext cx="5120640" cy="365760"/>
          </a:xfrm>
          <a:prstGeom prst="rect">
            <a:avLst/>
          </a:prstGeom>
          <a:noFill/>
        </p:spPr>
        <p:txBody>
          <a:bodyPr wrap="square" lIns="45720" rIns="45720">
            <a:spAutoFit/>
          </a:bodyPr>
          <a:lstStyle/>
          <a:p>
            <a:pPr algn="l"/>
            <a:r>
              <a:rPr sz="1400" b="1">
                <a:solidFill>
                  <a:srgbClr val="FFFFFF"/>
                </a:solidFill>
                <a:latin typeface="Calibri"/>
              </a:rPr>
              <a:t>ORM Models + PostgreSQL</a:t>
            </a:r>
          </a:p>
        </p:txBody>
      </p:sp>
      <p:sp>
        <p:nvSpPr>
          <p:cNvPr id="20" name="TextBox 19"/>
          <p:cNvSpPr txBox="1"/>
          <p:nvPr/>
        </p:nvSpPr>
        <p:spPr>
          <a:xfrm>
            <a:off x="731520" y="5650992"/>
            <a:ext cx="5120640" cy="292608"/>
          </a:xfrm>
          <a:prstGeom prst="rect">
            <a:avLst/>
          </a:prstGeom>
          <a:noFill/>
        </p:spPr>
        <p:txBody>
          <a:bodyPr wrap="square" lIns="45720" rIns="45720">
            <a:spAutoFit/>
          </a:bodyPr>
          <a:lstStyle/>
          <a:p>
            <a:pPr algn="l"/>
            <a:r>
              <a:rPr sz="1000" b="0">
                <a:solidFill>
                  <a:srgbClr val="F5F1E6"/>
                </a:solidFill>
                <a:latin typeface="Calibri"/>
              </a:rPr>
              <a:t>Joined-table inheritance</a:t>
            </a:r>
          </a:p>
        </p:txBody>
      </p:sp>
      <p:sp>
        <p:nvSpPr>
          <p:cNvPr id="21" name="TextBox 20"/>
          <p:cNvSpPr txBox="1"/>
          <p:nvPr/>
        </p:nvSpPr>
        <p:spPr>
          <a:xfrm>
            <a:off x="6126480" y="4114800"/>
            <a:ext cx="365760" cy="457200"/>
          </a:xfrm>
          <a:prstGeom prst="rect">
            <a:avLst/>
          </a:prstGeom>
          <a:noFill/>
        </p:spPr>
        <p:txBody>
          <a:bodyPr wrap="square" lIns="45720" rIns="45720">
            <a:spAutoFit/>
          </a:bodyPr>
          <a:lstStyle/>
          <a:p>
            <a:pPr algn="ctr"/>
            <a:r>
              <a:rPr sz="2400" b="1">
                <a:solidFill>
                  <a:srgbClr val="334218"/>
                </a:solidFill>
                <a:latin typeface="Calibri"/>
              </a:rPr>
              <a:t>↓</a:t>
            </a:r>
          </a:p>
        </p:txBody>
      </p:sp>
      <p:pic>
        <p:nvPicPr>
          <p:cNvPr id="22" name="Picture 21" descr="overview-WARRIORFIT_Architectuur.png"/>
          <p:cNvPicPr>
            <a:picLocks noChangeAspect="1"/>
          </p:cNvPicPr>
          <p:nvPr/>
        </p:nvPicPr>
        <p:blipFill>
          <a:blip r:embed="rId3"/>
          <a:stretch>
            <a:fillRect/>
          </a:stretch>
        </p:blipFill>
        <p:spPr>
          <a:xfrm>
            <a:off x="6766560" y="2526867"/>
            <a:ext cx="5029200" cy="3541625"/>
          </a:xfrm>
          <a:prstGeom prst="rect">
            <a:avLst/>
          </a:prstGeom>
        </p:spPr>
      </p:pic>
      <p:sp>
        <p:nvSpPr>
          <p:cNvPr id="23" name="TextBox 22"/>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24" name="TextBox 23"/>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3 / 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4 / 20</a:t>
            </a:r>
          </a:p>
        </p:txBody>
      </p:sp>
      <p:pic>
        <p:nvPicPr>
          <p:cNvPr id="11" name="Picture 10">
            <a:extLst>
              <a:ext uri="{FF2B5EF4-FFF2-40B4-BE49-F238E27FC236}">
                <a16:creationId xmlns:a16="http://schemas.microsoft.com/office/drawing/2014/main" id="{930C7014-910A-AD78-B9A7-55374ABC148E}"/>
              </a:ext>
            </a:extLst>
          </p:cNvPr>
          <p:cNvPicPr>
            <a:picLocks noChangeAspect="1"/>
          </p:cNvPicPr>
          <p:nvPr/>
        </p:nvPicPr>
        <p:blipFill>
          <a:blip r:embed="rId2"/>
          <a:stretch>
            <a:fillRect/>
          </a:stretch>
        </p:blipFill>
        <p:spPr>
          <a:xfrm>
            <a:off x="854231" y="337596"/>
            <a:ext cx="9661369" cy="64409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PAGE-PATROON</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Lazy _page + @inject + BaseTestPage</a:t>
            </a:r>
          </a:p>
        </p:txBody>
      </p:sp>
      <p:sp>
        <p:nvSpPr>
          <p:cNvPr id="6" name="TextBox 5"/>
          <p:cNvSpPr txBox="1"/>
          <p:nvPr/>
        </p:nvSpPr>
        <p:spPr>
          <a:xfrm>
            <a:off x="548640" y="2194560"/>
            <a:ext cx="10972800" cy="457200"/>
          </a:xfrm>
          <a:prstGeom prst="rect">
            <a:avLst/>
          </a:prstGeom>
          <a:noFill/>
        </p:spPr>
        <p:txBody>
          <a:bodyPr wrap="square" lIns="45720" rIns="45720">
            <a:spAutoFit/>
          </a:bodyPr>
          <a:lstStyle/>
          <a:p>
            <a:pPr algn="l"/>
            <a:r>
              <a:rPr sz="1400" b="0">
                <a:solidFill>
                  <a:srgbClr val="222222"/>
                </a:solidFill>
                <a:latin typeface="Calibri"/>
              </a:rPr>
              <a:t>Elke pagina volgt hetzelfde patroon — DI-injectie gebeurt bij eerste call:</a:t>
            </a:r>
          </a:p>
        </p:txBody>
      </p:sp>
      <p:sp>
        <p:nvSpPr>
          <p:cNvPr id="7" name="Rounded Rectangle 6"/>
          <p:cNvSpPr/>
          <p:nvPr/>
        </p:nvSpPr>
        <p:spPr>
          <a:xfrm>
            <a:off x="548640" y="2743200"/>
            <a:ext cx="6858000" cy="329184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880360"/>
            <a:ext cx="6492240" cy="3017520"/>
          </a:xfrm>
          <a:prstGeom prst="rect">
            <a:avLst/>
          </a:prstGeom>
          <a:noFill/>
        </p:spPr>
        <p:txBody>
          <a:bodyPr wrap="square" lIns="45720" rIns="45720">
            <a:spAutoFit/>
          </a:bodyPr>
          <a:lstStyle/>
          <a:p>
            <a:pPr algn="l"/>
            <a:r>
              <a:rPr sz="1100" b="0">
                <a:solidFill>
                  <a:srgbClr val="E6E6E6"/>
                </a:solidFill>
                <a:latin typeface="JetBrains Mono"/>
              </a:rPr>
              <a:t>_page = None</a:t>
            </a:r>
          </a:p>
          <a:p>
            <a:pPr algn="l"/>
            <a:endParaRPr sz="1100" b="0">
              <a:solidFill>
                <a:srgbClr val="E6E6E6"/>
              </a:solidFill>
              <a:latin typeface="JetBrains Mono"/>
            </a:endParaRPr>
          </a:p>
          <a:p>
            <a:pPr algn="l"/>
            <a:r>
              <a:rPr sz="1100" b="0">
                <a:solidFill>
                  <a:srgbClr val="E6E6E6"/>
                </a:solidFill>
                <a:latin typeface="JetBrains Mono"/>
              </a:rPr>
              <a:t>def _get_page():</a:t>
            </a:r>
          </a:p>
          <a:p>
            <a:pPr algn="l"/>
            <a:r>
              <a:rPr sz="1100" b="0">
                <a:solidFill>
                  <a:srgbClr val="E6E6E6"/>
                </a:solidFill>
                <a:latin typeface="JetBrains Mono"/>
              </a:rPr>
              <a:t>    global _page</a:t>
            </a:r>
          </a:p>
          <a:p>
            <a:pPr algn="l"/>
            <a:r>
              <a:rPr sz="1100" b="0">
                <a:solidFill>
                  <a:srgbClr val="E6E6E6"/>
                </a:solidFill>
                <a:latin typeface="JetBrains Mono"/>
              </a:rPr>
              <a:t>    if _page is None:</a:t>
            </a:r>
          </a:p>
          <a:p>
            <a:pPr algn="l"/>
            <a:r>
              <a:rPr sz="1100" b="0">
                <a:solidFill>
                  <a:srgbClr val="E6E6E6"/>
                </a:solidFill>
                <a:latin typeface="JetBrains Mono"/>
              </a:rPr>
              <a:t>        _page = MfftEvalPage()   # @inject pakt controllers uit Container</a:t>
            </a:r>
          </a:p>
          <a:p>
            <a:pPr algn="l"/>
            <a:r>
              <a:rPr sz="1100" b="0">
                <a:solidFill>
                  <a:srgbClr val="E6E6E6"/>
                </a:solidFill>
                <a:latin typeface="JetBrains Mono"/>
              </a:rPr>
              <a:t>    return _page</a:t>
            </a:r>
          </a:p>
          <a:p>
            <a:pPr algn="l"/>
            <a:endParaRPr sz="1100" b="0">
              <a:solidFill>
                <a:srgbClr val="E6E6E6"/>
              </a:solidFill>
              <a:latin typeface="JetBrains Mono"/>
            </a:endParaRPr>
          </a:p>
          <a:p>
            <a:pPr algn="l"/>
            <a:r>
              <a:rPr sz="1100" b="0">
                <a:solidFill>
                  <a:srgbClr val="E6E6E6"/>
                </a:solidFill>
                <a:latin typeface="JetBrains Mono"/>
              </a:rPr>
              <a:t>def get_ui():</a:t>
            </a:r>
          </a:p>
          <a:p>
            <a:pPr algn="l"/>
            <a:r>
              <a:rPr sz="1100" b="0">
                <a:solidFill>
                  <a:srgbClr val="E6E6E6"/>
                </a:solidFill>
                <a:latin typeface="JetBrains Mono"/>
              </a:rPr>
              <a:t>    return _get_page().get_ui()</a:t>
            </a:r>
          </a:p>
          <a:p>
            <a:pPr algn="l"/>
            <a:endParaRPr sz="1100" b="0">
              <a:solidFill>
                <a:srgbClr val="E6E6E6"/>
              </a:solidFill>
              <a:latin typeface="JetBrains Mono"/>
            </a:endParaRPr>
          </a:p>
          <a:p>
            <a:pPr algn="l"/>
            <a:r>
              <a:rPr sz="1100" b="0">
                <a:solidFill>
                  <a:srgbClr val="E6E6E6"/>
                </a:solidFill>
                <a:latin typeface="JetBrains Mono"/>
              </a:rPr>
              <a:t>def server(input, output, session):</a:t>
            </a:r>
          </a:p>
          <a:p>
            <a:pPr algn="l"/>
            <a:r>
              <a:rPr sz="1100" b="0">
                <a:solidFill>
                  <a:srgbClr val="E6E6E6"/>
                </a:solidFill>
                <a:latin typeface="JetBrains Mono"/>
              </a:rPr>
              <a:t>    return _get_page().server(input, output, session)</a:t>
            </a:r>
          </a:p>
          <a:p>
            <a:pPr algn="l"/>
            <a:endParaRPr sz="1100" b="0">
              <a:solidFill>
                <a:srgbClr val="E6E6E6"/>
              </a:solidFill>
              <a:latin typeface="JetBrains Mono"/>
            </a:endParaRPr>
          </a:p>
        </p:txBody>
      </p:sp>
      <p:sp>
        <p:nvSpPr>
          <p:cNvPr id="9" name="TextBox 8"/>
          <p:cNvSpPr txBox="1"/>
          <p:nvPr/>
        </p:nvSpPr>
        <p:spPr>
          <a:xfrm>
            <a:off x="7680960" y="2743200"/>
            <a:ext cx="4206240" cy="3657600"/>
          </a:xfrm>
          <a:prstGeom prst="rect">
            <a:avLst/>
          </a:prstGeom>
          <a:noFill/>
        </p:spPr>
        <p:txBody>
          <a:bodyPr wrap="square" lIns="45720" rIns="45720">
            <a:spAutoFit/>
          </a:bodyPr>
          <a:lstStyle/>
          <a:p>
            <a:pPr algn="l"/>
            <a:r>
              <a:rPr sz="1300" b="0">
                <a:solidFill>
                  <a:srgbClr val="222222"/>
                </a:solidFill>
                <a:latin typeface="Calibri"/>
              </a:rPr>
              <a:t>•  BaseTestPage levert refresh_tick, refresh_on_nav, fetch_all_servicemen_df en setup_session_management</a:t>
            </a:r>
          </a:p>
          <a:p>
            <a:pPr algn="l"/>
            <a:r>
              <a:rPr sz="1300" b="0">
                <a:solidFill>
                  <a:srgbClr val="222222"/>
                </a:solidFill>
                <a:latin typeface="Calibri"/>
              </a:rPr>
              <a:t>•  Page registratie in PageSpec met allowed_roles ⇒ RBAC</a:t>
            </a:r>
          </a:p>
          <a:p>
            <a:pPr algn="l"/>
            <a:r>
              <a:rPr sz="1300" b="0">
                <a:solidFill>
                  <a:srgbClr val="222222"/>
                </a:solidFill>
                <a:latin typeface="Calibri"/>
              </a:rPr>
              <a:t>•  Reactive effecten op input.* drijven validatie + tier-badges</a:t>
            </a:r>
          </a:p>
          <a:p>
            <a:pPr algn="l"/>
            <a:r>
              <a:rPr sz="1300" b="0">
                <a:solidFill>
                  <a:srgbClr val="222222"/>
                </a:solidFill>
                <a:latin typeface="Calibri"/>
              </a:rPr>
              <a:t>•  @reactive.invalidate_later voor live metrics (Status Application, Broker health)</a:t>
            </a:r>
          </a:p>
          <a:p>
            <a:pPr algn="l"/>
            <a:r>
              <a:rPr sz="1300" b="0">
                <a:solidFill>
                  <a:srgbClr val="222222"/>
                </a:solidFill>
                <a:latin typeface="Calibri"/>
              </a:rPr>
              <a:t>•  refresh_tick voor event-driven grids</a:t>
            </a:r>
          </a:p>
        </p:txBody>
      </p:sp>
      <p:sp>
        <p:nvSpPr>
          <p:cNvPr id="10" name="TextBox 9"/>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1" name="TextBox 10"/>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5 / 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DI CONTAINER</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dependency-injector · 40+ singletons</a:t>
            </a:r>
          </a:p>
        </p:txBody>
      </p:sp>
      <p:sp>
        <p:nvSpPr>
          <p:cNvPr id="6" name="Rounded Rectangle 5"/>
          <p:cNvSpPr/>
          <p:nvPr/>
        </p:nvSpPr>
        <p:spPr>
          <a:xfrm>
            <a:off x="548640" y="2194560"/>
            <a:ext cx="7132320" cy="41148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331720"/>
            <a:ext cx="6766560" cy="3840480"/>
          </a:xfrm>
          <a:prstGeom prst="rect">
            <a:avLst/>
          </a:prstGeom>
          <a:noFill/>
        </p:spPr>
        <p:txBody>
          <a:bodyPr wrap="square" lIns="45720" rIns="45720">
            <a:spAutoFit/>
          </a:bodyPr>
          <a:lstStyle/>
          <a:p>
            <a:pPr algn="l"/>
            <a:r>
              <a:rPr sz="1100" b="0">
                <a:solidFill>
                  <a:srgbClr val="E6E6E6"/>
                </a:solidFill>
                <a:latin typeface="JetBrains Mono"/>
              </a:rPr>
              <a:t>class Container(containers.DeclarativeContainer):</a:t>
            </a:r>
          </a:p>
          <a:p>
            <a:pPr algn="l"/>
            <a:r>
              <a:rPr sz="1100" b="0">
                <a:solidFill>
                  <a:srgbClr val="E6E6E6"/>
                </a:solidFill>
                <a:latin typeface="JetBrains Mono"/>
              </a:rPr>
              <a:t>    config = providers.Singleton(ApplicationConfig)</a:t>
            </a:r>
          </a:p>
          <a:p>
            <a:pPr algn="l"/>
            <a:endParaRPr sz="1100" b="0">
              <a:solidFill>
                <a:srgbClr val="E6E6E6"/>
              </a:solidFill>
              <a:latin typeface="JetBrains Mono"/>
            </a:endParaRPr>
          </a:p>
          <a:p>
            <a:pPr algn="l"/>
            <a:r>
              <a:rPr sz="1100" b="0">
                <a:solidFill>
                  <a:srgbClr val="E6E6E6"/>
                </a:solidFill>
                <a:latin typeface="JetBrains Mono"/>
              </a:rPr>
              <a:t>    # Repositories</a:t>
            </a:r>
          </a:p>
          <a:p>
            <a:pPr algn="l"/>
            <a:r>
              <a:rPr sz="1100" b="0">
                <a:solidFill>
                  <a:srgbClr val="E6E6E6"/>
                </a:solidFill>
                <a:latin typeface="JetBrains Mono"/>
              </a:rPr>
              <a:t>    user_repository = providers.Singleton(UserRepository, config=config)</a:t>
            </a:r>
          </a:p>
          <a:p>
            <a:pPr algn="l"/>
            <a:r>
              <a:rPr sz="1100" b="0">
                <a:solidFill>
                  <a:srgbClr val="E6E6E6"/>
                </a:solidFill>
                <a:latin typeface="JetBrains Mono"/>
              </a:rPr>
              <a:t>    fitness_test_repository = providers.Singleton(</a:t>
            </a:r>
          </a:p>
          <a:p>
            <a:pPr algn="l"/>
            <a:r>
              <a:rPr sz="1100" b="0">
                <a:solidFill>
                  <a:srgbClr val="E6E6E6"/>
                </a:solidFill>
                <a:latin typeface="JetBrains Mono"/>
              </a:rPr>
              <a:t>        FitnessTestRepository, config=config</a:t>
            </a:r>
          </a:p>
          <a:p>
            <a:pPr algn="l"/>
            <a:r>
              <a:rPr sz="1100" b="0">
                <a:solidFill>
                  <a:srgbClr val="E6E6E6"/>
                </a:solidFill>
                <a:latin typeface="JetBrains Mono"/>
              </a:rPr>
              <a:t>    )</a:t>
            </a:r>
          </a:p>
          <a:p>
            <a:pPr algn="l"/>
            <a:endParaRPr sz="1100" b="0">
              <a:solidFill>
                <a:srgbClr val="E6E6E6"/>
              </a:solidFill>
              <a:latin typeface="JetBrains Mono"/>
            </a:endParaRPr>
          </a:p>
          <a:p>
            <a:pPr algn="l"/>
            <a:r>
              <a:rPr sz="1100" b="0">
                <a:solidFill>
                  <a:srgbClr val="E6E6E6"/>
                </a:solidFill>
                <a:latin typeface="JetBrains Mono"/>
              </a:rPr>
              <a:t>    # Services</a:t>
            </a:r>
          </a:p>
          <a:p>
            <a:pPr algn="l"/>
            <a:r>
              <a:rPr sz="1100" b="0">
                <a:solidFill>
                  <a:srgbClr val="E6E6E6"/>
                </a:solidFill>
                <a:latin typeface="JetBrains Mono"/>
              </a:rPr>
              <a:t>    test_service = providers.Singleton(</a:t>
            </a:r>
          </a:p>
          <a:p>
            <a:pPr algn="l"/>
            <a:r>
              <a:rPr sz="1100" b="0">
                <a:solidFill>
                  <a:srgbClr val="E6E6E6"/>
                </a:solidFill>
                <a:latin typeface="JetBrains Mono"/>
              </a:rPr>
              <a:t>        ServiceTest,</a:t>
            </a:r>
          </a:p>
          <a:p>
            <a:pPr algn="l"/>
            <a:r>
              <a:rPr sz="1100" b="0">
                <a:solidFill>
                  <a:srgbClr val="E6E6E6"/>
                </a:solidFill>
                <a:latin typeface="JetBrains Mono"/>
              </a:rPr>
              <a:t>        fitness_test_repository=fitness_test_repository,</a:t>
            </a:r>
          </a:p>
          <a:p>
            <a:pPr algn="l"/>
            <a:r>
              <a:rPr sz="1100" b="0">
                <a:solidFill>
                  <a:srgbClr val="E6E6E6"/>
                </a:solidFill>
                <a:latin typeface="JetBrains Mono"/>
              </a:rPr>
              <a:t>        user_repository=user_repository,</a:t>
            </a:r>
          </a:p>
          <a:p>
            <a:pPr algn="l"/>
            <a:r>
              <a:rPr sz="1100" b="0">
                <a:solidFill>
                  <a:srgbClr val="E6E6E6"/>
                </a:solidFill>
                <a:latin typeface="JetBrains Mono"/>
              </a:rPr>
              <a:t>        notify_mail=notify_mail,</a:t>
            </a:r>
          </a:p>
          <a:p>
            <a:pPr algn="l"/>
            <a:r>
              <a:rPr sz="1100" b="0">
                <a:solidFill>
                  <a:srgbClr val="E6E6E6"/>
                </a:solidFill>
                <a:latin typeface="JetBrains Mono"/>
              </a:rPr>
              <a:t>    )</a:t>
            </a:r>
          </a:p>
          <a:p>
            <a:pPr algn="l"/>
            <a:endParaRPr sz="1100" b="0">
              <a:solidFill>
                <a:srgbClr val="E6E6E6"/>
              </a:solidFill>
              <a:latin typeface="JetBrains Mono"/>
            </a:endParaRPr>
          </a:p>
          <a:p>
            <a:pPr algn="l"/>
            <a:r>
              <a:rPr sz="1100" b="0">
                <a:solidFill>
                  <a:srgbClr val="E6E6E6"/>
                </a:solidFill>
                <a:latin typeface="JetBrains Mono"/>
              </a:rPr>
              <a:t>    # Controllers</a:t>
            </a:r>
          </a:p>
          <a:p>
            <a:pPr algn="l"/>
            <a:r>
              <a:rPr sz="1100" b="0">
                <a:solidFill>
                  <a:srgbClr val="E6E6E6"/>
                </a:solidFill>
                <a:latin typeface="JetBrains Mono"/>
              </a:rPr>
              <a:t>    mfft_eval_controller = providers.Singleton(</a:t>
            </a:r>
          </a:p>
          <a:p>
            <a:pPr algn="l"/>
            <a:r>
              <a:rPr sz="1100" b="0">
                <a:solidFill>
                  <a:srgbClr val="E6E6E6"/>
                </a:solidFill>
                <a:latin typeface="JetBrains Mono"/>
              </a:rPr>
              <a:t>        MfftEvalController,</a:t>
            </a:r>
          </a:p>
          <a:p>
            <a:pPr algn="l"/>
            <a:r>
              <a:rPr sz="1100" b="0">
                <a:solidFill>
                  <a:srgbClr val="E6E6E6"/>
                </a:solidFill>
                <a:latin typeface="JetBrains Mono"/>
              </a:rPr>
              <a:t>        service=test_service,</a:t>
            </a:r>
          </a:p>
          <a:p>
            <a:pPr algn="l"/>
            <a:r>
              <a:rPr sz="1100" b="0">
                <a:solidFill>
                  <a:srgbClr val="E6E6E6"/>
                </a:solidFill>
                <a:latin typeface="JetBrains Mono"/>
              </a:rPr>
              <a:t>        mil_service=military_service,</a:t>
            </a:r>
          </a:p>
          <a:p>
            <a:pPr algn="l"/>
            <a:r>
              <a:rPr sz="1100" b="0">
                <a:solidFill>
                  <a:srgbClr val="E6E6E6"/>
                </a:solidFill>
                <a:latin typeface="JetBrains Mono"/>
              </a:rPr>
              <a:t>    )</a:t>
            </a:r>
          </a:p>
          <a:p>
            <a:pPr algn="l"/>
            <a:endParaRPr sz="1100" b="0">
              <a:solidFill>
                <a:srgbClr val="E6E6E6"/>
              </a:solidFill>
              <a:latin typeface="JetBrains Mono"/>
            </a:endParaRPr>
          </a:p>
        </p:txBody>
      </p:sp>
      <p:sp>
        <p:nvSpPr>
          <p:cNvPr id="8" name="TextBox 7"/>
          <p:cNvSpPr txBox="1"/>
          <p:nvPr/>
        </p:nvSpPr>
        <p:spPr>
          <a:xfrm>
            <a:off x="7955279" y="2194560"/>
            <a:ext cx="4114800" cy="3657600"/>
          </a:xfrm>
          <a:prstGeom prst="rect">
            <a:avLst/>
          </a:prstGeom>
          <a:noFill/>
        </p:spPr>
        <p:txBody>
          <a:bodyPr wrap="square" lIns="45720" rIns="45720">
            <a:spAutoFit/>
          </a:bodyPr>
          <a:lstStyle/>
          <a:p>
            <a:pPr algn="l"/>
            <a:r>
              <a:rPr sz="1300" b="0">
                <a:solidFill>
                  <a:srgbClr val="222222"/>
                </a:solidFill>
                <a:latin typeface="Calibri"/>
              </a:rPr>
              <a:t>•  Container is single source of truth voor lifecycles</a:t>
            </a:r>
          </a:p>
          <a:p>
            <a:pPr algn="l"/>
            <a:r>
              <a:rPr sz="1300" b="0">
                <a:solidFill>
                  <a:srgbClr val="222222"/>
                </a:solidFill>
                <a:latin typeface="Calibri"/>
              </a:rPr>
              <a:t>•  wiring_config.modules vermeldt alle Shiny pages die @inject gebruiken</a:t>
            </a:r>
          </a:p>
          <a:p>
            <a:pPr algn="l"/>
            <a:r>
              <a:rPr sz="1300" b="0">
                <a:solidFill>
                  <a:srgbClr val="222222"/>
                </a:solidFill>
                <a:latin typeface="Calibri"/>
              </a:rPr>
              <a:t>•  Repositories + services + controllers = Singleton</a:t>
            </a:r>
          </a:p>
          <a:p>
            <a:pPr algn="l"/>
            <a:r>
              <a:rPr sz="1300" b="0">
                <a:solidFill>
                  <a:srgbClr val="222222"/>
                </a:solidFill>
                <a:latin typeface="Calibri"/>
              </a:rPr>
              <a:t>•  Geen handmatig new() in pagina's of services</a:t>
            </a:r>
          </a:p>
          <a:p>
            <a:pPr algn="l"/>
            <a:r>
              <a:rPr sz="1300" b="0">
                <a:solidFill>
                  <a:srgbClr val="222222"/>
                </a:solidFill>
                <a:latin typeface="Calibri"/>
              </a:rPr>
              <a:t>•  Test isolatie: Singleton._instances reset in fixtures</a:t>
            </a:r>
          </a:p>
        </p:txBody>
      </p:sp>
      <p:sp>
        <p:nvSpPr>
          <p:cNvPr id="9" name="TextBox 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0" name="TextBox 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6 / 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POLYMORPHIC FITNESSTEST</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Joined-table inheritance via type-discriminator</a:t>
            </a:r>
          </a:p>
        </p:txBody>
      </p:sp>
      <p:pic>
        <p:nvPicPr>
          <p:cNvPr id="6" name="Picture 5" descr="datamodel.png"/>
          <p:cNvPicPr>
            <a:picLocks noChangeAspect="1"/>
          </p:cNvPicPr>
          <p:nvPr/>
        </p:nvPicPr>
        <p:blipFill>
          <a:blip r:embed="rId3"/>
          <a:stretch>
            <a:fillRect/>
          </a:stretch>
        </p:blipFill>
        <p:spPr>
          <a:xfrm>
            <a:off x="548640" y="1492505"/>
            <a:ext cx="11094720" cy="4813870"/>
          </a:xfrm>
          <a:prstGeom prst="rect">
            <a:avLst/>
          </a:prstGeom>
        </p:spPr>
      </p:pic>
      <p:sp>
        <p:nvSpPr>
          <p:cNvPr id="8" name="TextBox 7"/>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9" name="TextBox 8"/>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8 / 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4592"/>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MESSAGE BROKER (1 / 4)</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Transactional outbox · async achtergrond-worker · twee stappen</a:t>
            </a:r>
          </a:p>
        </p:txBody>
      </p:sp>
      <p:sp>
        <p:nvSpPr>
          <p:cNvPr id="7" name="Rounded Rectangle 6"/>
          <p:cNvSpPr/>
          <p:nvPr/>
        </p:nvSpPr>
        <p:spPr>
          <a:xfrm>
            <a:off x="548640" y="2011680"/>
            <a:ext cx="6035040" cy="914400"/>
          </a:xfrm>
          <a:prstGeom prst="round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084832"/>
            <a:ext cx="5669280" cy="365760"/>
          </a:xfrm>
          <a:prstGeom prst="rect">
            <a:avLst/>
          </a:prstGeom>
          <a:noFill/>
        </p:spPr>
        <p:txBody>
          <a:bodyPr wrap="square" lIns="45720" rIns="45720">
            <a:spAutoFit/>
          </a:bodyPr>
          <a:lstStyle/>
          <a:p>
            <a:pPr algn="l"/>
            <a:r>
              <a:rPr sz="1500" b="1" dirty="0" err="1">
                <a:solidFill>
                  <a:srgbClr val="FFFFFF"/>
                </a:solidFill>
                <a:latin typeface="Calibri"/>
              </a:rPr>
              <a:t>send_message</a:t>
            </a:r>
            <a:r>
              <a:rPr sz="1500" b="1" dirty="0">
                <a:solidFill>
                  <a:srgbClr val="FFFFFF"/>
                </a:solidFill>
                <a:latin typeface="Calibri"/>
              </a:rPr>
              <a:t>(test)  →  </a:t>
            </a:r>
            <a:r>
              <a:rPr sz="1500" b="1" dirty="0" err="1">
                <a:solidFill>
                  <a:srgbClr val="FFFFFF"/>
                </a:solidFill>
                <a:latin typeface="Calibri"/>
              </a:rPr>
              <a:t>asyncio.Queue</a:t>
            </a:r>
            <a:endParaRPr sz="1500" b="1" dirty="0">
              <a:solidFill>
                <a:srgbClr val="FFFFFF"/>
              </a:solidFill>
              <a:latin typeface="Calibri"/>
            </a:endParaRPr>
          </a:p>
        </p:txBody>
      </p:sp>
      <p:sp>
        <p:nvSpPr>
          <p:cNvPr id="9" name="TextBox 8"/>
          <p:cNvSpPr txBox="1"/>
          <p:nvPr/>
        </p:nvSpPr>
        <p:spPr>
          <a:xfrm>
            <a:off x="731520" y="2468880"/>
            <a:ext cx="5669280" cy="457200"/>
          </a:xfrm>
          <a:prstGeom prst="rect">
            <a:avLst/>
          </a:prstGeom>
          <a:noFill/>
        </p:spPr>
        <p:txBody>
          <a:bodyPr wrap="square" lIns="45720" rIns="45720">
            <a:spAutoFit/>
          </a:bodyPr>
          <a:lstStyle/>
          <a:p>
            <a:pPr algn="l"/>
            <a:r>
              <a:rPr sz="1100" b="0">
                <a:solidFill>
                  <a:srgbClr val="F5F1E6"/>
                </a:solidFill>
                <a:latin typeface="Calibri"/>
              </a:rPr>
              <a:t>ORM → DTO → JSON → HrMessage  ·  niet-blokkerend voor de aanroeper</a:t>
            </a:r>
          </a:p>
        </p:txBody>
      </p:sp>
      <p:sp>
        <p:nvSpPr>
          <p:cNvPr id="10" name="Rounded Rectangle 9"/>
          <p:cNvSpPr/>
          <p:nvPr/>
        </p:nvSpPr>
        <p:spPr>
          <a:xfrm>
            <a:off x="548640" y="3172968"/>
            <a:ext cx="6035040" cy="914400"/>
          </a:xfrm>
          <a:prstGeom prst="round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246120"/>
            <a:ext cx="5669280" cy="365760"/>
          </a:xfrm>
          <a:prstGeom prst="rect">
            <a:avLst/>
          </a:prstGeom>
          <a:noFill/>
        </p:spPr>
        <p:txBody>
          <a:bodyPr wrap="square" lIns="45720" rIns="45720">
            <a:spAutoFit/>
          </a:bodyPr>
          <a:lstStyle/>
          <a:p>
            <a:pPr algn="l"/>
            <a:r>
              <a:rPr sz="1500" b="1">
                <a:solidFill>
                  <a:srgbClr val="FFFFFF"/>
                </a:solidFill>
                <a:latin typeface="Calibri"/>
              </a:rPr>
              <a:t>Stage 1  ·  drain queue → hr_messages (DB)</a:t>
            </a:r>
          </a:p>
        </p:txBody>
      </p:sp>
      <p:sp>
        <p:nvSpPr>
          <p:cNvPr id="12" name="TextBox 11"/>
          <p:cNvSpPr txBox="1"/>
          <p:nvPr/>
        </p:nvSpPr>
        <p:spPr>
          <a:xfrm>
            <a:off x="731520" y="3630168"/>
            <a:ext cx="5669280" cy="457200"/>
          </a:xfrm>
          <a:prstGeom prst="rect">
            <a:avLst/>
          </a:prstGeom>
          <a:noFill/>
        </p:spPr>
        <p:txBody>
          <a:bodyPr wrap="square" lIns="45720" rIns="45720">
            <a:spAutoFit/>
          </a:bodyPr>
          <a:lstStyle/>
          <a:p>
            <a:pPr algn="l"/>
            <a:r>
              <a:rPr sz="1100" b="0">
                <a:solidFill>
                  <a:srgbClr val="F5F1E6"/>
                </a:solidFill>
                <a:latin typeface="Calibri"/>
              </a:rPr>
              <a:t>Persistent maken voordat we naar HR sturen  ·  crash-safe</a:t>
            </a:r>
          </a:p>
        </p:txBody>
      </p:sp>
      <p:sp>
        <p:nvSpPr>
          <p:cNvPr id="13" name="Rounded Rectangle 12"/>
          <p:cNvSpPr/>
          <p:nvPr/>
        </p:nvSpPr>
        <p:spPr>
          <a:xfrm>
            <a:off x="548640" y="4270248"/>
            <a:ext cx="6035040" cy="9144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343400"/>
            <a:ext cx="5669280" cy="365760"/>
          </a:xfrm>
          <a:prstGeom prst="rect">
            <a:avLst/>
          </a:prstGeom>
          <a:noFill/>
        </p:spPr>
        <p:txBody>
          <a:bodyPr wrap="square" lIns="45720" rIns="45720">
            <a:spAutoFit/>
          </a:bodyPr>
          <a:lstStyle/>
          <a:p>
            <a:pPr algn="l"/>
            <a:r>
              <a:rPr sz="1500" b="1">
                <a:solidFill>
                  <a:srgbClr val="FFFFFF"/>
                </a:solidFill>
                <a:latin typeface="Calibri"/>
              </a:rPr>
              <a:t>Stage 2  ·  check_and_send_messages()</a:t>
            </a:r>
          </a:p>
        </p:txBody>
      </p:sp>
      <p:sp>
        <p:nvSpPr>
          <p:cNvPr id="15" name="TextBox 14"/>
          <p:cNvSpPr txBox="1"/>
          <p:nvPr/>
        </p:nvSpPr>
        <p:spPr>
          <a:xfrm>
            <a:off x="731520" y="4727448"/>
            <a:ext cx="5669280" cy="457200"/>
          </a:xfrm>
          <a:prstGeom prst="rect">
            <a:avLst/>
          </a:prstGeom>
          <a:noFill/>
        </p:spPr>
        <p:txBody>
          <a:bodyPr wrap="square" lIns="45720" rIns="45720">
            <a:spAutoFit/>
          </a:bodyPr>
          <a:lstStyle/>
          <a:p>
            <a:pPr algn="l"/>
            <a:r>
              <a:rPr sz="1100" b="0" dirty="0">
                <a:solidFill>
                  <a:srgbClr val="F5F1E6"/>
                </a:solidFill>
                <a:latin typeface="Calibri"/>
              </a:rPr>
              <a:t>Batch van due rows  ·  </a:t>
            </a:r>
            <a:r>
              <a:rPr sz="1100" b="0" dirty="0" err="1">
                <a:solidFill>
                  <a:srgbClr val="F5F1E6"/>
                </a:solidFill>
                <a:latin typeface="Calibri"/>
              </a:rPr>
              <a:t>succes</a:t>
            </a:r>
            <a:r>
              <a:rPr sz="1100" b="0" dirty="0">
                <a:solidFill>
                  <a:srgbClr val="F5F1E6"/>
                </a:solidFill>
                <a:latin typeface="Calibri"/>
              </a:rPr>
              <a:t> → delete  ·  fail → </a:t>
            </a:r>
            <a:r>
              <a:rPr sz="1100" b="0" dirty="0" err="1">
                <a:solidFill>
                  <a:srgbClr val="F5F1E6"/>
                </a:solidFill>
                <a:latin typeface="Calibri"/>
              </a:rPr>
              <a:t>mark_failure</a:t>
            </a:r>
            <a:endParaRPr sz="1100" b="0" dirty="0">
              <a:solidFill>
                <a:srgbClr val="F5F1E6"/>
              </a:solidFill>
              <a:latin typeface="Calibri"/>
            </a:endParaRPr>
          </a:p>
        </p:txBody>
      </p:sp>
      <p:sp>
        <p:nvSpPr>
          <p:cNvPr id="16" name="Rounded Rectangle 15"/>
          <p:cNvSpPr/>
          <p:nvPr/>
        </p:nvSpPr>
        <p:spPr>
          <a:xfrm>
            <a:off x="548640" y="5440680"/>
            <a:ext cx="6035040" cy="914400"/>
          </a:xfrm>
          <a:prstGeom prst="roundRect">
            <a:avLst/>
          </a:prstGeom>
          <a:solidFill>
            <a:srgbClr val="C3B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5513832"/>
            <a:ext cx="5669280" cy="365760"/>
          </a:xfrm>
          <a:prstGeom prst="rect">
            <a:avLst/>
          </a:prstGeom>
          <a:noFill/>
        </p:spPr>
        <p:txBody>
          <a:bodyPr wrap="square" lIns="45720" rIns="45720">
            <a:spAutoFit/>
          </a:bodyPr>
          <a:lstStyle/>
          <a:p>
            <a:pPr algn="l"/>
            <a:r>
              <a:rPr sz="1500" b="1">
                <a:solidFill>
                  <a:srgbClr val="FFFFFF"/>
                </a:solidFill>
                <a:latin typeface="Calibri"/>
              </a:rPr>
              <a:t>Achtergrond-loop  ·  poll_interval_s (default 5 s)</a:t>
            </a:r>
          </a:p>
        </p:txBody>
      </p:sp>
      <p:sp>
        <p:nvSpPr>
          <p:cNvPr id="18" name="TextBox 17"/>
          <p:cNvSpPr txBox="1"/>
          <p:nvPr/>
        </p:nvSpPr>
        <p:spPr>
          <a:xfrm>
            <a:off x="731520" y="5897880"/>
            <a:ext cx="5669280" cy="457200"/>
          </a:xfrm>
          <a:prstGeom prst="rect">
            <a:avLst/>
          </a:prstGeom>
          <a:noFill/>
        </p:spPr>
        <p:txBody>
          <a:bodyPr wrap="square" lIns="45720" rIns="45720">
            <a:spAutoFit/>
          </a:bodyPr>
          <a:lstStyle/>
          <a:p>
            <a:pPr algn="l"/>
            <a:r>
              <a:rPr sz="1100" b="0">
                <a:solidFill>
                  <a:srgbClr val="F5F1E6"/>
                </a:solidFill>
                <a:latin typeface="Calibri"/>
              </a:rPr>
              <a:t>asyncio task in dezelfde event-loop als Shiny</a:t>
            </a:r>
          </a:p>
        </p:txBody>
      </p:sp>
      <p:sp>
        <p:nvSpPr>
          <p:cNvPr id="19" name="TextBox 1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20" name="TextBox 1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10 / 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MESSAGE BROKER (2 / 4)</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Outbox pattern · hr_messages-tabel · durability rationale</a:t>
            </a:r>
          </a:p>
        </p:txBody>
      </p:sp>
      <p:sp>
        <p:nvSpPr>
          <p:cNvPr id="6" name="TextBox 5"/>
          <p:cNvSpPr txBox="1"/>
          <p:nvPr/>
        </p:nvSpPr>
        <p:spPr>
          <a:xfrm>
            <a:off x="548640" y="2194560"/>
            <a:ext cx="5486400" cy="457200"/>
          </a:xfrm>
          <a:prstGeom prst="rect">
            <a:avLst/>
          </a:prstGeom>
          <a:noFill/>
        </p:spPr>
        <p:txBody>
          <a:bodyPr wrap="square" lIns="45720" rIns="45720">
            <a:spAutoFit/>
          </a:bodyPr>
          <a:lstStyle/>
          <a:p>
            <a:pPr algn="l"/>
            <a:r>
              <a:rPr sz="1600" b="1">
                <a:solidFill>
                  <a:srgbClr val="4A5D23"/>
                </a:solidFill>
                <a:latin typeface="Calibri"/>
              </a:rPr>
              <a:t>Waarom twee stappen?</a:t>
            </a:r>
          </a:p>
        </p:txBody>
      </p:sp>
      <p:sp>
        <p:nvSpPr>
          <p:cNvPr id="7" name="TextBox 6"/>
          <p:cNvSpPr txBox="1"/>
          <p:nvPr/>
        </p:nvSpPr>
        <p:spPr>
          <a:xfrm>
            <a:off x="548640" y="2651760"/>
            <a:ext cx="5486400" cy="2377440"/>
          </a:xfrm>
          <a:prstGeom prst="rect">
            <a:avLst/>
          </a:prstGeom>
          <a:noFill/>
        </p:spPr>
        <p:txBody>
          <a:bodyPr wrap="square" lIns="45720" rIns="45720">
            <a:spAutoFit/>
          </a:bodyPr>
          <a:lstStyle/>
          <a:p>
            <a:pPr algn="l"/>
            <a:r>
              <a:rPr sz="1200" b="0">
                <a:solidFill>
                  <a:srgbClr val="222222"/>
                </a:solidFill>
                <a:latin typeface="Calibri"/>
              </a:rPr>
              <a:t>•  asyncio.Queue → send_message blijft non-blocking voor de PTI in de UI</a:t>
            </a:r>
          </a:p>
          <a:p>
            <a:pPr algn="l"/>
            <a:r>
              <a:rPr sz="1200" b="0">
                <a:solidFill>
                  <a:srgbClr val="222222"/>
                </a:solidFill>
                <a:latin typeface="Calibri"/>
              </a:rPr>
              <a:t>•  Stage 1 (DB-write) levert durability — crash tussen enqueue en send overleeft in hr_messages</a:t>
            </a:r>
          </a:p>
          <a:p>
            <a:pPr algn="l"/>
            <a:r>
              <a:rPr sz="1200" b="0">
                <a:solidFill>
                  <a:srgbClr val="222222"/>
                </a:solidFill>
                <a:latin typeface="Calibri"/>
              </a:rPr>
              <a:t>•  Stage 2 (HR-call) is idempotent: bij failure blijft de rij staan; bij succes wordt ze gewist</a:t>
            </a:r>
          </a:p>
          <a:p>
            <a:pPr algn="l"/>
            <a:r>
              <a:rPr sz="1200" b="0">
                <a:solidFill>
                  <a:srgbClr val="222222"/>
                </a:solidFill>
                <a:latin typeface="Calibri"/>
              </a:rPr>
              <a:t>•  At-least-once garantie — HR-systeem moet idempotent zijn of duplicates afhandelen</a:t>
            </a:r>
          </a:p>
        </p:txBody>
      </p:sp>
      <p:sp>
        <p:nvSpPr>
          <p:cNvPr id="8" name="Rounded Rectangle 7"/>
          <p:cNvSpPr/>
          <p:nvPr/>
        </p:nvSpPr>
        <p:spPr>
          <a:xfrm>
            <a:off x="548640" y="5120640"/>
            <a:ext cx="5486400" cy="12801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5257800"/>
            <a:ext cx="5120640" cy="1005840"/>
          </a:xfrm>
          <a:prstGeom prst="rect">
            <a:avLst/>
          </a:prstGeom>
          <a:noFill/>
        </p:spPr>
        <p:txBody>
          <a:bodyPr wrap="square" lIns="45720" rIns="45720">
            <a:spAutoFit/>
          </a:bodyPr>
          <a:lstStyle/>
          <a:p>
            <a:pPr algn="l"/>
            <a:r>
              <a:rPr sz="1100" b="0">
                <a:solidFill>
                  <a:srgbClr val="E6E6E6"/>
                </a:solidFill>
                <a:latin typeface="JetBrains Mono"/>
              </a:rPr>
              <a:t>async def send_message(self, test):</a:t>
            </a:r>
          </a:p>
          <a:p>
            <a:pPr algn="l"/>
            <a:r>
              <a:rPr sz="1100" b="0">
                <a:solidFill>
                  <a:srgbClr val="E6E6E6"/>
                </a:solidFill>
                <a:latin typeface="JetBrains Mono"/>
              </a:rPr>
              <a:t>    dto = _dto_for(test)</a:t>
            </a:r>
          </a:p>
          <a:p>
            <a:pPr algn="l"/>
            <a:r>
              <a:rPr sz="1100" b="0">
                <a:solidFill>
                  <a:srgbClr val="E6E6E6"/>
                </a:solidFill>
                <a:latin typeface="JetBrains Mono"/>
              </a:rPr>
              <a:t>    hr_m = HrMessage(message=json.dumps(dto.to_dict()),</a:t>
            </a:r>
          </a:p>
          <a:p>
            <a:pPr algn="l"/>
            <a:r>
              <a:rPr sz="1100" b="0">
                <a:solidFill>
                  <a:srgbClr val="E6E6E6"/>
                </a:solidFill>
                <a:latin typeface="JetBrains Mono"/>
              </a:rPr>
              <a:t>                     datetime_created=datetime.now())</a:t>
            </a:r>
          </a:p>
          <a:p>
            <a:pPr algn="l"/>
            <a:r>
              <a:rPr sz="1100" b="0">
                <a:solidFill>
                  <a:srgbClr val="E6E6E6"/>
                </a:solidFill>
                <a:latin typeface="JetBrains Mono"/>
              </a:rPr>
              <a:t>    await self._msg_queue.put(hr_m)</a:t>
            </a:r>
          </a:p>
          <a:p>
            <a:pPr algn="l"/>
            <a:endParaRPr sz="1100" b="0">
              <a:solidFill>
                <a:srgbClr val="E6E6E6"/>
              </a:solidFill>
              <a:latin typeface="JetBrains Mono"/>
            </a:endParaRPr>
          </a:p>
        </p:txBody>
      </p:sp>
      <p:sp>
        <p:nvSpPr>
          <p:cNvPr id="10" name="TextBox 9"/>
          <p:cNvSpPr txBox="1"/>
          <p:nvPr/>
        </p:nvSpPr>
        <p:spPr>
          <a:xfrm>
            <a:off x="6400800" y="2194560"/>
            <a:ext cx="5486400" cy="457200"/>
          </a:xfrm>
          <a:prstGeom prst="rect">
            <a:avLst/>
          </a:prstGeom>
          <a:noFill/>
        </p:spPr>
        <p:txBody>
          <a:bodyPr wrap="square" lIns="45720" rIns="45720">
            <a:spAutoFit/>
          </a:bodyPr>
          <a:lstStyle/>
          <a:p>
            <a:pPr algn="l"/>
            <a:r>
              <a:rPr sz="1600" b="1">
                <a:solidFill>
                  <a:srgbClr val="4A5D23"/>
                </a:solidFill>
                <a:latin typeface="Calibri"/>
              </a:rPr>
              <a:t>hr_messages — outbox-tabel</a:t>
            </a:r>
          </a:p>
        </p:txBody>
      </p:sp>
      <p:sp>
        <p:nvSpPr>
          <p:cNvPr id="11" name="Rectangle 10"/>
          <p:cNvSpPr/>
          <p:nvPr/>
        </p:nvSpPr>
        <p:spPr>
          <a:xfrm>
            <a:off x="6400800" y="2651760"/>
            <a:ext cx="2011680" cy="411480"/>
          </a:xfrm>
          <a:prstGeom prst="rect">
            <a:avLst/>
          </a:prstGeom>
          <a:solidFill>
            <a:srgbClr val="334218"/>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697480"/>
            <a:ext cx="1828800" cy="411480"/>
          </a:xfrm>
          <a:prstGeom prst="rect">
            <a:avLst/>
          </a:prstGeom>
          <a:noFill/>
        </p:spPr>
        <p:txBody>
          <a:bodyPr wrap="square" lIns="45720" rIns="45720">
            <a:spAutoFit/>
          </a:bodyPr>
          <a:lstStyle/>
          <a:p>
            <a:pPr algn="l"/>
            <a:r>
              <a:rPr sz="1100" b="1">
                <a:solidFill>
                  <a:srgbClr val="FFFFFF"/>
                </a:solidFill>
                <a:latin typeface="JetBrains Mono"/>
              </a:rPr>
              <a:t>Kolom</a:t>
            </a:r>
          </a:p>
        </p:txBody>
      </p:sp>
      <p:sp>
        <p:nvSpPr>
          <p:cNvPr id="13" name="Rectangle 12"/>
          <p:cNvSpPr/>
          <p:nvPr/>
        </p:nvSpPr>
        <p:spPr>
          <a:xfrm>
            <a:off x="8412480" y="2651760"/>
            <a:ext cx="3474720" cy="411480"/>
          </a:xfrm>
          <a:prstGeom prst="rect">
            <a:avLst/>
          </a:prstGeom>
          <a:solidFill>
            <a:srgbClr val="334218"/>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0" y="2697480"/>
            <a:ext cx="3291840" cy="411480"/>
          </a:xfrm>
          <a:prstGeom prst="rect">
            <a:avLst/>
          </a:prstGeom>
          <a:noFill/>
        </p:spPr>
        <p:txBody>
          <a:bodyPr wrap="square" lIns="45720" rIns="45720">
            <a:spAutoFit/>
          </a:bodyPr>
          <a:lstStyle/>
          <a:p>
            <a:pPr algn="l"/>
            <a:r>
              <a:rPr sz="1100" b="1">
                <a:solidFill>
                  <a:srgbClr val="FFFFFF"/>
                </a:solidFill>
                <a:latin typeface="Calibri"/>
              </a:rPr>
              <a:t>Beschrijving</a:t>
            </a:r>
          </a:p>
        </p:txBody>
      </p:sp>
      <p:sp>
        <p:nvSpPr>
          <p:cNvPr id="15" name="Rectangle 14"/>
          <p:cNvSpPr/>
          <p:nvPr/>
        </p:nvSpPr>
        <p:spPr>
          <a:xfrm>
            <a:off x="6400800" y="3063240"/>
            <a:ext cx="2011680" cy="41148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3108960"/>
            <a:ext cx="1828800" cy="411480"/>
          </a:xfrm>
          <a:prstGeom prst="rect">
            <a:avLst/>
          </a:prstGeom>
          <a:noFill/>
        </p:spPr>
        <p:txBody>
          <a:bodyPr wrap="square" lIns="45720" rIns="45720">
            <a:spAutoFit/>
          </a:bodyPr>
          <a:lstStyle/>
          <a:p>
            <a:pPr algn="l"/>
            <a:r>
              <a:rPr sz="1100" b="0">
                <a:solidFill>
                  <a:srgbClr val="222222"/>
                </a:solidFill>
                <a:latin typeface="JetBrains Mono"/>
              </a:rPr>
              <a:t>message</a:t>
            </a:r>
          </a:p>
        </p:txBody>
      </p:sp>
      <p:sp>
        <p:nvSpPr>
          <p:cNvPr id="17" name="Rectangle 16"/>
          <p:cNvSpPr/>
          <p:nvPr/>
        </p:nvSpPr>
        <p:spPr>
          <a:xfrm>
            <a:off x="8412480" y="3063240"/>
            <a:ext cx="3474720" cy="41148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0" y="3108960"/>
            <a:ext cx="3291840" cy="411480"/>
          </a:xfrm>
          <a:prstGeom prst="rect">
            <a:avLst/>
          </a:prstGeom>
          <a:noFill/>
        </p:spPr>
        <p:txBody>
          <a:bodyPr wrap="square" lIns="45720" rIns="45720">
            <a:spAutoFit/>
          </a:bodyPr>
          <a:lstStyle/>
          <a:p>
            <a:pPr algn="l"/>
            <a:r>
              <a:rPr sz="1100" b="0">
                <a:solidFill>
                  <a:srgbClr val="222222"/>
                </a:solidFill>
                <a:latin typeface="Calibri"/>
              </a:rPr>
              <a:t>JSON-payload</a:t>
            </a:r>
          </a:p>
        </p:txBody>
      </p:sp>
      <p:sp>
        <p:nvSpPr>
          <p:cNvPr id="19" name="Rectangle 18"/>
          <p:cNvSpPr/>
          <p:nvPr/>
        </p:nvSpPr>
        <p:spPr>
          <a:xfrm>
            <a:off x="6400800" y="3474720"/>
            <a:ext cx="2011680" cy="41148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3520440"/>
            <a:ext cx="1828800" cy="411480"/>
          </a:xfrm>
          <a:prstGeom prst="rect">
            <a:avLst/>
          </a:prstGeom>
          <a:noFill/>
        </p:spPr>
        <p:txBody>
          <a:bodyPr wrap="square" lIns="45720" rIns="45720">
            <a:spAutoFit/>
          </a:bodyPr>
          <a:lstStyle/>
          <a:p>
            <a:pPr algn="l"/>
            <a:r>
              <a:rPr sz="1100" b="0">
                <a:solidFill>
                  <a:srgbClr val="222222"/>
                </a:solidFill>
                <a:latin typeface="JetBrains Mono"/>
              </a:rPr>
              <a:t>attempt_count</a:t>
            </a:r>
          </a:p>
        </p:txBody>
      </p:sp>
      <p:sp>
        <p:nvSpPr>
          <p:cNvPr id="21" name="Rectangle 20"/>
          <p:cNvSpPr/>
          <p:nvPr/>
        </p:nvSpPr>
        <p:spPr>
          <a:xfrm>
            <a:off x="8412480" y="3474720"/>
            <a:ext cx="3474720" cy="41148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0" y="3520440"/>
            <a:ext cx="3291840" cy="411480"/>
          </a:xfrm>
          <a:prstGeom prst="rect">
            <a:avLst/>
          </a:prstGeom>
          <a:noFill/>
        </p:spPr>
        <p:txBody>
          <a:bodyPr wrap="square" lIns="45720" rIns="45720">
            <a:spAutoFit/>
          </a:bodyPr>
          <a:lstStyle/>
          <a:p>
            <a:pPr algn="l"/>
            <a:r>
              <a:rPr sz="1100" b="0">
                <a:solidFill>
                  <a:srgbClr val="222222"/>
                </a:solidFill>
                <a:latin typeface="Calibri"/>
              </a:rPr>
              <a:t>Aantal mislukte verzendpogingen</a:t>
            </a:r>
          </a:p>
        </p:txBody>
      </p:sp>
      <p:sp>
        <p:nvSpPr>
          <p:cNvPr id="23" name="Rectangle 22"/>
          <p:cNvSpPr/>
          <p:nvPr/>
        </p:nvSpPr>
        <p:spPr>
          <a:xfrm>
            <a:off x="6400800" y="3886200"/>
            <a:ext cx="2011680" cy="41148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92240" y="3931920"/>
            <a:ext cx="1828800" cy="411480"/>
          </a:xfrm>
          <a:prstGeom prst="rect">
            <a:avLst/>
          </a:prstGeom>
          <a:noFill/>
        </p:spPr>
        <p:txBody>
          <a:bodyPr wrap="square" lIns="45720" rIns="45720">
            <a:spAutoFit/>
          </a:bodyPr>
          <a:lstStyle/>
          <a:p>
            <a:pPr algn="l"/>
            <a:r>
              <a:rPr sz="1100" b="0">
                <a:solidFill>
                  <a:srgbClr val="222222"/>
                </a:solidFill>
                <a:latin typeface="JetBrains Mono"/>
              </a:rPr>
              <a:t>next_retry_at</a:t>
            </a:r>
          </a:p>
        </p:txBody>
      </p:sp>
      <p:sp>
        <p:nvSpPr>
          <p:cNvPr id="25" name="Rectangle 24"/>
          <p:cNvSpPr/>
          <p:nvPr/>
        </p:nvSpPr>
        <p:spPr>
          <a:xfrm>
            <a:off x="8412480" y="3886200"/>
            <a:ext cx="3474720" cy="41148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0" y="3931920"/>
            <a:ext cx="3291840" cy="411480"/>
          </a:xfrm>
          <a:prstGeom prst="rect">
            <a:avLst/>
          </a:prstGeom>
          <a:noFill/>
        </p:spPr>
        <p:txBody>
          <a:bodyPr wrap="square" lIns="45720" rIns="45720">
            <a:spAutoFit/>
          </a:bodyPr>
          <a:lstStyle/>
          <a:p>
            <a:pPr algn="l"/>
            <a:r>
              <a:rPr sz="1100" b="0" dirty="0" err="1">
                <a:solidFill>
                  <a:srgbClr val="222222"/>
                </a:solidFill>
                <a:latin typeface="Calibri"/>
              </a:rPr>
              <a:t>Vroegste</a:t>
            </a:r>
            <a:r>
              <a:rPr sz="1100" b="0" dirty="0">
                <a:solidFill>
                  <a:srgbClr val="222222"/>
                </a:solidFill>
                <a:latin typeface="Calibri"/>
              </a:rPr>
              <a:t> </a:t>
            </a:r>
            <a:r>
              <a:rPr sz="1100" b="0" dirty="0" err="1">
                <a:solidFill>
                  <a:srgbClr val="222222"/>
                </a:solidFill>
                <a:latin typeface="Calibri"/>
              </a:rPr>
              <a:t>tijd</a:t>
            </a:r>
            <a:r>
              <a:rPr sz="1100" b="0" dirty="0">
                <a:solidFill>
                  <a:srgbClr val="222222"/>
                </a:solidFill>
                <a:latin typeface="Calibri"/>
              </a:rPr>
              <a:t> </a:t>
            </a:r>
            <a:r>
              <a:rPr sz="1100" b="0" dirty="0" err="1">
                <a:solidFill>
                  <a:srgbClr val="222222"/>
                </a:solidFill>
                <a:latin typeface="Calibri"/>
              </a:rPr>
              <a:t>waarop</a:t>
            </a:r>
            <a:r>
              <a:rPr sz="1100" b="0" dirty="0">
                <a:solidFill>
                  <a:srgbClr val="222222"/>
                </a:solidFill>
                <a:latin typeface="Calibri"/>
              </a:rPr>
              <a:t> </a:t>
            </a:r>
            <a:r>
              <a:rPr sz="1100" b="0">
                <a:solidFill>
                  <a:srgbClr val="222222"/>
                </a:solidFill>
                <a:latin typeface="Calibri"/>
              </a:rPr>
              <a:t>herpoging</a:t>
            </a:r>
            <a:r>
              <a:rPr sz="1100" b="0" dirty="0">
                <a:solidFill>
                  <a:srgbClr val="222222"/>
                </a:solidFill>
                <a:latin typeface="Calibri"/>
              </a:rPr>
              <a:t> mag</a:t>
            </a:r>
          </a:p>
        </p:txBody>
      </p:sp>
      <p:sp>
        <p:nvSpPr>
          <p:cNvPr id="27" name="Rectangle 26"/>
          <p:cNvSpPr/>
          <p:nvPr/>
        </p:nvSpPr>
        <p:spPr>
          <a:xfrm>
            <a:off x="6400800" y="4297680"/>
            <a:ext cx="2011680" cy="41148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0" y="4343400"/>
            <a:ext cx="1828800" cy="411480"/>
          </a:xfrm>
          <a:prstGeom prst="rect">
            <a:avLst/>
          </a:prstGeom>
          <a:noFill/>
        </p:spPr>
        <p:txBody>
          <a:bodyPr wrap="square" lIns="45720" rIns="45720">
            <a:spAutoFit/>
          </a:bodyPr>
          <a:lstStyle/>
          <a:p>
            <a:pPr algn="l"/>
            <a:r>
              <a:rPr sz="1100" b="0">
                <a:solidFill>
                  <a:srgbClr val="222222"/>
                </a:solidFill>
                <a:latin typeface="JetBrains Mono"/>
              </a:rPr>
              <a:t>dead_letter</a:t>
            </a:r>
          </a:p>
        </p:txBody>
      </p:sp>
      <p:sp>
        <p:nvSpPr>
          <p:cNvPr id="29" name="Rectangle 28"/>
          <p:cNvSpPr/>
          <p:nvPr/>
        </p:nvSpPr>
        <p:spPr>
          <a:xfrm>
            <a:off x="8412480" y="4297680"/>
            <a:ext cx="3474720" cy="41148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3920" y="4343400"/>
            <a:ext cx="3291840" cy="411480"/>
          </a:xfrm>
          <a:prstGeom prst="rect">
            <a:avLst/>
          </a:prstGeom>
          <a:noFill/>
        </p:spPr>
        <p:txBody>
          <a:bodyPr wrap="square" lIns="45720" rIns="45720">
            <a:spAutoFit/>
          </a:bodyPr>
          <a:lstStyle/>
          <a:p>
            <a:pPr algn="l"/>
            <a:r>
              <a:rPr sz="1100" b="0">
                <a:solidFill>
                  <a:srgbClr val="222222"/>
                </a:solidFill>
                <a:latin typeface="Calibri"/>
              </a:rPr>
              <a:t>True zodra max_attempts bereikt</a:t>
            </a:r>
          </a:p>
        </p:txBody>
      </p:sp>
      <p:sp>
        <p:nvSpPr>
          <p:cNvPr id="31" name="Rectangle 30"/>
          <p:cNvSpPr/>
          <p:nvPr/>
        </p:nvSpPr>
        <p:spPr>
          <a:xfrm>
            <a:off x="6400800" y="4709160"/>
            <a:ext cx="2011680" cy="41148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754880"/>
            <a:ext cx="1828800" cy="411480"/>
          </a:xfrm>
          <a:prstGeom prst="rect">
            <a:avLst/>
          </a:prstGeom>
          <a:noFill/>
        </p:spPr>
        <p:txBody>
          <a:bodyPr wrap="square" lIns="45720" rIns="45720">
            <a:spAutoFit/>
          </a:bodyPr>
          <a:lstStyle/>
          <a:p>
            <a:pPr algn="l"/>
            <a:r>
              <a:rPr sz="1100" b="0">
                <a:solidFill>
                  <a:srgbClr val="222222"/>
                </a:solidFill>
                <a:latin typeface="JetBrains Mono"/>
              </a:rPr>
              <a:t>last_error</a:t>
            </a:r>
          </a:p>
        </p:txBody>
      </p:sp>
      <p:sp>
        <p:nvSpPr>
          <p:cNvPr id="33" name="Rectangle 32"/>
          <p:cNvSpPr/>
          <p:nvPr/>
        </p:nvSpPr>
        <p:spPr>
          <a:xfrm>
            <a:off x="8412480" y="4709160"/>
            <a:ext cx="3474720" cy="41148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03920" y="4754880"/>
            <a:ext cx="3291840" cy="411480"/>
          </a:xfrm>
          <a:prstGeom prst="rect">
            <a:avLst/>
          </a:prstGeom>
          <a:noFill/>
        </p:spPr>
        <p:txBody>
          <a:bodyPr wrap="square" lIns="45720" rIns="45720">
            <a:spAutoFit/>
          </a:bodyPr>
          <a:lstStyle/>
          <a:p>
            <a:pPr algn="l"/>
            <a:r>
              <a:rPr sz="1100" b="0">
                <a:solidFill>
                  <a:srgbClr val="222222"/>
                </a:solidFill>
                <a:latin typeface="Calibri"/>
              </a:rPr>
              <a:t>Korte string van de laatste failure</a:t>
            </a:r>
          </a:p>
        </p:txBody>
      </p:sp>
      <p:sp>
        <p:nvSpPr>
          <p:cNvPr id="35" name="Rectangle 34"/>
          <p:cNvSpPr/>
          <p:nvPr/>
        </p:nvSpPr>
        <p:spPr>
          <a:xfrm>
            <a:off x="6400800" y="5120640"/>
            <a:ext cx="2011680" cy="41148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5166360"/>
            <a:ext cx="1828800" cy="411480"/>
          </a:xfrm>
          <a:prstGeom prst="rect">
            <a:avLst/>
          </a:prstGeom>
          <a:noFill/>
        </p:spPr>
        <p:txBody>
          <a:bodyPr wrap="square" lIns="45720" rIns="45720">
            <a:spAutoFit/>
          </a:bodyPr>
          <a:lstStyle/>
          <a:p>
            <a:pPr algn="l"/>
            <a:r>
              <a:rPr sz="1100" b="0">
                <a:solidFill>
                  <a:srgbClr val="222222"/>
                </a:solidFill>
                <a:latin typeface="JetBrains Mono"/>
              </a:rPr>
              <a:t>datetime_created</a:t>
            </a:r>
          </a:p>
        </p:txBody>
      </p:sp>
      <p:sp>
        <p:nvSpPr>
          <p:cNvPr id="37" name="Rectangle 36"/>
          <p:cNvSpPr/>
          <p:nvPr/>
        </p:nvSpPr>
        <p:spPr>
          <a:xfrm>
            <a:off x="8412480" y="5120640"/>
            <a:ext cx="3474720" cy="41148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03920" y="5166360"/>
            <a:ext cx="3291840" cy="411480"/>
          </a:xfrm>
          <a:prstGeom prst="rect">
            <a:avLst/>
          </a:prstGeom>
          <a:noFill/>
        </p:spPr>
        <p:txBody>
          <a:bodyPr wrap="square" lIns="45720" rIns="45720">
            <a:spAutoFit/>
          </a:bodyPr>
          <a:lstStyle/>
          <a:p>
            <a:pPr algn="l"/>
            <a:r>
              <a:rPr sz="1100" b="0">
                <a:solidFill>
                  <a:srgbClr val="222222"/>
                </a:solidFill>
                <a:latin typeface="Calibri"/>
              </a:rPr>
              <a:t>Wanneer enqueued</a:t>
            </a:r>
          </a:p>
        </p:txBody>
      </p:sp>
      <p:sp>
        <p:nvSpPr>
          <p:cNvPr id="39" name="TextBox 3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40" name="TextBox 3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11 / 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MESSAGE BROKER (3 / 4)</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Exponential back-off · dead-letter state · operator email-alert</a:t>
            </a:r>
          </a:p>
        </p:txBody>
      </p:sp>
      <p:sp>
        <p:nvSpPr>
          <p:cNvPr id="6" name="TextBox 5"/>
          <p:cNvSpPr txBox="1"/>
          <p:nvPr/>
        </p:nvSpPr>
        <p:spPr>
          <a:xfrm>
            <a:off x="548640" y="2194560"/>
            <a:ext cx="5486400" cy="457200"/>
          </a:xfrm>
          <a:prstGeom prst="rect">
            <a:avLst/>
          </a:prstGeom>
          <a:noFill/>
        </p:spPr>
        <p:txBody>
          <a:bodyPr wrap="square" lIns="45720" rIns="45720">
            <a:spAutoFit/>
          </a:bodyPr>
          <a:lstStyle/>
          <a:p>
            <a:pPr algn="l"/>
            <a:r>
              <a:rPr sz="1600" b="1">
                <a:solidFill>
                  <a:srgbClr val="4A5D23"/>
                </a:solidFill>
                <a:latin typeface="Calibri"/>
              </a:rPr>
              <a:t>Back-off formule</a:t>
            </a:r>
          </a:p>
        </p:txBody>
      </p:sp>
      <p:sp>
        <p:nvSpPr>
          <p:cNvPr id="7" name="Rounded Rectangle 6"/>
          <p:cNvSpPr/>
          <p:nvPr/>
        </p:nvSpPr>
        <p:spPr>
          <a:xfrm>
            <a:off x="548640" y="2651760"/>
            <a:ext cx="5486400" cy="9144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788920"/>
            <a:ext cx="5120640" cy="640080"/>
          </a:xfrm>
          <a:prstGeom prst="rect">
            <a:avLst/>
          </a:prstGeom>
          <a:noFill/>
        </p:spPr>
        <p:txBody>
          <a:bodyPr wrap="square" lIns="45720" rIns="45720">
            <a:spAutoFit/>
          </a:bodyPr>
          <a:lstStyle/>
          <a:p>
            <a:pPr algn="l"/>
            <a:r>
              <a:rPr sz="1100" b="0" dirty="0" err="1">
                <a:solidFill>
                  <a:srgbClr val="E6E6E6"/>
                </a:solidFill>
                <a:latin typeface="JetBrains Mono"/>
              </a:rPr>
              <a:t>next_retry_at</a:t>
            </a:r>
            <a:r>
              <a:rPr sz="1100" b="0" dirty="0">
                <a:solidFill>
                  <a:srgbClr val="E6E6E6"/>
                </a:solidFill>
                <a:latin typeface="JetBrains Mono"/>
              </a:rPr>
              <a:t> = now + min(</a:t>
            </a:r>
          </a:p>
          <a:p>
            <a:pPr algn="l"/>
            <a:r>
              <a:rPr sz="1100" b="0" dirty="0">
                <a:solidFill>
                  <a:srgbClr val="E6E6E6"/>
                </a:solidFill>
                <a:latin typeface="JetBrains Mono"/>
              </a:rPr>
              <a:t>    </a:t>
            </a:r>
            <a:r>
              <a:rPr sz="1100" b="0" dirty="0" err="1">
                <a:solidFill>
                  <a:srgbClr val="E6E6E6"/>
                </a:solidFill>
                <a:latin typeface="JetBrains Mono"/>
              </a:rPr>
              <a:t>base_backoff_s</a:t>
            </a:r>
            <a:r>
              <a:rPr sz="1100" b="0" dirty="0">
                <a:solidFill>
                  <a:srgbClr val="E6E6E6"/>
                </a:solidFill>
                <a:latin typeface="JetBrains Mono"/>
              </a:rPr>
              <a:t> × 2 ** </a:t>
            </a:r>
            <a:r>
              <a:rPr sz="1100" b="0" dirty="0" err="1">
                <a:solidFill>
                  <a:srgbClr val="E6E6E6"/>
                </a:solidFill>
                <a:latin typeface="JetBrains Mono"/>
              </a:rPr>
              <a:t>attempt_count</a:t>
            </a:r>
            <a:r>
              <a:rPr sz="1100" b="0" dirty="0">
                <a:solidFill>
                  <a:srgbClr val="E6E6E6"/>
                </a:solidFill>
                <a:latin typeface="JetBrains Mono"/>
              </a:rPr>
              <a:t>,</a:t>
            </a:r>
          </a:p>
          <a:p>
            <a:pPr algn="l"/>
            <a:r>
              <a:rPr sz="1100" b="0" dirty="0">
                <a:solidFill>
                  <a:srgbClr val="E6E6E6"/>
                </a:solidFill>
                <a:latin typeface="JetBrains Mono"/>
              </a:rPr>
              <a:t>    </a:t>
            </a:r>
            <a:r>
              <a:rPr sz="1100" b="0" dirty="0" err="1">
                <a:solidFill>
                  <a:srgbClr val="E6E6E6"/>
                </a:solidFill>
                <a:latin typeface="JetBrains Mono"/>
              </a:rPr>
              <a:t>max_backoff_s</a:t>
            </a:r>
            <a:r>
              <a:rPr sz="1100" b="0" dirty="0">
                <a:solidFill>
                  <a:srgbClr val="E6E6E6"/>
                </a:solidFill>
                <a:latin typeface="JetBrains Mono"/>
              </a:rPr>
              <a:t>,</a:t>
            </a:r>
          </a:p>
          <a:p>
            <a:pPr algn="l"/>
            <a:r>
              <a:rPr sz="1100" b="0" dirty="0">
                <a:solidFill>
                  <a:srgbClr val="E6E6E6"/>
                </a:solidFill>
                <a:latin typeface="JetBrains Mono"/>
              </a:rPr>
              <a:t>)</a:t>
            </a:r>
          </a:p>
          <a:p>
            <a:pPr algn="l"/>
            <a:endParaRPr sz="1100" b="0" dirty="0">
              <a:solidFill>
                <a:srgbClr val="E6E6E6"/>
              </a:solidFill>
              <a:latin typeface="JetBrains Mono"/>
            </a:endParaRPr>
          </a:p>
        </p:txBody>
      </p:sp>
      <p:sp>
        <p:nvSpPr>
          <p:cNvPr id="9" name="TextBox 8"/>
          <p:cNvSpPr txBox="1"/>
          <p:nvPr/>
        </p:nvSpPr>
        <p:spPr>
          <a:xfrm>
            <a:off x="548640" y="3749039"/>
            <a:ext cx="5486400" cy="457200"/>
          </a:xfrm>
          <a:prstGeom prst="rect">
            <a:avLst/>
          </a:prstGeom>
          <a:noFill/>
        </p:spPr>
        <p:txBody>
          <a:bodyPr wrap="square" lIns="45720" rIns="45720">
            <a:spAutoFit/>
          </a:bodyPr>
          <a:lstStyle/>
          <a:p>
            <a:pPr algn="l"/>
            <a:r>
              <a:rPr sz="1400" b="1">
                <a:solidFill>
                  <a:srgbClr val="4A5D23"/>
                </a:solidFill>
                <a:latin typeface="Calibri"/>
              </a:rPr>
              <a:t>Configuratie-tunables (ApplicationConfig)</a:t>
            </a:r>
          </a:p>
        </p:txBody>
      </p:sp>
      <p:sp>
        <p:nvSpPr>
          <p:cNvPr id="10" name="Rectangle 9"/>
          <p:cNvSpPr/>
          <p:nvPr/>
        </p:nvSpPr>
        <p:spPr>
          <a:xfrm>
            <a:off x="548640" y="4206240"/>
            <a:ext cx="2194560" cy="292608"/>
          </a:xfrm>
          <a:prstGeom prst="rect">
            <a:avLst/>
          </a:prstGeom>
          <a:solidFill>
            <a:srgbClr val="334218"/>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4224528"/>
            <a:ext cx="2048256" cy="292608"/>
          </a:xfrm>
          <a:prstGeom prst="rect">
            <a:avLst/>
          </a:prstGeom>
          <a:noFill/>
        </p:spPr>
        <p:txBody>
          <a:bodyPr wrap="square" lIns="45720" rIns="45720">
            <a:spAutoFit/>
          </a:bodyPr>
          <a:lstStyle/>
          <a:p>
            <a:pPr algn="l"/>
            <a:r>
              <a:rPr sz="1000" b="1">
                <a:solidFill>
                  <a:srgbClr val="FFFFFF"/>
                </a:solidFill>
                <a:latin typeface="Calibri"/>
              </a:rPr>
              <a:t>Parameter</a:t>
            </a:r>
          </a:p>
        </p:txBody>
      </p:sp>
      <p:sp>
        <p:nvSpPr>
          <p:cNvPr id="12" name="Rectangle 11"/>
          <p:cNvSpPr/>
          <p:nvPr/>
        </p:nvSpPr>
        <p:spPr>
          <a:xfrm>
            <a:off x="2743200" y="4206240"/>
            <a:ext cx="822960" cy="292608"/>
          </a:xfrm>
          <a:prstGeom prst="rect">
            <a:avLst/>
          </a:prstGeom>
          <a:solidFill>
            <a:srgbClr val="334218"/>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16352" y="4224528"/>
            <a:ext cx="676656" cy="292608"/>
          </a:xfrm>
          <a:prstGeom prst="rect">
            <a:avLst/>
          </a:prstGeom>
          <a:noFill/>
        </p:spPr>
        <p:txBody>
          <a:bodyPr wrap="square" lIns="45720" rIns="45720">
            <a:spAutoFit/>
          </a:bodyPr>
          <a:lstStyle/>
          <a:p>
            <a:pPr algn="l"/>
            <a:r>
              <a:rPr sz="1000" b="1">
                <a:solidFill>
                  <a:srgbClr val="FFFFFF"/>
                </a:solidFill>
                <a:latin typeface="Calibri"/>
              </a:rPr>
              <a:t>Default</a:t>
            </a:r>
          </a:p>
        </p:txBody>
      </p:sp>
      <p:sp>
        <p:nvSpPr>
          <p:cNvPr id="14" name="Rectangle 13"/>
          <p:cNvSpPr/>
          <p:nvPr/>
        </p:nvSpPr>
        <p:spPr>
          <a:xfrm>
            <a:off x="3566160" y="4206240"/>
            <a:ext cx="2468880" cy="292608"/>
          </a:xfrm>
          <a:prstGeom prst="rect">
            <a:avLst/>
          </a:prstGeom>
          <a:solidFill>
            <a:srgbClr val="334218"/>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9312" y="4224528"/>
            <a:ext cx="2322576" cy="292608"/>
          </a:xfrm>
          <a:prstGeom prst="rect">
            <a:avLst/>
          </a:prstGeom>
          <a:noFill/>
        </p:spPr>
        <p:txBody>
          <a:bodyPr wrap="square" lIns="45720" rIns="45720">
            <a:spAutoFit/>
          </a:bodyPr>
          <a:lstStyle/>
          <a:p>
            <a:pPr algn="l"/>
            <a:r>
              <a:rPr sz="1000" b="1">
                <a:solidFill>
                  <a:srgbClr val="FFFFFF"/>
                </a:solidFill>
                <a:latin typeface="Calibri"/>
              </a:rPr>
              <a:t>Beschrijving</a:t>
            </a:r>
          </a:p>
        </p:txBody>
      </p:sp>
      <p:sp>
        <p:nvSpPr>
          <p:cNvPr id="16" name="Rectangle 15"/>
          <p:cNvSpPr/>
          <p:nvPr/>
        </p:nvSpPr>
        <p:spPr>
          <a:xfrm>
            <a:off x="548640" y="4498848"/>
            <a:ext cx="219456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 y="4517136"/>
            <a:ext cx="2048256" cy="292608"/>
          </a:xfrm>
          <a:prstGeom prst="rect">
            <a:avLst/>
          </a:prstGeom>
          <a:noFill/>
        </p:spPr>
        <p:txBody>
          <a:bodyPr wrap="square" lIns="45720" rIns="45720">
            <a:spAutoFit/>
          </a:bodyPr>
          <a:lstStyle/>
          <a:p>
            <a:pPr algn="l"/>
            <a:r>
              <a:rPr sz="1000" b="0">
                <a:solidFill>
                  <a:srgbClr val="222222"/>
                </a:solidFill>
                <a:latin typeface="JetBrains Mono"/>
              </a:rPr>
              <a:t>broker_poll_interval_s</a:t>
            </a:r>
          </a:p>
        </p:txBody>
      </p:sp>
      <p:sp>
        <p:nvSpPr>
          <p:cNvPr id="18" name="Rectangle 17"/>
          <p:cNvSpPr/>
          <p:nvPr/>
        </p:nvSpPr>
        <p:spPr>
          <a:xfrm>
            <a:off x="2743200" y="4498848"/>
            <a:ext cx="82296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16352" y="4517136"/>
            <a:ext cx="676656" cy="292608"/>
          </a:xfrm>
          <a:prstGeom prst="rect">
            <a:avLst/>
          </a:prstGeom>
          <a:noFill/>
        </p:spPr>
        <p:txBody>
          <a:bodyPr wrap="square" lIns="45720" rIns="45720">
            <a:spAutoFit/>
          </a:bodyPr>
          <a:lstStyle/>
          <a:p>
            <a:pPr algn="l"/>
            <a:r>
              <a:rPr sz="1000" b="0">
                <a:solidFill>
                  <a:srgbClr val="222222"/>
                </a:solidFill>
                <a:latin typeface="JetBrains Mono"/>
              </a:rPr>
              <a:t>5</a:t>
            </a:r>
          </a:p>
        </p:txBody>
      </p:sp>
      <p:sp>
        <p:nvSpPr>
          <p:cNvPr id="20" name="Rectangle 19"/>
          <p:cNvSpPr/>
          <p:nvPr/>
        </p:nvSpPr>
        <p:spPr>
          <a:xfrm>
            <a:off x="3566160" y="4498848"/>
            <a:ext cx="246888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9312" y="4517136"/>
            <a:ext cx="2322576" cy="292608"/>
          </a:xfrm>
          <a:prstGeom prst="rect">
            <a:avLst/>
          </a:prstGeom>
          <a:noFill/>
        </p:spPr>
        <p:txBody>
          <a:bodyPr wrap="square" lIns="45720" rIns="45720">
            <a:spAutoFit/>
          </a:bodyPr>
          <a:lstStyle/>
          <a:p>
            <a:pPr algn="l"/>
            <a:r>
              <a:rPr sz="1000" b="0">
                <a:solidFill>
                  <a:srgbClr val="222222"/>
                </a:solidFill>
                <a:latin typeface="Calibri"/>
              </a:rPr>
              <a:t>Seconden tussen cycles</a:t>
            </a:r>
          </a:p>
        </p:txBody>
      </p:sp>
      <p:sp>
        <p:nvSpPr>
          <p:cNvPr id="22" name="Rectangle 21"/>
          <p:cNvSpPr/>
          <p:nvPr/>
        </p:nvSpPr>
        <p:spPr>
          <a:xfrm>
            <a:off x="548640" y="4791456"/>
            <a:ext cx="219456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4809744"/>
            <a:ext cx="2048256" cy="292608"/>
          </a:xfrm>
          <a:prstGeom prst="rect">
            <a:avLst/>
          </a:prstGeom>
          <a:noFill/>
        </p:spPr>
        <p:txBody>
          <a:bodyPr wrap="square" lIns="45720" rIns="45720">
            <a:spAutoFit/>
          </a:bodyPr>
          <a:lstStyle/>
          <a:p>
            <a:pPr algn="l"/>
            <a:r>
              <a:rPr sz="1000" b="0">
                <a:solidFill>
                  <a:srgbClr val="222222"/>
                </a:solidFill>
                <a:latin typeface="JetBrains Mono"/>
              </a:rPr>
              <a:t>broker_batch_size</a:t>
            </a:r>
          </a:p>
        </p:txBody>
      </p:sp>
      <p:sp>
        <p:nvSpPr>
          <p:cNvPr id="24" name="Rectangle 23"/>
          <p:cNvSpPr/>
          <p:nvPr/>
        </p:nvSpPr>
        <p:spPr>
          <a:xfrm>
            <a:off x="2743200" y="4791456"/>
            <a:ext cx="82296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16352" y="4809744"/>
            <a:ext cx="676656" cy="292608"/>
          </a:xfrm>
          <a:prstGeom prst="rect">
            <a:avLst/>
          </a:prstGeom>
          <a:noFill/>
        </p:spPr>
        <p:txBody>
          <a:bodyPr wrap="square" lIns="45720" rIns="45720">
            <a:spAutoFit/>
          </a:bodyPr>
          <a:lstStyle/>
          <a:p>
            <a:pPr algn="l"/>
            <a:r>
              <a:rPr sz="1000" b="0">
                <a:solidFill>
                  <a:srgbClr val="222222"/>
                </a:solidFill>
                <a:latin typeface="JetBrains Mono"/>
              </a:rPr>
              <a:t>5</a:t>
            </a:r>
          </a:p>
        </p:txBody>
      </p:sp>
      <p:sp>
        <p:nvSpPr>
          <p:cNvPr id="26" name="Rectangle 25"/>
          <p:cNvSpPr/>
          <p:nvPr/>
        </p:nvSpPr>
        <p:spPr>
          <a:xfrm>
            <a:off x="3566160" y="4791456"/>
            <a:ext cx="246888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39312" y="4809744"/>
            <a:ext cx="2322576" cy="292608"/>
          </a:xfrm>
          <a:prstGeom prst="rect">
            <a:avLst/>
          </a:prstGeom>
          <a:noFill/>
        </p:spPr>
        <p:txBody>
          <a:bodyPr wrap="square" lIns="45720" rIns="45720">
            <a:spAutoFit/>
          </a:bodyPr>
          <a:lstStyle/>
          <a:p>
            <a:pPr algn="l"/>
            <a:r>
              <a:rPr sz="1000" b="0">
                <a:solidFill>
                  <a:srgbClr val="222222"/>
                </a:solidFill>
                <a:latin typeface="Calibri"/>
              </a:rPr>
              <a:t>Max berichten per cycle</a:t>
            </a:r>
          </a:p>
        </p:txBody>
      </p:sp>
      <p:sp>
        <p:nvSpPr>
          <p:cNvPr id="28" name="Rectangle 27"/>
          <p:cNvSpPr/>
          <p:nvPr/>
        </p:nvSpPr>
        <p:spPr>
          <a:xfrm>
            <a:off x="548640" y="5084064"/>
            <a:ext cx="219456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 y="5102352"/>
            <a:ext cx="2048256" cy="292608"/>
          </a:xfrm>
          <a:prstGeom prst="rect">
            <a:avLst/>
          </a:prstGeom>
          <a:noFill/>
        </p:spPr>
        <p:txBody>
          <a:bodyPr wrap="square" lIns="45720" rIns="45720">
            <a:spAutoFit/>
          </a:bodyPr>
          <a:lstStyle/>
          <a:p>
            <a:pPr algn="l"/>
            <a:r>
              <a:rPr sz="1000" b="0">
                <a:solidFill>
                  <a:srgbClr val="222222"/>
                </a:solidFill>
                <a:latin typeface="JetBrains Mono"/>
              </a:rPr>
              <a:t>broker_max_attempts</a:t>
            </a:r>
          </a:p>
        </p:txBody>
      </p:sp>
      <p:sp>
        <p:nvSpPr>
          <p:cNvPr id="30" name="Rectangle 29"/>
          <p:cNvSpPr/>
          <p:nvPr/>
        </p:nvSpPr>
        <p:spPr>
          <a:xfrm>
            <a:off x="2743200" y="5084064"/>
            <a:ext cx="82296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816352" y="5102352"/>
            <a:ext cx="676656" cy="292608"/>
          </a:xfrm>
          <a:prstGeom prst="rect">
            <a:avLst/>
          </a:prstGeom>
          <a:noFill/>
        </p:spPr>
        <p:txBody>
          <a:bodyPr wrap="square" lIns="45720" rIns="45720">
            <a:spAutoFit/>
          </a:bodyPr>
          <a:lstStyle/>
          <a:p>
            <a:pPr algn="l"/>
            <a:r>
              <a:rPr sz="1000" b="0">
                <a:solidFill>
                  <a:srgbClr val="222222"/>
                </a:solidFill>
                <a:latin typeface="JetBrains Mono"/>
              </a:rPr>
              <a:t>10</a:t>
            </a:r>
          </a:p>
        </p:txBody>
      </p:sp>
      <p:sp>
        <p:nvSpPr>
          <p:cNvPr id="32" name="Rectangle 31"/>
          <p:cNvSpPr/>
          <p:nvPr/>
        </p:nvSpPr>
        <p:spPr>
          <a:xfrm>
            <a:off x="3566160" y="5084064"/>
            <a:ext cx="246888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39312" y="5102352"/>
            <a:ext cx="2322576" cy="292608"/>
          </a:xfrm>
          <a:prstGeom prst="rect">
            <a:avLst/>
          </a:prstGeom>
          <a:noFill/>
        </p:spPr>
        <p:txBody>
          <a:bodyPr wrap="square" lIns="45720" rIns="45720">
            <a:spAutoFit/>
          </a:bodyPr>
          <a:lstStyle/>
          <a:p>
            <a:pPr algn="l"/>
            <a:r>
              <a:rPr sz="1000" b="0">
                <a:solidFill>
                  <a:srgbClr val="222222"/>
                </a:solidFill>
                <a:latin typeface="Calibri"/>
              </a:rPr>
              <a:t>Pogingen vóór dead-letter</a:t>
            </a:r>
          </a:p>
        </p:txBody>
      </p:sp>
      <p:sp>
        <p:nvSpPr>
          <p:cNvPr id="34" name="Rectangle 33"/>
          <p:cNvSpPr/>
          <p:nvPr/>
        </p:nvSpPr>
        <p:spPr>
          <a:xfrm>
            <a:off x="548640" y="5376672"/>
            <a:ext cx="219456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1792" y="5394960"/>
            <a:ext cx="2048256" cy="292608"/>
          </a:xfrm>
          <a:prstGeom prst="rect">
            <a:avLst/>
          </a:prstGeom>
          <a:noFill/>
        </p:spPr>
        <p:txBody>
          <a:bodyPr wrap="square" lIns="45720" rIns="45720">
            <a:spAutoFit/>
          </a:bodyPr>
          <a:lstStyle/>
          <a:p>
            <a:pPr algn="l"/>
            <a:r>
              <a:rPr sz="1000" b="0">
                <a:solidFill>
                  <a:srgbClr val="222222"/>
                </a:solidFill>
                <a:latin typeface="JetBrains Mono"/>
              </a:rPr>
              <a:t>broker_base_backoff_s</a:t>
            </a:r>
          </a:p>
        </p:txBody>
      </p:sp>
      <p:sp>
        <p:nvSpPr>
          <p:cNvPr id="36" name="Rectangle 35"/>
          <p:cNvSpPr/>
          <p:nvPr/>
        </p:nvSpPr>
        <p:spPr>
          <a:xfrm>
            <a:off x="2743200" y="5376672"/>
            <a:ext cx="82296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816352" y="5394960"/>
            <a:ext cx="676656" cy="292608"/>
          </a:xfrm>
          <a:prstGeom prst="rect">
            <a:avLst/>
          </a:prstGeom>
          <a:noFill/>
        </p:spPr>
        <p:txBody>
          <a:bodyPr wrap="square" lIns="45720" rIns="45720">
            <a:spAutoFit/>
          </a:bodyPr>
          <a:lstStyle/>
          <a:p>
            <a:pPr algn="l"/>
            <a:r>
              <a:rPr sz="1000" b="0">
                <a:solidFill>
                  <a:srgbClr val="222222"/>
                </a:solidFill>
                <a:latin typeface="JetBrains Mono"/>
              </a:rPr>
              <a:t>5</a:t>
            </a:r>
          </a:p>
        </p:txBody>
      </p:sp>
      <p:sp>
        <p:nvSpPr>
          <p:cNvPr id="38" name="Rectangle 37"/>
          <p:cNvSpPr/>
          <p:nvPr/>
        </p:nvSpPr>
        <p:spPr>
          <a:xfrm>
            <a:off x="3566160" y="5376672"/>
            <a:ext cx="246888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39312" y="5394960"/>
            <a:ext cx="2322576" cy="292608"/>
          </a:xfrm>
          <a:prstGeom prst="rect">
            <a:avLst/>
          </a:prstGeom>
          <a:noFill/>
        </p:spPr>
        <p:txBody>
          <a:bodyPr wrap="square" lIns="45720" rIns="45720">
            <a:spAutoFit/>
          </a:bodyPr>
          <a:lstStyle/>
          <a:p>
            <a:pPr algn="l"/>
            <a:r>
              <a:rPr sz="1000" b="0">
                <a:solidFill>
                  <a:srgbClr val="222222"/>
                </a:solidFill>
                <a:latin typeface="Calibri"/>
              </a:rPr>
              <a:t>Minimum back-off (s)</a:t>
            </a:r>
          </a:p>
        </p:txBody>
      </p:sp>
      <p:sp>
        <p:nvSpPr>
          <p:cNvPr id="40" name="Rectangle 39"/>
          <p:cNvSpPr/>
          <p:nvPr/>
        </p:nvSpPr>
        <p:spPr>
          <a:xfrm>
            <a:off x="548640" y="5669280"/>
            <a:ext cx="219456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1792" y="5687568"/>
            <a:ext cx="2048256" cy="292608"/>
          </a:xfrm>
          <a:prstGeom prst="rect">
            <a:avLst/>
          </a:prstGeom>
          <a:noFill/>
        </p:spPr>
        <p:txBody>
          <a:bodyPr wrap="square" lIns="45720" rIns="45720">
            <a:spAutoFit/>
          </a:bodyPr>
          <a:lstStyle/>
          <a:p>
            <a:pPr algn="l"/>
            <a:r>
              <a:rPr sz="1000" b="0">
                <a:solidFill>
                  <a:srgbClr val="222222"/>
                </a:solidFill>
                <a:latin typeface="JetBrains Mono"/>
              </a:rPr>
              <a:t>broker_max_backoff_s</a:t>
            </a:r>
          </a:p>
        </p:txBody>
      </p:sp>
      <p:sp>
        <p:nvSpPr>
          <p:cNvPr id="42" name="Rectangle 41"/>
          <p:cNvSpPr/>
          <p:nvPr/>
        </p:nvSpPr>
        <p:spPr>
          <a:xfrm>
            <a:off x="2743200" y="5669280"/>
            <a:ext cx="82296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816352" y="5687568"/>
            <a:ext cx="676656" cy="292608"/>
          </a:xfrm>
          <a:prstGeom prst="rect">
            <a:avLst/>
          </a:prstGeom>
          <a:noFill/>
        </p:spPr>
        <p:txBody>
          <a:bodyPr wrap="square" lIns="45720" rIns="45720">
            <a:spAutoFit/>
          </a:bodyPr>
          <a:lstStyle/>
          <a:p>
            <a:pPr algn="l"/>
            <a:r>
              <a:rPr sz="1000" b="0">
                <a:solidFill>
                  <a:srgbClr val="222222"/>
                </a:solidFill>
                <a:latin typeface="JetBrains Mono"/>
              </a:rPr>
              <a:t>600</a:t>
            </a:r>
          </a:p>
        </p:txBody>
      </p:sp>
      <p:sp>
        <p:nvSpPr>
          <p:cNvPr id="44" name="Rectangle 43"/>
          <p:cNvSpPr/>
          <p:nvPr/>
        </p:nvSpPr>
        <p:spPr>
          <a:xfrm>
            <a:off x="3566160" y="5669280"/>
            <a:ext cx="2468880" cy="292608"/>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639312" y="5687568"/>
            <a:ext cx="2322576" cy="292608"/>
          </a:xfrm>
          <a:prstGeom prst="rect">
            <a:avLst/>
          </a:prstGeom>
          <a:noFill/>
        </p:spPr>
        <p:txBody>
          <a:bodyPr wrap="square" lIns="45720" rIns="45720">
            <a:spAutoFit/>
          </a:bodyPr>
          <a:lstStyle/>
          <a:p>
            <a:pPr algn="l"/>
            <a:r>
              <a:rPr sz="1000" b="0">
                <a:solidFill>
                  <a:srgbClr val="222222"/>
                </a:solidFill>
                <a:latin typeface="Calibri"/>
              </a:rPr>
              <a:t>Maximum back-off (s)</a:t>
            </a:r>
          </a:p>
        </p:txBody>
      </p:sp>
      <p:sp>
        <p:nvSpPr>
          <p:cNvPr id="46" name="Rectangle 45"/>
          <p:cNvSpPr/>
          <p:nvPr/>
        </p:nvSpPr>
        <p:spPr>
          <a:xfrm>
            <a:off x="548640" y="5961888"/>
            <a:ext cx="219456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1792" y="5980176"/>
            <a:ext cx="2048256" cy="292608"/>
          </a:xfrm>
          <a:prstGeom prst="rect">
            <a:avLst/>
          </a:prstGeom>
          <a:noFill/>
        </p:spPr>
        <p:txBody>
          <a:bodyPr wrap="square" lIns="45720" rIns="45720">
            <a:spAutoFit/>
          </a:bodyPr>
          <a:lstStyle/>
          <a:p>
            <a:pPr algn="l"/>
            <a:r>
              <a:rPr sz="1000" b="0">
                <a:solidFill>
                  <a:srgbClr val="222222"/>
                </a:solidFill>
                <a:latin typeface="JetBrains Mono"/>
              </a:rPr>
              <a:t>broker_alert_email</a:t>
            </a:r>
          </a:p>
        </p:txBody>
      </p:sp>
      <p:sp>
        <p:nvSpPr>
          <p:cNvPr id="48" name="Rectangle 47"/>
          <p:cNvSpPr/>
          <p:nvPr/>
        </p:nvSpPr>
        <p:spPr>
          <a:xfrm>
            <a:off x="2743200" y="5961888"/>
            <a:ext cx="82296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816352" y="5980176"/>
            <a:ext cx="676656" cy="292608"/>
          </a:xfrm>
          <a:prstGeom prst="rect">
            <a:avLst/>
          </a:prstGeom>
          <a:noFill/>
        </p:spPr>
        <p:txBody>
          <a:bodyPr wrap="square" lIns="45720" rIns="45720">
            <a:spAutoFit/>
          </a:bodyPr>
          <a:lstStyle/>
          <a:p>
            <a:pPr algn="l"/>
            <a:r>
              <a:rPr sz="1000" b="0">
                <a:solidFill>
                  <a:srgbClr val="222222"/>
                </a:solidFill>
                <a:latin typeface="JetBrains Mono"/>
              </a:rPr>
              <a:t>""</a:t>
            </a:r>
          </a:p>
        </p:txBody>
      </p:sp>
      <p:sp>
        <p:nvSpPr>
          <p:cNvPr id="50" name="Rectangle 49"/>
          <p:cNvSpPr/>
          <p:nvPr/>
        </p:nvSpPr>
        <p:spPr>
          <a:xfrm>
            <a:off x="3566160" y="5961888"/>
            <a:ext cx="2468880" cy="292608"/>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39312" y="5980176"/>
            <a:ext cx="2322576" cy="292608"/>
          </a:xfrm>
          <a:prstGeom prst="rect">
            <a:avLst/>
          </a:prstGeom>
          <a:noFill/>
        </p:spPr>
        <p:txBody>
          <a:bodyPr wrap="square" lIns="45720" rIns="45720">
            <a:spAutoFit/>
          </a:bodyPr>
          <a:lstStyle/>
          <a:p>
            <a:pPr algn="l"/>
            <a:r>
              <a:rPr sz="1000" b="0">
                <a:solidFill>
                  <a:srgbClr val="222222"/>
                </a:solidFill>
                <a:latin typeface="Calibri"/>
              </a:rPr>
              <a:t>Adres voor dead-letter alert</a:t>
            </a:r>
          </a:p>
        </p:txBody>
      </p:sp>
      <p:sp>
        <p:nvSpPr>
          <p:cNvPr id="52" name="TextBox 51"/>
          <p:cNvSpPr txBox="1"/>
          <p:nvPr/>
        </p:nvSpPr>
        <p:spPr>
          <a:xfrm>
            <a:off x="6400800" y="2194560"/>
            <a:ext cx="5486400" cy="457200"/>
          </a:xfrm>
          <a:prstGeom prst="rect">
            <a:avLst/>
          </a:prstGeom>
          <a:noFill/>
        </p:spPr>
        <p:txBody>
          <a:bodyPr wrap="square" lIns="45720" rIns="45720">
            <a:spAutoFit/>
          </a:bodyPr>
          <a:lstStyle/>
          <a:p>
            <a:pPr algn="l"/>
            <a:r>
              <a:rPr sz="1600" b="1">
                <a:solidFill>
                  <a:srgbClr val="4A5D23"/>
                </a:solidFill>
                <a:latin typeface="Calibri"/>
              </a:rPr>
              <a:t>State-machine per bericht</a:t>
            </a:r>
          </a:p>
        </p:txBody>
      </p:sp>
      <p:sp>
        <p:nvSpPr>
          <p:cNvPr id="53" name="Rounded Rectangle 52"/>
          <p:cNvSpPr/>
          <p:nvPr/>
        </p:nvSpPr>
        <p:spPr>
          <a:xfrm>
            <a:off x="6400800" y="2743200"/>
            <a:ext cx="1828800" cy="640080"/>
          </a:xfrm>
          <a:prstGeom prst="round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0" y="2907792"/>
            <a:ext cx="1828800" cy="640080"/>
          </a:xfrm>
          <a:prstGeom prst="rect">
            <a:avLst/>
          </a:prstGeom>
          <a:noFill/>
        </p:spPr>
        <p:txBody>
          <a:bodyPr wrap="square" lIns="45720" rIns="45720">
            <a:spAutoFit/>
          </a:bodyPr>
          <a:lstStyle/>
          <a:p>
            <a:pPr algn="ctr"/>
            <a:r>
              <a:rPr sz="1200" b="1">
                <a:solidFill>
                  <a:srgbClr val="FFFFFF"/>
                </a:solidFill>
                <a:latin typeface="Calibri"/>
              </a:rPr>
              <a:t>pending</a:t>
            </a:r>
          </a:p>
        </p:txBody>
      </p:sp>
      <p:sp>
        <p:nvSpPr>
          <p:cNvPr id="55" name="Rounded Rectangle 54"/>
          <p:cNvSpPr/>
          <p:nvPr/>
        </p:nvSpPr>
        <p:spPr>
          <a:xfrm>
            <a:off x="8458200" y="2734056"/>
            <a:ext cx="1828800" cy="6400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686800" y="2907792"/>
            <a:ext cx="1600200" cy="276999"/>
          </a:xfrm>
          <a:prstGeom prst="rect">
            <a:avLst/>
          </a:prstGeom>
          <a:noFill/>
        </p:spPr>
        <p:txBody>
          <a:bodyPr wrap="square" lIns="45720" rIns="45720">
            <a:spAutoFit/>
          </a:bodyPr>
          <a:lstStyle/>
          <a:p>
            <a:pPr algn="ctr"/>
            <a:r>
              <a:rPr sz="1200" b="1" dirty="0">
                <a:solidFill>
                  <a:srgbClr val="FFFFFF"/>
                </a:solidFill>
                <a:latin typeface="Calibri"/>
              </a:rPr>
              <a:t>retrying</a:t>
            </a:r>
          </a:p>
        </p:txBody>
      </p:sp>
      <p:sp>
        <p:nvSpPr>
          <p:cNvPr id="57" name="Rounded Rectangle 56"/>
          <p:cNvSpPr/>
          <p:nvPr/>
        </p:nvSpPr>
        <p:spPr>
          <a:xfrm>
            <a:off x="10515600" y="2743200"/>
            <a:ext cx="1371600" cy="640080"/>
          </a:xfrm>
          <a:prstGeom prst="round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515600" y="2907792"/>
            <a:ext cx="1371600" cy="640080"/>
          </a:xfrm>
          <a:prstGeom prst="rect">
            <a:avLst/>
          </a:prstGeom>
          <a:noFill/>
        </p:spPr>
        <p:txBody>
          <a:bodyPr wrap="square" lIns="45720" rIns="45720">
            <a:spAutoFit/>
          </a:bodyPr>
          <a:lstStyle/>
          <a:p>
            <a:pPr algn="ctr"/>
            <a:r>
              <a:rPr sz="1200" b="1">
                <a:solidFill>
                  <a:srgbClr val="FFFFFF"/>
                </a:solidFill>
                <a:latin typeface="Calibri"/>
              </a:rPr>
              <a:t>success</a:t>
            </a:r>
          </a:p>
        </p:txBody>
      </p:sp>
      <p:sp>
        <p:nvSpPr>
          <p:cNvPr id="59" name="Rounded Rectangle 58"/>
          <p:cNvSpPr/>
          <p:nvPr/>
        </p:nvSpPr>
        <p:spPr>
          <a:xfrm>
            <a:off x="8534400" y="3852303"/>
            <a:ext cx="1828800" cy="64008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595360" y="4003157"/>
            <a:ext cx="1828800" cy="640080"/>
          </a:xfrm>
          <a:prstGeom prst="rect">
            <a:avLst/>
          </a:prstGeom>
          <a:noFill/>
        </p:spPr>
        <p:txBody>
          <a:bodyPr wrap="square" lIns="45720" rIns="45720">
            <a:spAutoFit/>
          </a:bodyPr>
          <a:lstStyle/>
          <a:p>
            <a:pPr algn="ctr"/>
            <a:r>
              <a:rPr sz="1200" b="1" dirty="0" err="1">
                <a:solidFill>
                  <a:srgbClr val="FFFFFF"/>
                </a:solidFill>
                <a:latin typeface="Calibri"/>
              </a:rPr>
              <a:t>dead_letter</a:t>
            </a:r>
            <a:endParaRPr sz="1200" b="1" dirty="0">
              <a:solidFill>
                <a:srgbClr val="FFFFFF"/>
              </a:solidFill>
              <a:latin typeface="Calibri"/>
            </a:endParaRPr>
          </a:p>
        </p:txBody>
      </p:sp>
      <p:sp>
        <p:nvSpPr>
          <p:cNvPr id="61" name="TextBox 60"/>
          <p:cNvSpPr txBox="1"/>
          <p:nvPr/>
        </p:nvSpPr>
        <p:spPr>
          <a:xfrm>
            <a:off x="8161020" y="2808909"/>
            <a:ext cx="457200" cy="548640"/>
          </a:xfrm>
          <a:prstGeom prst="rect">
            <a:avLst/>
          </a:prstGeom>
          <a:noFill/>
        </p:spPr>
        <p:txBody>
          <a:bodyPr wrap="square" lIns="45720" rIns="45720">
            <a:spAutoFit/>
          </a:bodyPr>
          <a:lstStyle/>
          <a:p>
            <a:pPr algn="l"/>
            <a:r>
              <a:rPr sz="2400" b="1" dirty="0">
                <a:solidFill>
                  <a:srgbClr val="222222"/>
                </a:solidFill>
                <a:latin typeface="Calibri"/>
              </a:rPr>
              <a:t>→</a:t>
            </a:r>
          </a:p>
        </p:txBody>
      </p:sp>
      <p:sp>
        <p:nvSpPr>
          <p:cNvPr id="62" name="TextBox 61"/>
          <p:cNvSpPr txBox="1"/>
          <p:nvPr/>
        </p:nvSpPr>
        <p:spPr>
          <a:xfrm>
            <a:off x="10195560" y="2788920"/>
            <a:ext cx="457200" cy="548640"/>
          </a:xfrm>
          <a:prstGeom prst="rect">
            <a:avLst/>
          </a:prstGeom>
          <a:noFill/>
        </p:spPr>
        <p:txBody>
          <a:bodyPr wrap="square" lIns="45720" rIns="45720">
            <a:spAutoFit/>
          </a:bodyPr>
          <a:lstStyle/>
          <a:p>
            <a:pPr algn="l"/>
            <a:r>
              <a:rPr sz="2400" b="1" dirty="0">
                <a:solidFill>
                  <a:srgbClr val="222222"/>
                </a:solidFill>
                <a:latin typeface="Calibri"/>
              </a:rPr>
              <a:t>→</a:t>
            </a:r>
          </a:p>
        </p:txBody>
      </p:sp>
      <p:sp>
        <p:nvSpPr>
          <p:cNvPr id="63" name="TextBox 62"/>
          <p:cNvSpPr txBox="1"/>
          <p:nvPr/>
        </p:nvSpPr>
        <p:spPr>
          <a:xfrm>
            <a:off x="9297109" y="3367671"/>
            <a:ext cx="457200" cy="548640"/>
          </a:xfrm>
          <a:prstGeom prst="rect">
            <a:avLst/>
          </a:prstGeom>
          <a:noFill/>
        </p:spPr>
        <p:txBody>
          <a:bodyPr wrap="square" lIns="45720" rIns="45720">
            <a:spAutoFit/>
          </a:bodyPr>
          <a:lstStyle/>
          <a:p>
            <a:pPr algn="l"/>
            <a:r>
              <a:rPr sz="2400" b="1" dirty="0">
                <a:solidFill>
                  <a:srgbClr val="222222"/>
                </a:solidFill>
                <a:latin typeface="Calibri"/>
              </a:rPr>
              <a:t>↓</a:t>
            </a:r>
          </a:p>
        </p:txBody>
      </p:sp>
      <p:sp>
        <p:nvSpPr>
          <p:cNvPr id="64" name="TextBox 63"/>
          <p:cNvSpPr txBox="1"/>
          <p:nvPr/>
        </p:nvSpPr>
        <p:spPr>
          <a:xfrm>
            <a:off x="6400800" y="4754880"/>
            <a:ext cx="5486400" cy="1645920"/>
          </a:xfrm>
          <a:prstGeom prst="rect">
            <a:avLst/>
          </a:prstGeom>
          <a:noFill/>
        </p:spPr>
        <p:txBody>
          <a:bodyPr wrap="square" lIns="45720" rIns="45720">
            <a:spAutoFit/>
          </a:bodyPr>
          <a:lstStyle/>
          <a:p>
            <a:pPr algn="l"/>
            <a:r>
              <a:rPr sz="1100" b="0">
                <a:solidFill>
                  <a:srgbClr val="222222"/>
                </a:solidFill>
                <a:latin typeface="Calibri"/>
              </a:rPr>
              <a:t>•  Dead-letter → _send_dead_letter_alert(): HTML-mail naar broker_alert_email via NotifyMail</a:t>
            </a:r>
          </a:p>
          <a:p>
            <a:pPr algn="l"/>
            <a:r>
              <a:rPr sz="1100" b="0">
                <a:solidFill>
                  <a:srgbClr val="222222"/>
                </a:solidFill>
                <a:latin typeface="Calibri"/>
              </a:rPr>
              <a:t>•  Best-effort: e-mail failure wordt gelogd maar stopt de broker niet</a:t>
            </a:r>
          </a:p>
          <a:p>
            <a:pPr algn="l"/>
            <a:r>
              <a:rPr sz="1100" b="0">
                <a:solidFill>
                  <a:srgbClr val="222222"/>
                </a:solidFill>
                <a:latin typeface="Calibri"/>
              </a:rPr>
              <a:t>•  Alert bevat message_id, attempts, last_error + reset-instructie</a:t>
            </a:r>
          </a:p>
        </p:txBody>
      </p:sp>
      <p:sp>
        <p:nvSpPr>
          <p:cNvPr id="65" name="TextBox 64"/>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66" name="TextBox 65"/>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12 / 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MESSAGE BROKER (4 / 4)</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Test-type → DTO dispatch · BEMILService transport</a:t>
            </a:r>
          </a:p>
        </p:txBody>
      </p:sp>
      <p:sp>
        <p:nvSpPr>
          <p:cNvPr id="6" name="Rounded Rectangle 5"/>
          <p:cNvSpPr/>
          <p:nvPr/>
        </p:nvSpPr>
        <p:spPr>
          <a:xfrm>
            <a:off x="548640" y="2194560"/>
            <a:ext cx="6400800" cy="40233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331720"/>
            <a:ext cx="6035040" cy="3749040"/>
          </a:xfrm>
          <a:prstGeom prst="rect">
            <a:avLst/>
          </a:prstGeom>
          <a:noFill/>
        </p:spPr>
        <p:txBody>
          <a:bodyPr wrap="square" lIns="45720" rIns="45720">
            <a:spAutoFit/>
          </a:bodyPr>
          <a:lstStyle/>
          <a:p>
            <a:pPr algn="l"/>
            <a:r>
              <a:rPr sz="1100" b="0">
                <a:solidFill>
                  <a:srgbClr val="E6E6E6"/>
                </a:solidFill>
                <a:latin typeface="JetBrains Mono"/>
              </a:rPr>
              <a:t>async def send_message(self, test: FitnessTest | March):</a:t>
            </a:r>
          </a:p>
          <a:p>
            <a:pPr algn="l"/>
            <a:r>
              <a:rPr sz="1100" b="0">
                <a:solidFill>
                  <a:srgbClr val="E6E6E6"/>
                </a:solidFill>
                <a:latin typeface="JetBrains Mono"/>
              </a:rPr>
              <a:t>    if isinstance(test, PhefTest):</a:t>
            </a:r>
          </a:p>
          <a:p>
            <a:pPr algn="l"/>
            <a:r>
              <a:rPr sz="1100" b="0">
                <a:solidFill>
                  <a:srgbClr val="E6E6E6"/>
                </a:solidFill>
                <a:latin typeface="JetBrains Mono"/>
              </a:rPr>
              <a:t>        dto = PhefTestDto(test)</a:t>
            </a:r>
          </a:p>
          <a:p>
            <a:pPr algn="l"/>
            <a:r>
              <a:rPr sz="1100" b="0">
                <a:solidFill>
                  <a:srgbClr val="E6E6E6"/>
                </a:solidFill>
                <a:latin typeface="JetBrains Mono"/>
              </a:rPr>
              <a:t>    elif isinstance(test, CombatTestParatrooper):</a:t>
            </a:r>
          </a:p>
          <a:p>
            <a:pPr algn="l"/>
            <a:r>
              <a:rPr sz="1100" b="0">
                <a:solidFill>
                  <a:srgbClr val="E6E6E6"/>
                </a:solidFill>
                <a:latin typeface="JetBrains Mono"/>
              </a:rPr>
              <a:t>        dto = CombatTestDto(test)</a:t>
            </a:r>
          </a:p>
          <a:p>
            <a:pPr algn="l"/>
            <a:r>
              <a:rPr sz="1100" b="0">
                <a:solidFill>
                  <a:srgbClr val="E6E6E6"/>
                </a:solidFill>
                <a:latin typeface="JetBrains Mono"/>
              </a:rPr>
              <a:t>    elif isinstance(test, CombatSwimmingTest):</a:t>
            </a:r>
          </a:p>
          <a:p>
            <a:pPr algn="l"/>
            <a:r>
              <a:rPr sz="1100" b="0">
                <a:solidFill>
                  <a:srgbClr val="E6E6E6"/>
                </a:solidFill>
                <a:latin typeface="JetBrains Mono"/>
              </a:rPr>
              <a:t>        dto = CombatSwimTestDto(test)</a:t>
            </a:r>
          </a:p>
          <a:p>
            <a:pPr algn="l"/>
            <a:r>
              <a:rPr sz="1100" b="0">
                <a:solidFill>
                  <a:srgbClr val="E6E6E6"/>
                </a:solidFill>
                <a:latin typeface="JetBrains Mono"/>
              </a:rPr>
              <a:t>    elif isinstance(test, March):</a:t>
            </a:r>
          </a:p>
          <a:p>
            <a:pPr algn="l"/>
            <a:r>
              <a:rPr sz="1100" b="0">
                <a:solidFill>
                  <a:srgbClr val="E6E6E6"/>
                </a:solidFill>
                <a:latin typeface="JetBrains Mono"/>
              </a:rPr>
              <a:t>        dto = MarchTestDto(test)</a:t>
            </a:r>
          </a:p>
          <a:p>
            <a:pPr algn="l"/>
            <a:r>
              <a:rPr sz="1100" b="0">
                <a:solidFill>
                  <a:srgbClr val="E6E6E6"/>
                </a:solidFill>
                <a:latin typeface="JetBrains Mono"/>
              </a:rPr>
              <a:t>    elif isinstance(test, FunctionalTest):</a:t>
            </a:r>
          </a:p>
          <a:p>
            <a:pPr algn="l"/>
            <a:r>
              <a:rPr sz="1100" b="0">
                <a:solidFill>
                  <a:srgbClr val="E6E6E6"/>
                </a:solidFill>
                <a:latin typeface="JetBrains Mono"/>
              </a:rPr>
              <a:t>        dto = FunctionalTestDto(test)</a:t>
            </a:r>
          </a:p>
          <a:p>
            <a:pPr algn="l"/>
            <a:r>
              <a:rPr sz="1100" b="0">
                <a:solidFill>
                  <a:srgbClr val="E6E6E6"/>
                </a:solidFill>
                <a:latin typeface="JetBrains Mono"/>
              </a:rPr>
              <a:t>    elif isinstance(test, MfftEvalTest):          # 2026-06</a:t>
            </a:r>
          </a:p>
          <a:p>
            <a:pPr algn="l"/>
            <a:r>
              <a:rPr sz="1100" b="0">
                <a:solidFill>
                  <a:srgbClr val="E6E6E6"/>
                </a:solidFill>
                <a:latin typeface="JetBrains Mono"/>
              </a:rPr>
              <a:t>        dto = MfftEvalTestDto(test)</a:t>
            </a:r>
          </a:p>
          <a:p>
            <a:pPr algn="l"/>
            <a:r>
              <a:rPr sz="1100" b="0">
                <a:solidFill>
                  <a:srgbClr val="E6E6E6"/>
                </a:solidFill>
                <a:latin typeface="JetBrains Mono"/>
              </a:rPr>
              <a:t>    if dto is None:</a:t>
            </a:r>
          </a:p>
          <a:p>
            <a:pPr algn="l"/>
            <a:r>
              <a:rPr sz="1100" b="0">
                <a:solidFill>
                  <a:srgbClr val="E6E6E6"/>
                </a:solidFill>
                <a:latin typeface="JetBrains Mono"/>
              </a:rPr>
              <a:t>        return</a:t>
            </a:r>
          </a:p>
          <a:p>
            <a:pPr algn="l"/>
            <a:endParaRPr sz="1100" b="0">
              <a:solidFill>
                <a:srgbClr val="E6E6E6"/>
              </a:solidFill>
              <a:latin typeface="JetBrains Mono"/>
            </a:endParaRPr>
          </a:p>
          <a:p>
            <a:pPr algn="l"/>
            <a:r>
              <a:rPr sz="1100" b="0">
                <a:solidFill>
                  <a:srgbClr val="E6E6E6"/>
                </a:solidFill>
                <a:latin typeface="JetBrains Mono"/>
              </a:rPr>
              <a:t>    hr_m = HrMessage(</a:t>
            </a:r>
          </a:p>
          <a:p>
            <a:pPr algn="l"/>
            <a:r>
              <a:rPr sz="1100" b="0">
                <a:solidFill>
                  <a:srgbClr val="E6E6E6"/>
                </a:solidFill>
                <a:latin typeface="JetBrains Mono"/>
              </a:rPr>
              <a:t>        message=json.dumps(dto.to_dict()),</a:t>
            </a:r>
          </a:p>
          <a:p>
            <a:pPr algn="l"/>
            <a:r>
              <a:rPr sz="1100" b="0">
                <a:solidFill>
                  <a:srgbClr val="E6E6E6"/>
                </a:solidFill>
                <a:latin typeface="JetBrains Mono"/>
              </a:rPr>
              <a:t>        datetime_created=datetime.now(),</a:t>
            </a:r>
          </a:p>
          <a:p>
            <a:pPr algn="l"/>
            <a:r>
              <a:rPr sz="1100" b="0">
                <a:solidFill>
                  <a:srgbClr val="E6E6E6"/>
                </a:solidFill>
                <a:latin typeface="JetBrains Mono"/>
              </a:rPr>
              <a:t>    )</a:t>
            </a:r>
          </a:p>
          <a:p>
            <a:pPr algn="l"/>
            <a:r>
              <a:rPr sz="1100" b="0">
                <a:solidFill>
                  <a:srgbClr val="E6E6E6"/>
                </a:solidFill>
                <a:latin typeface="JetBrains Mono"/>
              </a:rPr>
              <a:t>    await self._msg_queue.put(hr_m)</a:t>
            </a:r>
          </a:p>
          <a:p>
            <a:pPr algn="l"/>
            <a:endParaRPr sz="1100" b="0">
              <a:solidFill>
                <a:srgbClr val="E6E6E6"/>
              </a:solidFill>
              <a:latin typeface="JetBrains Mono"/>
            </a:endParaRPr>
          </a:p>
        </p:txBody>
      </p:sp>
      <p:sp>
        <p:nvSpPr>
          <p:cNvPr id="8" name="TextBox 7"/>
          <p:cNvSpPr txBox="1"/>
          <p:nvPr/>
        </p:nvSpPr>
        <p:spPr>
          <a:xfrm>
            <a:off x="7223760" y="2194560"/>
            <a:ext cx="4754880" cy="457200"/>
          </a:xfrm>
          <a:prstGeom prst="rect">
            <a:avLst/>
          </a:prstGeom>
          <a:noFill/>
        </p:spPr>
        <p:txBody>
          <a:bodyPr wrap="square" lIns="45720" rIns="45720">
            <a:spAutoFit/>
          </a:bodyPr>
          <a:lstStyle/>
          <a:p>
            <a:pPr algn="l"/>
            <a:r>
              <a:rPr sz="1500" b="1">
                <a:solidFill>
                  <a:srgbClr val="4A5D23"/>
                </a:solidFill>
                <a:latin typeface="Calibri"/>
              </a:rPr>
              <a:t>Test-type → DTO mapping</a:t>
            </a:r>
          </a:p>
        </p:txBody>
      </p:sp>
      <p:sp>
        <p:nvSpPr>
          <p:cNvPr id="9" name="Rectangle 8"/>
          <p:cNvSpPr/>
          <p:nvPr/>
        </p:nvSpPr>
        <p:spPr>
          <a:xfrm>
            <a:off x="7223760" y="2697480"/>
            <a:ext cx="2560320" cy="365760"/>
          </a:xfrm>
          <a:prstGeom prst="rect">
            <a:avLst/>
          </a:prstGeom>
          <a:solidFill>
            <a:srgbClr val="334218"/>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96912" y="2743200"/>
            <a:ext cx="2414016" cy="365760"/>
          </a:xfrm>
          <a:prstGeom prst="rect">
            <a:avLst/>
          </a:prstGeom>
          <a:noFill/>
        </p:spPr>
        <p:txBody>
          <a:bodyPr wrap="square" lIns="45720" rIns="45720">
            <a:spAutoFit/>
          </a:bodyPr>
          <a:lstStyle/>
          <a:p>
            <a:pPr algn="l"/>
            <a:r>
              <a:rPr sz="1000" b="1">
                <a:solidFill>
                  <a:srgbClr val="FFFFFF"/>
                </a:solidFill>
                <a:latin typeface="Calibri"/>
              </a:rPr>
              <a:t>ORM Model</a:t>
            </a:r>
          </a:p>
        </p:txBody>
      </p:sp>
      <p:sp>
        <p:nvSpPr>
          <p:cNvPr id="11" name="Rectangle 10"/>
          <p:cNvSpPr/>
          <p:nvPr/>
        </p:nvSpPr>
        <p:spPr>
          <a:xfrm>
            <a:off x="9784080" y="2697480"/>
            <a:ext cx="2194560" cy="365760"/>
          </a:xfrm>
          <a:prstGeom prst="rect">
            <a:avLst/>
          </a:prstGeom>
          <a:solidFill>
            <a:srgbClr val="334218"/>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57232" y="2743200"/>
            <a:ext cx="2048256" cy="365760"/>
          </a:xfrm>
          <a:prstGeom prst="rect">
            <a:avLst/>
          </a:prstGeom>
          <a:noFill/>
        </p:spPr>
        <p:txBody>
          <a:bodyPr wrap="square" lIns="45720" rIns="45720">
            <a:spAutoFit/>
          </a:bodyPr>
          <a:lstStyle/>
          <a:p>
            <a:pPr algn="l"/>
            <a:r>
              <a:rPr sz="1000" b="1">
                <a:solidFill>
                  <a:srgbClr val="FFFFFF"/>
                </a:solidFill>
                <a:latin typeface="Calibri"/>
              </a:rPr>
              <a:t>DTO</a:t>
            </a:r>
          </a:p>
        </p:txBody>
      </p:sp>
      <p:sp>
        <p:nvSpPr>
          <p:cNvPr id="13" name="Rectangle 12"/>
          <p:cNvSpPr/>
          <p:nvPr/>
        </p:nvSpPr>
        <p:spPr>
          <a:xfrm>
            <a:off x="7223760" y="3063240"/>
            <a:ext cx="2560320" cy="36576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96912" y="3108960"/>
            <a:ext cx="2414016" cy="365760"/>
          </a:xfrm>
          <a:prstGeom prst="rect">
            <a:avLst/>
          </a:prstGeom>
          <a:noFill/>
        </p:spPr>
        <p:txBody>
          <a:bodyPr wrap="square" lIns="45720" rIns="45720">
            <a:spAutoFit/>
          </a:bodyPr>
          <a:lstStyle/>
          <a:p>
            <a:pPr algn="l"/>
            <a:r>
              <a:rPr sz="1000" b="0">
                <a:solidFill>
                  <a:srgbClr val="222222"/>
                </a:solidFill>
                <a:latin typeface="JetBrains Mono"/>
              </a:rPr>
              <a:t>PhefTest</a:t>
            </a:r>
          </a:p>
        </p:txBody>
      </p:sp>
      <p:sp>
        <p:nvSpPr>
          <p:cNvPr id="15" name="Rectangle 14"/>
          <p:cNvSpPr/>
          <p:nvPr/>
        </p:nvSpPr>
        <p:spPr>
          <a:xfrm>
            <a:off x="9784080" y="3063240"/>
            <a:ext cx="2194560" cy="36576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57232" y="3108960"/>
            <a:ext cx="2048256" cy="365760"/>
          </a:xfrm>
          <a:prstGeom prst="rect">
            <a:avLst/>
          </a:prstGeom>
          <a:noFill/>
        </p:spPr>
        <p:txBody>
          <a:bodyPr wrap="square" lIns="45720" rIns="45720">
            <a:spAutoFit/>
          </a:bodyPr>
          <a:lstStyle/>
          <a:p>
            <a:pPr algn="l"/>
            <a:r>
              <a:rPr sz="1000" b="0">
                <a:solidFill>
                  <a:srgbClr val="222222"/>
                </a:solidFill>
                <a:latin typeface="JetBrains Mono"/>
              </a:rPr>
              <a:t>PhefTestDto</a:t>
            </a:r>
          </a:p>
        </p:txBody>
      </p:sp>
      <p:sp>
        <p:nvSpPr>
          <p:cNvPr id="17" name="Rectangle 16"/>
          <p:cNvSpPr/>
          <p:nvPr/>
        </p:nvSpPr>
        <p:spPr>
          <a:xfrm>
            <a:off x="7223760" y="3429000"/>
            <a:ext cx="2560320" cy="36576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96912" y="3474720"/>
            <a:ext cx="2414016" cy="365760"/>
          </a:xfrm>
          <a:prstGeom prst="rect">
            <a:avLst/>
          </a:prstGeom>
          <a:noFill/>
        </p:spPr>
        <p:txBody>
          <a:bodyPr wrap="square" lIns="45720" rIns="45720">
            <a:spAutoFit/>
          </a:bodyPr>
          <a:lstStyle/>
          <a:p>
            <a:pPr algn="l"/>
            <a:r>
              <a:rPr sz="1000" b="0">
                <a:solidFill>
                  <a:srgbClr val="222222"/>
                </a:solidFill>
                <a:latin typeface="JetBrains Mono"/>
              </a:rPr>
              <a:t>CombatTestParatrooper</a:t>
            </a:r>
          </a:p>
        </p:txBody>
      </p:sp>
      <p:sp>
        <p:nvSpPr>
          <p:cNvPr id="19" name="Rectangle 18"/>
          <p:cNvSpPr/>
          <p:nvPr/>
        </p:nvSpPr>
        <p:spPr>
          <a:xfrm>
            <a:off x="9784080" y="3429000"/>
            <a:ext cx="2194560" cy="36576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57232" y="3474720"/>
            <a:ext cx="2048256" cy="365760"/>
          </a:xfrm>
          <a:prstGeom prst="rect">
            <a:avLst/>
          </a:prstGeom>
          <a:noFill/>
        </p:spPr>
        <p:txBody>
          <a:bodyPr wrap="square" lIns="45720" rIns="45720">
            <a:spAutoFit/>
          </a:bodyPr>
          <a:lstStyle/>
          <a:p>
            <a:pPr algn="l"/>
            <a:r>
              <a:rPr sz="1000" b="0">
                <a:solidFill>
                  <a:srgbClr val="222222"/>
                </a:solidFill>
                <a:latin typeface="JetBrains Mono"/>
              </a:rPr>
              <a:t>CombatTestDto</a:t>
            </a:r>
          </a:p>
        </p:txBody>
      </p:sp>
      <p:sp>
        <p:nvSpPr>
          <p:cNvPr id="21" name="Rectangle 20"/>
          <p:cNvSpPr/>
          <p:nvPr/>
        </p:nvSpPr>
        <p:spPr>
          <a:xfrm>
            <a:off x="7223760" y="3794760"/>
            <a:ext cx="2560320" cy="36576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96912" y="3840480"/>
            <a:ext cx="2414016" cy="365760"/>
          </a:xfrm>
          <a:prstGeom prst="rect">
            <a:avLst/>
          </a:prstGeom>
          <a:noFill/>
        </p:spPr>
        <p:txBody>
          <a:bodyPr wrap="square" lIns="45720" rIns="45720">
            <a:spAutoFit/>
          </a:bodyPr>
          <a:lstStyle/>
          <a:p>
            <a:pPr algn="l"/>
            <a:r>
              <a:rPr sz="1000" b="0">
                <a:solidFill>
                  <a:srgbClr val="222222"/>
                </a:solidFill>
                <a:latin typeface="JetBrains Mono"/>
              </a:rPr>
              <a:t>CombatSwimmingTest</a:t>
            </a:r>
          </a:p>
        </p:txBody>
      </p:sp>
      <p:sp>
        <p:nvSpPr>
          <p:cNvPr id="23" name="Rectangle 22"/>
          <p:cNvSpPr/>
          <p:nvPr/>
        </p:nvSpPr>
        <p:spPr>
          <a:xfrm>
            <a:off x="9784080" y="3794760"/>
            <a:ext cx="2194560" cy="36576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857232" y="3840480"/>
            <a:ext cx="2048256" cy="365760"/>
          </a:xfrm>
          <a:prstGeom prst="rect">
            <a:avLst/>
          </a:prstGeom>
          <a:noFill/>
        </p:spPr>
        <p:txBody>
          <a:bodyPr wrap="square" lIns="45720" rIns="45720">
            <a:spAutoFit/>
          </a:bodyPr>
          <a:lstStyle/>
          <a:p>
            <a:pPr algn="l"/>
            <a:r>
              <a:rPr sz="1000" b="0">
                <a:solidFill>
                  <a:srgbClr val="222222"/>
                </a:solidFill>
                <a:latin typeface="JetBrains Mono"/>
              </a:rPr>
              <a:t>CombatSwimTestDto</a:t>
            </a:r>
          </a:p>
        </p:txBody>
      </p:sp>
      <p:sp>
        <p:nvSpPr>
          <p:cNvPr id="25" name="Rectangle 24"/>
          <p:cNvSpPr/>
          <p:nvPr/>
        </p:nvSpPr>
        <p:spPr>
          <a:xfrm>
            <a:off x="7223760" y="4160520"/>
            <a:ext cx="2560320" cy="36576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96912" y="4206240"/>
            <a:ext cx="2414016" cy="365760"/>
          </a:xfrm>
          <a:prstGeom prst="rect">
            <a:avLst/>
          </a:prstGeom>
          <a:noFill/>
        </p:spPr>
        <p:txBody>
          <a:bodyPr wrap="square" lIns="45720" rIns="45720">
            <a:spAutoFit/>
          </a:bodyPr>
          <a:lstStyle/>
          <a:p>
            <a:pPr algn="l"/>
            <a:r>
              <a:rPr sz="1000" b="0">
                <a:solidFill>
                  <a:srgbClr val="222222"/>
                </a:solidFill>
                <a:latin typeface="JetBrains Mono"/>
              </a:rPr>
              <a:t>FunctionalTest</a:t>
            </a:r>
          </a:p>
        </p:txBody>
      </p:sp>
      <p:sp>
        <p:nvSpPr>
          <p:cNvPr id="27" name="Rectangle 26"/>
          <p:cNvSpPr/>
          <p:nvPr/>
        </p:nvSpPr>
        <p:spPr>
          <a:xfrm>
            <a:off x="9784080" y="4160520"/>
            <a:ext cx="2194560" cy="36576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57232" y="4206240"/>
            <a:ext cx="2048256" cy="365760"/>
          </a:xfrm>
          <a:prstGeom prst="rect">
            <a:avLst/>
          </a:prstGeom>
          <a:noFill/>
        </p:spPr>
        <p:txBody>
          <a:bodyPr wrap="square" lIns="45720" rIns="45720">
            <a:spAutoFit/>
          </a:bodyPr>
          <a:lstStyle/>
          <a:p>
            <a:pPr algn="l"/>
            <a:r>
              <a:rPr sz="1000" b="0">
                <a:solidFill>
                  <a:srgbClr val="222222"/>
                </a:solidFill>
                <a:latin typeface="JetBrains Mono"/>
              </a:rPr>
              <a:t>FunctionalTestDto</a:t>
            </a:r>
          </a:p>
        </p:txBody>
      </p:sp>
      <p:sp>
        <p:nvSpPr>
          <p:cNvPr id="29" name="Rectangle 28"/>
          <p:cNvSpPr/>
          <p:nvPr/>
        </p:nvSpPr>
        <p:spPr>
          <a:xfrm>
            <a:off x="7223760" y="4526280"/>
            <a:ext cx="2560320" cy="36576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96912" y="4572000"/>
            <a:ext cx="2414016" cy="365760"/>
          </a:xfrm>
          <a:prstGeom prst="rect">
            <a:avLst/>
          </a:prstGeom>
          <a:noFill/>
        </p:spPr>
        <p:txBody>
          <a:bodyPr wrap="square" lIns="45720" rIns="45720">
            <a:spAutoFit/>
          </a:bodyPr>
          <a:lstStyle/>
          <a:p>
            <a:pPr algn="l"/>
            <a:r>
              <a:rPr sz="1000" b="0">
                <a:solidFill>
                  <a:srgbClr val="222222"/>
                </a:solidFill>
                <a:latin typeface="JetBrains Mono"/>
              </a:rPr>
              <a:t>March</a:t>
            </a:r>
          </a:p>
        </p:txBody>
      </p:sp>
      <p:sp>
        <p:nvSpPr>
          <p:cNvPr id="31" name="Rectangle 30"/>
          <p:cNvSpPr/>
          <p:nvPr/>
        </p:nvSpPr>
        <p:spPr>
          <a:xfrm>
            <a:off x="9784080" y="4526280"/>
            <a:ext cx="2194560" cy="365760"/>
          </a:xfrm>
          <a:prstGeom prst="rect">
            <a:avLst/>
          </a:prstGeom>
          <a:solidFill>
            <a:srgbClr val="FFFFFF"/>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857232" y="4572000"/>
            <a:ext cx="2048256" cy="365760"/>
          </a:xfrm>
          <a:prstGeom prst="rect">
            <a:avLst/>
          </a:prstGeom>
          <a:noFill/>
        </p:spPr>
        <p:txBody>
          <a:bodyPr wrap="square" lIns="45720" rIns="45720">
            <a:spAutoFit/>
          </a:bodyPr>
          <a:lstStyle/>
          <a:p>
            <a:pPr algn="l"/>
            <a:r>
              <a:rPr sz="1000" b="0">
                <a:solidFill>
                  <a:srgbClr val="222222"/>
                </a:solidFill>
                <a:latin typeface="JetBrains Mono"/>
              </a:rPr>
              <a:t>MarchTestDto</a:t>
            </a:r>
          </a:p>
        </p:txBody>
      </p:sp>
      <p:sp>
        <p:nvSpPr>
          <p:cNvPr id="33" name="Rectangle 32"/>
          <p:cNvSpPr/>
          <p:nvPr/>
        </p:nvSpPr>
        <p:spPr>
          <a:xfrm>
            <a:off x="7223760" y="4892040"/>
            <a:ext cx="2560320" cy="36576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96912" y="4937760"/>
            <a:ext cx="2414016" cy="365760"/>
          </a:xfrm>
          <a:prstGeom prst="rect">
            <a:avLst/>
          </a:prstGeom>
          <a:noFill/>
        </p:spPr>
        <p:txBody>
          <a:bodyPr wrap="square" lIns="45720" rIns="45720">
            <a:spAutoFit/>
          </a:bodyPr>
          <a:lstStyle/>
          <a:p>
            <a:pPr algn="l"/>
            <a:r>
              <a:rPr sz="1000" b="0">
                <a:solidFill>
                  <a:srgbClr val="222222"/>
                </a:solidFill>
                <a:latin typeface="JetBrains Mono"/>
              </a:rPr>
              <a:t>MfftEvalTest  (2026)</a:t>
            </a:r>
          </a:p>
        </p:txBody>
      </p:sp>
      <p:sp>
        <p:nvSpPr>
          <p:cNvPr id="35" name="Rectangle 34"/>
          <p:cNvSpPr/>
          <p:nvPr/>
        </p:nvSpPr>
        <p:spPr>
          <a:xfrm>
            <a:off x="9784080" y="4892040"/>
            <a:ext cx="2194560" cy="365760"/>
          </a:xfrm>
          <a:prstGeom prst="rect">
            <a:avLst/>
          </a:prstGeom>
          <a:solidFill>
            <a:srgbClr val="F5F1E6"/>
          </a:solidFill>
          <a:ln>
            <a:solidFill>
              <a:srgbClr val="C3B0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857232" y="4937760"/>
            <a:ext cx="2048256" cy="365760"/>
          </a:xfrm>
          <a:prstGeom prst="rect">
            <a:avLst/>
          </a:prstGeom>
          <a:noFill/>
        </p:spPr>
        <p:txBody>
          <a:bodyPr wrap="square" lIns="45720" rIns="45720">
            <a:spAutoFit/>
          </a:bodyPr>
          <a:lstStyle/>
          <a:p>
            <a:pPr algn="l"/>
            <a:r>
              <a:rPr sz="1000" b="0">
                <a:solidFill>
                  <a:srgbClr val="222222"/>
                </a:solidFill>
                <a:latin typeface="JetBrains Mono"/>
              </a:rPr>
              <a:t>MfftEvalTestDto</a:t>
            </a:r>
          </a:p>
        </p:txBody>
      </p:sp>
      <p:sp>
        <p:nvSpPr>
          <p:cNvPr id="37" name="TextBox 36"/>
          <p:cNvSpPr txBox="1"/>
          <p:nvPr/>
        </p:nvSpPr>
        <p:spPr>
          <a:xfrm>
            <a:off x="7223760" y="5440680"/>
            <a:ext cx="4754880" cy="457200"/>
          </a:xfrm>
          <a:prstGeom prst="rect">
            <a:avLst/>
          </a:prstGeom>
          <a:noFill/>
        </p:spPr>
        <p:txBody>
          <a:bodyPr wrap="square" lIns="45720" rIns="45720">
            <a:spAutoFit/>
          </a:bodyPr>
          <a:lstStyle/>
          <a:p>
            <a:pPr algn="l"/>
            <a:r>
              <a:rPr sz="1100" b="1">
                <a:solidFill>
                  <a:srgbClr val="334218"/>
                </a:solidFill>
                <a:latin typeface="Calibri"/>
              </a:rPr>
              <a:t>Transport: BEMILService.sent_hr_message_to_hr() (HTTP + X-API-Key)</a:t>
            </a:r>
          </a:p>
        </p:txBody>
      </p:sp>
      <p:sp>
        <p:nvSpPr>
          <p:cNvPr id="38" name="TextBox 37"/>
          <p:cNvSpPr txBox="1"/>
          <p:nvPr/>
        </p:nvSpPr>
        <p:spPr>
          <a:xfrm>
            <a:off x="7223760" y="5806440"/>
            <a:ext cx="4754880" cy="457200"/>
          </a:xfrm>
          <a:prstGeom prst="rect">
            <a:avLst/>
          </a:prstGeom>
          <a:noFill/>
        </p:spPr>
        <p:txBody>
          <a:bodyPr wrap="square" lIns="45720" rIns="45720">
            <a:spAutoFit/>
          </a:bodyPr>
          <a:lstStyle/>
          <a:p>
            <a:pPr algn="l"/>
            <a:r>
              <a:rPr sz="1100" b="0">
                <a:solidFill>
                  <a:srgbClr val="555555"/>
                </a:solidFill>
                <a:latin typeface="Calibri"/>
              </a:rPr>
              <a:t>Eén DTO per testtype → smal contract met HR + makkelijk versioneerbaar</a:t>
            </a:r>
          </a:p>
        </p:txBody>
      </p:sp>
      <p:sp>
        <p:nvSpPr>
          <p:cNvPr id="39" name="TextBox 3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40" name="TextBox 3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13 / 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RAPPORTEN</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CSV + PDF generators per testtype · landscape A4 voor MFFT</a:t>
            </a:r>
          </a:p>
        </p:txBody>
      </p:sp>
      <p:sp>
        <p:nvSpPr>
          <p:cNvPr id="6" name="TextBox 5"/>
          <p:cNvSpPr txBox="1"/>
          <p:nvPr/>
        </p:nvSpPr>
        <p:spPr>
          <a:xfrm>
            <a:off x="548640" y="2194560"/>
            <a:ext cx="5486400" cy="4206240"/>
          </a:xfrm>
          <a:prstGeom prst="rect">
            <a:avLst/>
          </a:prstGeom>
          <a:noFill/>
        </p:spPr>
        <p:txBody>
          <a:bodyPr wrap="square" lIns="45720" rIns="45720">
            <a:spAutoFit/>
          </a:bodyPr>
          <a:lstStyle/>
          <a:p>
            <a:pPr algn="l"/>
            <a:r>
              <a:rPr sz="1300" b="0">
                <a:solidFill>
                  <a:srgbClr val="222222"/>
                </a:solidFill>
                <a:latin typeface="Calibri"/>
              </a:rPr>
              <a:t>•  GeneratorReport (ABC) levert calculate_*_score helpers</a:t>
            </a:r>
          </a:p>
          <a:p>
            <a:pPr algn="l"/>
            <a:r>
              <a:rPr sz="1300" b="0">
                <a:solidFill>
                  <a:srgbClr val="222222"/>
                </a:solidFill>
                <a:latin typeface="Calibri"/>
              </a:rPr>
              <a:t>•  ReportGeneratorCsv en ReportGeneratorPdf erven de helpers</a:t>
            </a:r>
          </a:p>
          <a:p>
            <a:pPr algn="l"/>
            <a:r>
              <a:rPr sz="1300" b="0">
                <a:solidFill>
                  <a:srgbClr val="222222"/>
                </a:solidFill>
                <a:latin typeface="Calibri"/>
              </a:rPr>
              <a:t>•  Dispatch via ReportType-enum (PHEF / COMBAT / FUNCTIONAL / SWIMMING / MFFT_EVAL)</a:t>
            </a:r>
          </a:p>
          <a:p>
            <a:pPr algn="l"/>
            <a:r>
              <a:rPr sz="1300" b="0">
                <a:solidFill>
                  <a:srgbClr val="222222"/>
                </a:solidFill>
                <a:latin typeface="Calibri"/>
              </a:rPr>
              <a:t>•  _generate_pass_fail_reports produceert per testtype een 'passed' + 'failed' bestand</a:t>
            </a:r>
          </a:p>
          <a:p>
            <a:pPr algn="l"/>
            <a:r>
              <a:rPr sz="1300" b="0">
                <a:solidFill>
                  <a:srgbClr val="222222"/>
                </a:solidFill>
                <a:latin typeface="Calibri"/>
              </a:rPr>
              <a:t>•  MFFT PDF gebruikt landscape A4 met expliciete col_widths → 14 kolommen passen netjes</a:t>
            </a:r>
          </a:p>
          <a:p>
            <a:pPr algn="l"/>
            <a:r>
              <a:rPr sz="1300" b="0">
                <a:solidFill>
                  <a:srgbClr val="222222"/>
                </a:solidFill>
                <a:latin typeface="Calibri"/>
              </a:rPr>
              <a:t>•  _fmt_pass_fail() kleurt resultaat in groen / rood</a:t>
            </a:r>
          </a:p>
          <a:p>
            <a:pPr algn="l"/>
            <a:r>
              <a:rPr sz="1300" b="0">
                <a:solidFill>
                  <a:srgbClr val="222222"/>
                </a:solidFill>
                <a:latin typeface="Calibri"/>
              </a:rPr>
              <a:t>•  Individual report bundelt alle testtypes per militair (via DataCollector.collect_tests_data_for_serial)</a:t>
            </a:r>
          </a:p>
        </p:txBody>
      </p:sp>
      <p:sp>
        <p:nvSpPr>
          <p:cNvPr id="7" name="Rounded Rectangle 6"/>
          <p:cNvSpPr/>
          <p:nvPr/>
        </p:nvSpPr>
        <p:spPr>
          <a:xfrm>
            <a:off x="6400800" y="2194560"/>
            <a:ext cx="5486400" cy="40233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2331720"/>
            <a:ext cx="5120640" cy="3749040"/>
          </a:xfrm>
          <a:prstGeom prst="rect">
            <a:avLst/>
          </a:prstGeom>
          <a:noFill/>
        </p:spPr>
        <p:txBody>
          <a:bodyPr wrap="square" lIns="45720" rIns="45720">
            <a:spAutoFit/>
          </a:bodyPr>
          <a:lstStyle/>
          <a:p>
            <a:pPr algn="l"/>
            <a:r>
              <a:rPr sz="1100" b="0">
                <a:solidFill>
                  <a:srgbClr val="E6E6E6"/>
                </a:solidFill>
                <a:latin typeface="JetBrains Mono"/>
              </a:rPr>
              <a:t>async def generate_mfft_eval_report(self, name, own_unit, this_year):</a:t>
            </a:r>
          </a:p>
          <a:p>
            <a:pPr algn="l"/>
            <a:r>
              <a:rPr sz="1100" b="0">
                <a:solidFill>
                  <a:srgbClr val="E6E6E6"/>
                </a:solidFill>
                <a:latin typeface="JetBrains Mono"/>
              </a:rPr>
              <a:t>    failed, _, passed = await self.calculate_mfft_eval_score(</a:t>
            </a:r>
          </a:p>
          <a:p>
            <a:pPr algn="l"/>
            <a:r>
              <a:rPr sz="1100" b="0">
                <a:solidFill>
                  <a:srgbClr val="E6E6E6"/>
                </a:solidFill>
                <a:latin typeface="JetBrains Mono"/>
              </a:rPr>
              <a:t>        own_unit, this_year</a:t>
            </a:r>
          </a:p>
          <a:p>
            <a:pPr algn="l"/>
            <a:r>
              <a:rPr sz="1100" b="0">
                <a:solidFill>
                  <a:srgbClr val="E6E6E6"/>
                </a:solidFill>
                <a:latin typeface="JetBrains Mono"/>
              </a:rPr>
              <a:t>    )</a:t>
            </a:r>
          </a:p>
          <a:p>
            <a:pPr algn="l"/>
            <a:r>
              <a:rPr sz="1100" b="0">
                <a:solidFill>
                  <a:srgbClr val="E6E6E6"/>
                </a:solidFill>
                <a:latin typeface="JetBrains Mono"/>
              </a:rPr>
              <a:t>    col_widths = [72,55,52,36,36,44,38,44,44,44,44,60,60,78]</a:t>
            </a:r>
          </a:p>
          <a:p>
            <a:pPr algn="l"/>
            <a:r>
              <a:rPr sz="1100" b="0">
                <a:solidFill>
                  <a:srgbClr val="E6E6E6"/>
                </a:solidFill>
                <a:latin typeface="JetBrains Mono"/>
              </a:rPr>
              <a:t>    return self._generate_pass_fail_reports(</a:t>
            </a:r>
          </a:p>
          <a:p>
            <a:pPr algn="l"/>
            <a:r>
              <a:rPr sz="1100" b="0">
                <a:solidFill>
                  <a:srgbClr val="E6E6E6"/>
                </a:solidFill>
                <a:latin typeface="JetBrains Mono"/>
              </a:rPr>
              <a:t>        name, "MFFT_Eval", passed, failed, headers, row_builder,</a:t>
            </a:r>
          </a:p>
          <a:p>
            <a:pPr algn="l"/>
            <a:r>
              <a:rPr sz="1100" b="0">
                <a:solidFill>
                  <a:srgbClr val="E6E6E6"/>
                </a:solidFill>
                <a:latin typeface="JetBrains Mono"/>
              </a:rPr>
              <a:t>        landscape_page=True,</a:t>
            </a:r>
          </a:p>
          <a:p>
            <a:pPr algn="l"/>
            <a:r>
              <a:rPr sz="1100" b="0">
                <a:solidFill>
                  <a:srgbClr val="E6E6E6"/>
                </a:solidFill>
                <a:latin typeface="JetBrains Mono"/>
              </a:rPr>
              <a:t>        col_widths=col_widths,</a:t>
            </a:r>
          </a:p>
          <a:p>
            <a:pPr algn="l"/>
            <a:r>
              <a:rPr sz="1100" b="0">
                <a:solidFill>
                  <a:srgbClr val="E6E6E6"/>
                </a:solidFill>
                <a:latin typeface="JetBrains Mono"/>
              </a:rPr>
              <a:t>    )</a:t>
            </a:r>
          </a:p>
          <a:p>
            <a:pPr algn="l"/>
            <a:endParaRPr sz="1100" b="0">
              <a:solidFill>
                <a:srgbClr val="E6E6E6"/>
              </a:solidFill>
              <a:latin typeface="JetBrains Mono"/>
            </a:endParaRPr>
          </a:p>
        </p:txBody>
      </p:sp>
      <p:sp>
        <p:nvSpPr>
          <p:cNvPr id="9" name="TextBox 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0" name="TextBox 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14 / 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SECURITY</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OWASP-gehard · NIST CSF 2.0 · PostgreSQL TLS</a:t>
            </a:r>
          </a:p>
        </p:txBody>
      </p:sp>
      <p:sp>
        <p:nvSpPr>
          <p:cNvPr id="6" name="Rounded Rectangle 5"/>
          <p:cNvSpPr/>
          <p:nvPr/>
        </p:nvSpPr>
        <p:spPr>
          <a:xfrm>
            <a:off x="548640" y="2194560"/>
            <a:ext cx="3566160" cy="4023360"/>
          </a:xfrm>
          <a:prstGeom prst="roundRect">
            <a:avLst/>
          </a:prstGeom>
          <a:solidFill>
            <a:srgbClr val="FFFFFF"/>
          </a:solidFill>
          <a:ln>
            <a:solidFill>
              <a:srgbClr val="3342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194560"/>
            <a:ext cx="3566160" cy="457200"/>
          </a:xfrm>
          <a:prstGeom prst="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240280"/>
            <a:ext cx="3291840" cy="365760"/>
          </a:xfrm>
          <a:prstGeom prst="rect">
            <a:avLst/>
          </a:prstGeom>
          <a:noFill/>
        </p:spPr>
        <p:txBody>
          <a:bodyPr wrap="square" lIns="45720" rIns="45720">
            <a:spAutoFit/>
          </a:bodyPr>
          <a:lstStyle/>
          <a:p>
            <a:pPr algn="l"/>
            <a:r>
              <a:rPr sz="1500" b="1">
                <a:solidFill>
                  <a:srgbClr val="FFFFFF"/>
                </a:solidFill>
                <a:latin typeface="Calibri"/>
              </a:rPr>
              <a:t>Authenticatie</a:t>
            </a:r>
          </a:p>
        </p:txBody>
      </p:sp>
      <p:sp>
        <p:nvSpPr>
          <p:cNvPr id="9" name="TextBox 8"/>
          <p:cNvSpPr txBox="1"/>
          <p:nvPr/>
        </p:nvSpPr>
        <p:spPr>
          <a:xfrm>
            <a:off x="731520" y="2834640"/>
            <a:ext cx="3291840" cy="3291840"/>
          </a:xfrm>
          <a:prstGeom prst="rect">
            <a:avLst/>
          </a:prstGeom>
          <a:noFill/>
        </p:spPr>
        <p:txBody>
          <a:bodyPr wrap="square" lIns="45720" rIns="45720">
            <a:spAutoFit/>
          </a:bodyPr>
          <a:lstStyle/>
          <a:p>
            <a:pPr algn="l"/>
            <a:r>
              <a:rPr sz="1200" b="0">
                <a:solidFill>
                  <a:srgbClr val="222222"/>
                </a:solidFill>
                <a:latin typeface="Calibri"/>
              </a:rPr>
              <a:t>•  Argon2id (passlib) — non-blocking via asyncio.to_thread</a:t>
            </a:r>
          </a:p>
          <a:p>
            <a:pPr algn="l"/>
            <a:r>
              <a:rPr sz="1200" b="0">
                <a:solidFill>
                  <a:srgbClr val="222222"/>
                </a:solidFill>
                <a:latin typeface="Calibri"/>
              </a:rPr>
              <a:t>•  Login-modaal met masked toggle</a:t>
            </a:r>
          </a:p>
          <a:p>
            <a:pPr algn="l"/>
            <a:r>
              <a:rPr sz="1200" b="0">
                <a:solidFill>
                  <a:srgbClr val="222222"/>
                </a:solidFill>
                <a:latin typeface="Calibri"/>
              </a:rPr>
              <a:t>•  Serial-only login mode voor militairen</a:t>
            </a:r>
          </a:p>
          <a:p>
            <a:pPr algn="l"/>
            <a:r>
              <a:rPr sz="1200" b="0">
                <a:solidFill>
                  <a:srgbClr val="222222"/>
                </a:solidFill>
                <a:latin typeface="Calibri"/>
              </a:rPr>
              <a:t>•  UserStore per Shiny-sessie (PR #217) — geen leakage</a:t>
            </a:r>
          </a:p>
        </p:txBody>
      </p:sp>
      <p:sp>
        <p:nvSpPr>
          <p:cNvPr id="10" name="Rounded Rectangle 9"/>
          <p:cNvSpPr/>
          <p:nvPr/>
        </p:nvSpPr>
        <p:spPr>
          <a:xfrm>
            <a:off x="4297680" y="2194560"/>
            <a:ext cx="3566160" cy="4023360"/>
          </a:xfrm>
          <a:prstGeom prst="roundRect">
            <a:avLst/>
          </a:prstGeom>
          <a:solidFill>
            <a:srgbClr val="FFFFFF"/>
          </a:solidFill>
          <a:ln>
            <a:solidFill>
              <a:srgbClr val="4A5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194560"/>
            <a:ext cx="3566160" cy="457200"/>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60" y="2240280"/>
            <a:ext cx="3291840" cy="365760"/>
          </a:xfrm>
          <a:prstGeom prst="rect">
            <a:avLst/>
          </a:prstGeom>
          <a:noFill/>
        </p:spPr>
        <p:txBody>
          <a:bodyPr wrap="square" lIns="45720" rIns="45720">
            <a:spAutoFit/>
          </a:bodyPr>
          <a:lstStyle/>
          <a:p>
            <a:pPr algn="l"/>
            <a:r>
              <a:rPr sz="1500" b="1">
                <a:solidFill>
                  <a:srgbClr val="FFFFFF"/>
                </a:solidFill>
                <a:latin typeface="Calibri"/>
              </a:rPr>
              <a:t>Authorisatie</a:t>
            </a:r>
          </a:p>
        </p:txBody>
      </p:sp>
      <p:sp>
        <p:nvSpPr>
          <p:cNvPr id="13" name="TextBox 12"/>
          <p:cNvSpPr txBox="1"/>
          <p:nvPr/>
        </p:nvSpPr>
        <p:spPr>
          <a:xfrm>
            <a:off x="4480560" y="2834640"/>
            <a:ext cx="3291840" cy="3291840"/>
          </a:xfrm>
          <a:prstGeom prst="rect">
            <a:avLst/>
          </a:prstGeom>
          <a:noFill/>
        </p:spPr>
        <p:txBody>
          <a:bodyPr wrap="square" lIns="45720" rIns="45720">
            <a:spAutoFit/>
          </a:bodyPr>
          <a:lstStyle/>
          <a:p>
            <a:pPr algn="l"/>
            <a:r>
              <a:rPr sz="1200" b="0">
                <a:solidFill>
                  <a:srgbClr val="222222"/>
                </a:solidFill>
                <a:latin typeface="Calibri"/>
              </a:rPr>
              <a:t>•  6 rollen: ADMIN, PTI, APTI, PLANNER, GUEST, USER</a:t>
            </a:r>
          </a:p>
          <a:p>
            <a:pPr algn="l"/>
            <a:r>
              <a:rPr sz="1200" b="0">
                <a:solidFill>
                  <a:srgbClr val="222222"/>
                </a:solidFill>
                <a:latin typeface="Calibri"/>
              </a:rPr>
              <a:t>•  RBAC per PageSpec (allowed_roles)</a:t>
            </a:r>
          </a:p>
          <a:p>
            <a:pPr algn="l"/>
            <a:r>
              <a:rPr sz="1200" b="0">
                <a:solidFill>
                  <a:srgbClr val="222222"/>
                </a:solidFill>
                <a:latin typeface="Calibri"/>
              </a:rPr>
              <a:t>•  Server-side guard _assert_can_modify_tests() in ServiceTest</a:t>
            </a:r>
          </a:p>
          <a:p>
            <a:pPr algn="l"/>
            <a:r>
              <a:rPr sz="1200" b="0">
                <a:solidFill>
                  <a:srgbClr val="222222"/>
                </a:solidFill>
                <a:latin typeface="Calibri"/>
              </a:rPr>
              <a:t>•  MOM-endpoint met X-API-Key (constant-time compare)</a:t>
            </a:r>
          </a:p>
        </p:txBody>
      </p:sp>
      <p:sp>
        <p:nvSpPr>
          <p:cNvPr id="14" name="Rounded Rectangle 13"/>
          <p:cNvSpPr/>
          <p:nvPr/>
        </p:nvSpPr>
        <p:spPr>
          <a:xfrm>
            <a:off x="8046720" y="2194560"/>
            <a:ext cx="3566160" cy="4023360"/>
          </a:xfrm>
          <a:prstGeom prst="roundRect">
            <a:avLst/>
          </a:prstGeom>
          <a:solidFill>
            <a:srgbClr val="FFFFFF"/>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2194560"/>
            <a:ext cx="3566160" cy="45720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2240280"/>
            <a:ext cx="3291840" cy="365760"/>
          </a:xfrm>
          <a:prstGeom prst="rect">
            <a:avLst/>
          </a:prstGeom>
          <a:noFill/>
        </p:spPr>
        <p:txBody>
          <a:bodyPr wrap="square" lIns="45720" rIns="45720">
            <a:spAutoFit/>
          </a:bodyPr>
          <a:lstStyle/>
          <a:p>
            <a:pPr algn="l"/>
            <a:r>
              <a:rPr sz="1500" b="1">
                <a:solidFill>
                  <a:srgbClr val="FFFFFF"/>
                </a:solidFill>
                <a:latin typeface="Calibri"/>
              </a:rPr>
              <a:t>Infra</a:t>
            </a:r>
          </a:p>
        </p:txBody>
      </p:sp>
      <p:sp>
        <p:nvSpPr>
          <p:cNvPr id="17" name="TextBox 16"/>
          <p:cNvSpPr txBox="1"/>
          <p:nvPr/>
        </p:nvSpPr>
        <p:spPr>
          <a:xfrm>
            <a:off x="8229600" y="2834640"/>
            <a:ext cx="3291840" cy="3291840"/>
          </a:xfrm>
          <a:prstGeom prst="rect">
            <a:avLst/>
          </a:prstGeom>
          <a:noFill/>
        </p:spPr>
        <p:txBody>
          <a:bodyPr wrap="square" lIns="45720" rIns="45720">
            <a:spAutoFit/>
          </a:bodyPr>
          <a:lstStyle/>
          <a:p>
            <a:pPr algn="l"/>
            <a:r>
              <a:rPr sz="1200" b="0">
                <a:solidFill>
                  <a:srgbClr val="222222"/>
                </a:solidFill>
                <a:latin typeface="Calibri"/>
              </a:rPr>
              <a:t>•  PostgreSQL SSL/TLS · ssl_root_cert validatie</a:t>
            </a:r>
          </a:p>
          <a:p>
            <a:pPr algn="l"/>
            <a:r>
              <a:rPr sz="1200" b="0">
                <a:solidFill>
                  <a:srgbClr val="222222"/>
                </a:solidFill>
                <a:latin typeface="Calibri"/>
              </a:rPr>
              <a:t>•  CORS lockdown (methods/headers, origins via env)</a:t>
            </a:r>
          </a:p>
          <a:p>
            <a:pPr algn="l"/>
            <a:r>
              <a:rPr sz="1200" b="0">
                <a:solidFill>
                  <a:srgbClr val="222222"/>
                </a:solidFill>
                <a:latin typeface="Calibri"/>
              </a:rPr>
              <a:t>•  Docker read-only volume voor settings</a:t>
            </a:r>
          </a:p>
          <a:p>
            <a:pPr algn="l"/>
            <a:r>
              <a:rPr sz="1200" b="0">
                <a:solidFill>
                  <a:srgbClr val="222222"/>
                </a:solidFill>
                <a:latin typeface="Calibri"/>
              </a:rPr>
              <a:t>•  NIST CSF 2.0 self-assessment</a:t>
            </a:r>
          </a:p>
          <a:p>
            <a:pPr algn="l"/>
            <a:r>
              <a:rPr sz="1200" b="0">
                <a:solidFill>
                  <a:srgbClr val="222222"/>
                </a:solidFill>
                <a:latin typeface="Calibri"/>
              </a:rPr>
              <a:t>•  SECURITY.md OWASP Top 10 review</a:t>
            </a:r>
          </a:p>
        </p:txBody>
      </p:sp>
      <p:sp>
        <p:nvSpPr>
          <p:cNvPr id="18" name="TextBox 17"/>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9" name="TextBox 18"/>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15 / 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AVG / GDPR</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Consent · self-service · retention · audit</a:t>
            </a:r>
          </a:p>
        </p:txBody>
      </p:sp>
      <p:sp>
        <p:nvSpPr>
          <p:cNvPr id="6" name="TextBox 5"/>
          <p:cNvSpPr txBox="1"/>
          <p:nvPr/>
        </p:nvSpPr>
        <p:spPr>
          <a:xfrm>
            <a:off x="548640" y="2194560"/>
            <a:ext cx="5486400" cy="4206240"/>
          </a:xfrm>
          <a:prstGeom prst="rect">
            <a:avLst/>
          </a:prstGeom>
          <a:noFill/>
        </p:spPr>
        <p:txBody>
          <a:bodyPr wrap="square" lIns="45720" rIns="45720">
            <a:spAutoFit/>
          </a:bodyPr>
          <a:lstStyle/>
          <a:p>
            <a:pPr algn="l"/>
            <a:r>
              <a:rPr sz="1400" b="0">
                <a:solidFill>
                  <a:srgbClr val="222222"/>
                </a:solidFill>
                <a:latin typeface="Calibri"/>
              </a:rPr>
              <a:t>•  UserConsent-tabel keyed op service_number (append-only)</a:t>
            </a:r>
          </a:p>
          <a:p>
            <a:pPr algn="l"/>
            <a:r>
              <a:rPr sz="1400" b="0">
                <a:solidFill>
                  <a:srgbClr val="222222"/>
                </a:solidFill>
                <a:latin typeface="Calibri"/>
              </a:rPr>
              <a:t>•  Art. 7 — grant + withdraw via Privacy-pagina</a:t>
            </a:r>
          </a:p>
          <a:p>
            <a:pPr algn="l"/>
            <a:r>
              <a:rPr sz="1400" b="0">
                <a:solidFill>
                  <a:srgbClr val="222222"/>
                </a:solidFill>
                <a:latin typeface="Calibri"/>
              </a:rPr>
              <a:t>•  Art. 15 — JSON-export incl. testdata + sessies</a:t>
            </a:r>
          </a:p>
          <a:p>
            <a:pPr algn="l"/>
            <a:r>
              <a:rPr sz="1400" b="0">
                <a:solidFill>
                  <a:srgbClr val="222222"/>
                </a:solidFill>
                <a:latin typeface="Calibri"/>
              </a:rPr>
              <a:t>•  Art. 20 — portabele data-export</a:t>
            </a:r>
          </a:p>
          <a:p>
            <a:pPr algn="l"/>
            <a:r>
              <a:rPr sz="1400" b="0">
                <a:solidFill>
                  <a:srgbClr val="222222"/>
                </a:solidFill>
                <a:latin typeface="Calibri"/>
              </a:rPr>
              <a:t>•  Art. 17 — RetentionService + per-domein _purge_* helpers</a:t>
            </a:r>
          </a:p>
          <a:p>
            <a:pPr algn="l"/>
            <a:r>
              <a:rPr sz="1400" b="0">
                <a:solidFill>
                  <a:srgbClr val="222222"/>
                </a:solidFill>
                <a:latin typeface="Calibri"/>
              </a:rPr>
              <a:t>•  Audit log per actie (CREATE / UPDATE / DELETE)</a:t>
            </a:r>
          </a:p>
          <a:p>
            <a:pPr algn="l"/>
            <a:r>
              <a:rPr sz="1400" b="0">
                <a:solidFill>
                  <a:srgbClr val="222222"/>
                </a:solidFill>
                <a:latin typeface="Calibri"/>
              </a:rPr>
              <a:t>•  Admin → Servicemen Overview met consent-status per militair</a:t>
            </a:r>
          </a:p>
        </p:txBody>
      </p:sp>
      <p:sp>
        <p:nvSpPr>
          <p:cNvPr id="7" name="TextBox 6"/>
          <p:cNvSpPr txBox="1"/>
          <p:nvPr/>
        </p:nvSpPr>
        <p:spPr>
          <a:xfrm>
            <a:off x="6400800" y="2194560"/>
            <a:ext cx="5486400" cy="457200"/>
          </a:xfrm>
          <a:prstGeom prst="rect">
            <a:avLst/>
          </a:prstGeom>
          <a:noFill/>
        </p:spPr>
        <p:txBody>
          <a:bodyPr wrap="square" lIns="45720" rIns="45720">
            <a:spAutoFit/>
          </a:bodyPr>
          <a:lstStyle/>
          <a:p>
            <a:pPr algn="l"/>
            <a:r>
              <a:rPr sz="1500" b="1">
                <a:solidFill>
                  <a:srgbClr val="4A5D23"/>
                </a:solidFill>
                <a:latin typeface="Calibri"/>
              </a:rPr>
              <a:t>Documentatie-artefacten</a:t>
            </a:r>
          </a:p>
        </p:txBody>
      </p:sp>
      <p:sp>
        <p:nvSpPr>
          <p:cNvPr id="8" name="TextBox 7"/>
          <p:cNvSpPr txBox="1"/>
          <p:nvPr/>
        </p:nvSpPr>
        <p:spPr>
          <a:xfrm>
            <a:off x="6400800" y="2651760"/>
            <a:ext cx="5486400" cy="3657600"/>
          </a:xfrm>
          <a:prstGeom prst="rect">
            <a:avLst/>
          </a:prstGeom>
          <a:noFill/>
        </p:spPr>
        <p:txBody>
          <a:bodyPr wrap="square" lIns="45720" rIns="45720">
            <a:spAutoFit/>
          </a:bodyPr>
          <a:lstStyle/>
          <a:p>
            <a:pPr algn="l"/>
            <a:r>
              <a:rPr sz="1300" b="0">
                <a:solidFill>
                  <a:srgbClr val="222222"/>
                </a:solidFill>
                <a:latin typeface="Calibri"/>
              </a:rPr>
              <a:t>•  documentation/compliance/PRIVACY_POLICY.md</a:t>
            </a:r>
          </a:p>
          <a:p>
            <a:pPr algn="l"/>
            <a:r>
              <a:rPr sz="1300" b="0">
                <a:solidFill>
                  <a:srgbClr val="222222"/>
                </a:solidFill>
                <a:latin typeface="Calibri"/>
              </a:rPr>
              <a:t>•  documentation/compliance/DPIA.md</a:t>
            </a:r>
          </a:p>
          <a:p>
            <a:pPr algn="l"/>
            <a:r>
              <a:rPr sz="1300" b="0">
                <a:solidFill>
                  <a:srgbClr val="222222"/>
                </a:solidFill>
                <a:latin typeface="Calibri"/>
              </a:rPr>
              <a:t>•  documentation/compliance/NIST_CSF_2.0.md</a:t>
            </a:r>
          </a:p>
          <a:p>
            <a:pPr algn="l"/>
            <a:r>
              <a:rPr sz="1300" b="0">
                <a:solidFill>
                  <a:srgbClr val="222222"/>
                </a:solidFill>
                <a:latin typeface="Calibri"/>
              </a:rPr>
              <a:t>•  SECURITY.md (OWASP Top 10 review)</a:t>
            </a:r>
          </a:p>
          <a:p>
            <a:pPr algn="l"/>
            <a:r>
              <a:rPr sz="1300" b="0">
                <a:solidFill>
                  <a:srgbClr val="222222"/>
                </a:solidFill>
                <a:latin typeface="Calibri"/>
              </a:rPr>
              <a:t>•  AuditLog ORM model + DB audit_logs tabel</a:t>
            </a:r>
          </a:p>
          <a:p>
            <a:pPr algn="l"/>
            <a:r>
              <a:rPr sz="1300" b="0">
                <a:solidFill>
                  <a:srgbClr val="222222"/>
                </a:solidFill>
                <a:latin typeface="Calibri"/>
              </a:rPr>
              <a:t>•  Bestaande seed-data: GDPR-grant timestamp per militair</a:t>
            </a:r>
          </a:p>
        </p:txBody>
      </p:sp>
      <p:sp>
        <p:nvSpPr>
          <p:cNvPr id="9" name="TextBox 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0" name="TextBox 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16 / 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I18N</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EN · NL · FR · per-session LanguageStore</a:t>
            </a:r>
          </a:p>
        </p:txBody>
      </p:sp>
      <p:sp>
        <p:nvSpPr>
          <p:cNvPr id="6" name="Rounded Rectangle 5"/>
          <p:cNvSpPr/>
          <p:nvPr/>
        </p:nvSpPr>
        <p:spPr>
          <a:xfrm>
            <a:off x="548640" y="2194560"/>
            <a:ext cx="6858000" cy="347472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331720"/>
            <a:ext cx="6492240" cy="3200400"/>
          </a:xfrm>
          <a:prstGeom prst="rect">
            <a:avLst/>
          </a:prstGeom>
          <a:noFill/>
        </p:spPr>
        <p:txBody>
          <a:bodyPr wrap="square" lIns="45720" rIns="45720">
            <a:spAutoFit/>
          </a:bodyPr>
          <a:lstStyle/>
          <a:p>
            <a:pPr algn="l"/>
            <a:r>
              <a:rPr sz="1100" b="0">
                <a:solidFill>
                  <a:srgbClr val="E6E6E6"/>
                </a:solidFill>
                <a:latin typeface="JetBrains Mono"/>
              </a:rPr>
              <a:t># warriorfit/i18n/language_store.py</a:t>
            </a:r>
          </a:p>
          <a:p>
            <a:pPr algn="l"/>
            <a:r>
              <a:rPr sz="1100" b="0">
                <a:solidFill>
                  <a:srgbClr val="E6E6E6"/>
                </a:solidFill>
                <a:latin typeface="JetBrains Mono"/>
              </a:rPr>
              <a:t>class LanguageStore:</a:t>
            </a:r>
          </a:p>
          <a:p>
            <a:pPr algn="l"/>
            <a:r>
              <a:rPr sz="1100" b="0">
                <a:solidFill>
                  <a:srgbClr val="E6E6E6"/>
                </a:solidFill>
                <a:latin typeface="JetBrains Mono"/>
              </a:rPr>
              <a:t>    SUPPORTED = ("en", "nl", "fr")</a:t>
            </a:r>
          </a:p>
          <a:p>
            <a:pPr algn="l"/>
            <a:endParaRPr sz="1100" b="0">
              <a:solidFill>
                <a:srgbClr val="E6E6E6"/>
              </a:solidFill>
              <a:latin typeface="JetBrains Mono"/>
            </a:endParaRPr>
          </a:p>
          <a:p>
            <a:pPr algn="l"/>
            <a:r>
              <a:rPr sz="1100" b="0">
                <a:solidFill>
                  <a:srgbClr val="E6E6E6"/>
                </a:solidFill>
                <a:latin typeface="JetBrains Mono"/>
              </a:rPr>
              <a:t>    @classmethod</a:t>
            </a:r>
          </a:p>
          <a:p>
            <a:pPr algn="l"/>
            <a:r>
              <a:rPr sz="1100" b="0">
                <a:solidFill>
                  <a:srgbClr val="E6E6E6"/>
                </a:solidFill>
                <a:latin typeface="JetBrains Mono"/>
              </a:rPr>
              <a:t>    def get_language(cls) -&gt; str: ...</a:t>
            </a:r>
          </a:p>
          <a:p>
            <a:pPr algn="l"/>
            <a:r>
              <a:rPr sz="1100" b="0">
                <a:solidFill>
                  <a:srgbClr val="E6E6E6"/>
                </a:solidFill>
                <a:latin typeface="JetBrains Mono"/>
              </a:rPr>
              <a:t>    @classmethod</a:t>
            </a:r>
          </a:p>
          <a:p>
            <a:pPr algn="l"/>
            <a:r>
              <a:rPr sz="1100" b="0">
                <a:solidFill>
                  <a:srgbClr val="E6E6E6"/>
                </a:solidFill>
                <a:latin typeface="JetBrains Mono"/>
              </a:rPr>
              <a:t>    def set_language(cls, lang: str) -&gt; None: ...</a:t>
            </a:r>
          </a:p>
          <a:p>
            <a:pPr algn="l"/>
            <a:endParaRPr sz="1100" b="0">
              <a:solidFill>
                <a:srgbClr val="E6E6E6"/>
              </a:solidFill>
              <a:latin typeface="JetBrains Mono"/>
            </a:endParaRPr>
          </a:p>
          <a:p>
            <a:pPr algn="l"/>
            <a:endParaRPr sz="1100" b="0">
              <a:solidFill>
                <a:srgbClr val="E6E6E6"/>
              </a:solidFill>
              <a:latin typeface="JetBrains Mono"/>
            </a:endParaRPr>
          </a:p>
          <a:p>
            <a:pPr algn="l"/>
            <a:r>
              <a:rPr sz="1100" b="0">
                <a:solidFill>
                  <a:srgbClr val="E6E6E6"/>
                </a:solidFill>
                <a:latin typeface="JetBrains Mono"/>
              </a:rPr>
              <a:t># warriorfit/i18n/translator.py</a:t>
            </a:r>
          </a:p>
          <a:p>
            <a:pPr algn="l"/>
            <a:r>
              <a:rPr sz="1100" b="0">
                <a:solidFill>
                  <a:srgbClr val="E6E6E6"/>
                </a:solidFill>
                <a:latin typeface="JetBrains Mono"/>
              </a:rPr>
              <a:t>def t(key: str, **kwargs) -&gt; str:</a:t>
            </a:r>
          </a:p>
          <a:p>
            <a:pPr algn="l"/>
            <a:r>
              <a:rPr sz="1100" b="0">
                <a:solidFill>
                  <a:srgbClr val="E6E6E6"/>
                </a:solidFill>
                <a:latin typeface="JetBrains Mono"/>
              </a:rPr>
              <a:t>    catalog = _catalog_for(LanguageStore.get_language())</a:t>
            </a:r>
          </a:p>
          <a:p>
            <a:pPr algn="l"/>
            <a:r>
              <a:rPr sz="1100" b="0">
                <a:solidFill>
                  <a:srgbClr val="E6E6E6"/>
                </a:solidFill>
                <a:latin typeface="JetBrains Mono"/>
              </a:rPr>
              <a:t>    return catalog.get(key, key).format(**kwargs)</a:t>
            </a:r>
          </a:p>
          <a:p>
            <a:pPr algn="l"/>
            <a:endParaRPr sz="1100" b="0">
              <a:solidFill>
                <a:srgbClr val="E6E6E6"/>
              </a:solidFill>
              <a:latin typeface="JetBrains Mono"/>
            </a:endParaRPr>
          </a:p>
        </p:txBody>
      </p:sp>
      <p:sp>
        <p:nvSpPr>
          <p:cNvPr id="8" name="TextBox 7"/>
          <p:cNvSpPr txBox="1"/>
          <p:nvPr/>
        </p:nvSpPr>
        <p:spPr>
          <a:xfrm>
            <a:off x="7680960" y="2194560"/>
            <a:ext cx="4206240" cy="4023360"/>
          </a:xfrm>
          <a:prstGeom prst="rect">
            <a:avLst/>
          </a:prstGeom>
          <a:noFill/>
        </p:spPr>
        <p:txBody>
          <a:bodyPr wrap="square" lIns="45720" rIns="45720">
            <a:spAutoFit/>
          </a:bodyPr>
          <a:lstStyle/>
          <a:p>
            <a:pPr algn="l"/>
            <a:r>
              <a:rPr sz="1300" b="0">
                <a:solidFill>
                  <a:srgbClr val="222222"/>
                </a:solidFill>
                <a:latin typeface="Calibri"/>
              </a:rPr>
              <a:t>•  ~498 keys per catalogus (en.json, nl.json, fr.json)</a:t>
            </a:r>
          </a:p>
          <a:p>
            <a:pPr algn="l"/>
            <a:r>
              <a:rPr sz="1300" b="0">
                <a:solidFill>
                  <a:srgbClr val="222222"/>
                </a:solidFill>
                <a:latin typeface="Calibri"/>
              </a:rPr>
              <a:t>•  Navbar-dropdown lang_select schakelt live</a:t>
            </a:r>
          </a:p>
          <a:p>
            <a:pPr algn="l"/>
            <a:r>
              <a:rPr sz="1300" b="0">
                <a:solidFill>
                  <a:srgbClr val="222222"/>
                </a:solidFill>
                <a:latin typeface="Calibri"/>
              </a:rPr>
              <a:t>•  Per-session resolutie ⇒ geen cross-user leakage</a:t>
            </a:r>
          </a:p>
          <a:p>
            <a:pPr algn="l"/>
            <a:r>
              <a:rPr sz="1300" b="0">
                <a:solidFill>
                  <a:srgbClr val="222222"/>
                </a:solidFill>
                <a:latin typeface="Calibri"/>
              </a:rPr>
              <a:t>•  Alle pagina's, controles en notificaties via t()</a:t>
            </a:r>
          </a:p>
          <a:p>
            <a:pPr algn="l"/>
            <a:r>
              <a:rPr sz="1300" b="0">
                <a:solidFill>
                  <a:srgbClr val="222222"/>
                </a:solidFill>
                <a:latin typeface="Calibri"/>
              </a:rPr>
              <a:t>•  Format-strings als t('mfft_eval.added').format(serial=…)</a:t>
            </a:r>
          </a:p>
          <a:p>
            <a:pPr algn="l"/>
            <a:r>
              <a:rPr sz="1300" b="0">
                <a:solidFill>
                  <a:srgbClr val="222222"/>
                </a:solidFill>
                <a:latin typeface="Calibri"/>
              </a:rPr>
              <a:t>•  MFFT-feature voegde ~25 keys per locale toe</a:t>
            </a:r>
          </a:p>
        </p:txBody>
      </p:sp>
      <p:sp>
        <p:nvSpPr>
          <p:cNvPr id="9" name="TextBox 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0" name="TextBox 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17 / 20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CI / CD + TESTING</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Ruff · mypy strict · GitHub Actions · pytest</a:t>
            </a:r>
          </a:p>
        </p:txBody>
      </p:sp>
      <p:sp>
        <p:nvSpPr>
          <p:cNvPr id="6" name="TextBox 5"/>
          <p:cNvSpPr txBox="1"/>
          <p:nvPr/>
        </p:nvSpPr>
        <p:spPr>
          <a:xfrm>
            <a:off x="548640" y="2194560"/>
            <a:ext cx="2286000" cy="822960"/>
          </a:xfrm>
          <a:prstGeom prst="rect">
            <a:avLst/>
          </a:prstGeom>
          <a:noFill/>
        </p:spPr>
        <p:txBody>
          <a:bodyPr wrap="square" lIns="45720" rIns="45720">
            <a:spAutoFit/>
          </a:bodyPr>
          <a:lstStyle/>
          <a:p>
            <a:pPr algn="ctr"/>
            <a:r>
              <a:rPr sz="4000" b="1">
                <a:solidFill>
                  <a:srgbClr val="FFC107"/>
                </a:solidFill>
                <a:latin typeface="Calibri"/>
              </a:rPr>
              <a:t>171</a:t>
            </a:r>
          </a:p>
        </p:txBody>
      </p:sp>
      <p:sp>
        <p:nvSpPr>
          <p:cNvPr id="7" name="TextBox 6"/>
          <p:cNvSpPr txBox="1"/>
          <p:nvPr/>
        </p:nvSpPr>
        <p:spPr>
          <a:xfrm>
            <a:off x="548640" y="2971800"/>
            <a:ext cx="2286000" cy="365760"/>
          </a:xfrm>
          <a:prstGeom prst="rect">
            <a:avLst/>
          </a:prstGeom>
          <a:noFill/>
        </p:spPr>
        <p:txBody>
          <a:bodyPr wrap="square" lIns="45720" rIns="45720">
            <a:spAutoFit/>
          </a:bodyPr>
          <a:lstStyle/>
          <a:p>
            <a:pPr algn="ctr"/>
            <a:r>
              <a:rPr sz="1200" b="0">
                <a:solidFill>
                  <a:srgbClr val="555555"/>
                </a:solidFill>
                <a:latin typeface="Calibri"/>
              </a:rPr>
              <a:t>tests groen</a:t>
            </a:r>
          </a:p>
        </p:txBody>
      </p:sp>
      <p:sp>
        <p:nvSpPr>
          <p:cNvPr id="8" name="TextBox 7"/>
          <p:cNvSpPr txBox="1"/>
          <p:nvPr/>
        </p:nvSpPr>
        <p:spPr>
          <a:xfrm>
            <a:off x="3108960" y="2194560"/>
            <a:ext cx="2286000" cy="822960"/>
          </a:xfrm>
          <a:prstGeom prst="rect">
            <a:avLst/>
          </a:prstGeom>
          <a:noFill/>
        </p:spPr>
        <p:txBody>
          <a:bodyPr wrap="square" lIns="45720" rIns="45720">
            <a:spAutoFit/>
          </a:bodyPr>
          <a:lstStyle/>
          <a:p>
            <a:pPr algn="ctr"/>
            <a:r>
              <a:rPr sz="4000" b="1">
                <a:solidFill>
                  <a:srgbClr val="FFC107"/>
                </a:solidFill>
                <a:latin typeface="Calibri"/>
              </a:rPr>
              <a:t>30</a:t>
            </a:r>
          </a:p>
        </p:txBody>
      </p:sp>
      <p:sp>
        <p:nvSpPr>
          <p:cNvPr id="9" name="TextBox 8"/>
          <p:cNvSpPr txBox="1"/>
          <p:nvPr/>
        </p:nvSpPr>
        <p:spPr>
          <a:xfrm>
            <a:off x="3108960" y="2971800"/>
            <a:ext cx="2286000" cy="365760"/>
          </a:xfrm>
          <a:prstGeom prst="rect">
            <a:avLst/>
          </a:prstGeom>
          <a:noFill/>
        </p:spPr>
        <p:txBody>
          <a:bodyPr wrap="square" lIns="45720" rIns="45720">
            <a:spAutoFit/>
          </a:bodyPr>
          <a:lstStyle/>
          <a:p>
            <a:pPr algn="ctr"/>
            <a:r>
              <a:rPr sz="1200" b="0">
                <a:solidFill>
                  <a:srgbClr val="555555"/>
                </a:solidFill>
                <a:latin typeface="Calibri"/>
              </a:rPr>
              <a:t>MFFT-calculator tests</a:t>
            </a:r>
          </a:p>
        </p:txBody>
      </p:sp>
      <p:sp>
        <p:nvSpPr>
          <p:cNvPr id="10" name="TextBox 9"/>
          <p:cNvSpPr txBox="1"/>
          <p:nvPr/>
        </p:nvSpPr>
        <p:spPr>
          <a:xfrm>
            <a:off x="5669280" y="2194560"/>
            <a:ext cx="2286000" cy="822960"/>
          </a:xfrm>
          <a:prstGeom prst="rect">
            <a:avLst/>
          </a:prstGeom>
          <a:noFill/>
        </p:spPr>
        <p:txBody>
          <a:bodyPr wrap="square" lIns="45720" rIns="45720">
            <a:spAutoFit/>
          </a:bodyPr>
          <a:lstStyle/>
          <a:p>
            <a:pPr algn="ctr"/>
            <a:r>
              <a:rPr sz="4000" b="1">
                <a:solidFill>
                  <a:srgbClr val="FFC107"/>
                </a:solidFill>
                <a:latin typeface="Calibri"/>
              </a:rPr>
              <a:t>100 %</a:t>
            </a:r>
          </a:p>
        </p:txBody>
      </p:sp>
      <p:sp>
        <p:nvSpPr>
          <p:cNvPr id="11" name="TextBox 10"/>
          <p:cNvSpPr txBox="1"/>
          <p:nvPr/>
        </p:nvSpPr>
        <p:spPr>
          <a:xfrm>
            <a:off x="5669280" y="2971800"/>
            <a:ext cx="2286000" cy="365760"/>
          </a:xfrm>
          <a:prstGeom prst="rect">
            <a:avLst/>
          </a:prstGeom>
          <a:noFill/>
        </p:spPr>
        <p:txBody>
          <a:bodyPr wrap="square" lIns="45720" rIns="45720">
            <a:spAutoFit/>
          </a:bodyPr>
          <a:lstStyle/>
          <a:p>
            <a:pPr algn="ctr"/>
            <a:r>
              <a:rPr sz="1200" b="0">
                <a:solidFill>
                  <a:srgbClr val="555555"/>
                </a:solidFill>
                <a:latin typeface="Calibri"/>
              </a:rPr>
              <a:t>async I/O</a:t>
            </a:r>
          </a:p>
        </p:txBody>
      </p:sp>
      <p:sp>
        <p:nvSpPr>
          <p:cNvPr id="12" name="TextBox 11"/>
          <p:cNvSpPr txBox="1"/>
          <p:nvPr/>
        </p:nvSpPr>
        <p:spPr>
          <a:xfrm>
            <a:off x="8229600" y="2194560"/>
            <a:ext cx="2286000" cy="822960"/>
          </a:xfrm>
          <a:prstGeom prst="rect">
            <a:avLst/>
          </a:prstGeom>
          <a:noFill/>
        </p:spPr>
        <p:txBody>
          <a:bodyPr wrap="square" lIns="45720" rIns="45720">
            <a:spAutoFit/>
          </a:bodyPr>
          <a:lstStyle/>
          <a:p>
            <a:pPr algn="ctr"/>
            <a:r>
              <a:rPr sz="4000" b="1">
                <a:solidFill>
                  <a:srgbClr val="FFC107"/>
                </a:solidFill>
                <a:latin typeface="Calibri"/>
              </a:rPr>
              <a:t>0</a:t>
            </a:r>
          </a:p>
        </p:txBody>
      </p:sp>
      <p:sp>
        <p:nvSpPr>
          <p:cNvPr id="13" name="TextBox 12"/>
          <p:cNvSpPr txBox="1"/>
          <p:nvPr/>
        </p:nvSpPr>
        <p:spPr>
          <a:xfrm>
            <a:off x="8229600" y="2971800"/>
            <a:ext cx="2286000" cy="365760"/>
          </a:xfrm>
          <a:prstGeom prst="rect">
            <a:avLst/>
          </a:prstGeom>
          <a:noFill/>
        </p:spPr>
        <p:txBody>
          <a:bodyPr wrap="square" lIns="45720" rIns="45720">
            <a:spAutoFit/>
          </a:bodyPr>
          <a:lstStyle/>
          <a:p>
            <a:pPr algn="ctr"/>
            <a:r>
              <a:rPr sz="1200" b="0">
                <a:solidFill>
                  <a:srgbClr val="555555"/>
                </a:solidFill>
                <a:latin typeface="Calibri"/>
              </a:rPr>
              <a:t>ruff errors</a:t>
            </a:r>
          </a:p>
        </p:txBody>
      </p:sp>
      <p:sp>
        <p:nvSpPr>
          <p:cNvPr id="14" name="TextBox 13"/>
          <p:cNvSpPr txBox="1"/>
          <p:nvPr/>
        </p:nvSpPr>
        <p:spPr>
          <a:xfrm>
            <a:off x="548640" y="3840480"/>
            <a:ext cx="10972800" cy="2743200"/>
          </a:xfrm>
          <a:prstGeom prst="rect">
            <a:avLst/>
          </a:prstGeom>
          <a:noFill/>
        </p:spPr>
        <p:txBody>
          <a:bodyPr wrap="square" lIns="45720" rIns="45720">
            <a:spAutoFit/>
          </a:bodyPr>
          <a:lstStyle/>
          <a:p>
            <a:pPr algn="l"/>
            <a:r>
              <a:rPr sz="1300" b="0">
                <a:solidFill>
                  <a:srgbClr val="222222"/>
                </a:solidFill>
                <a:latin typeface="Calibri"/>
              </a:rPr>
              <a:t>•  GitHub Actions: ruff check · mypy strict · pytest · format check (black)</a:t>
            </a:r>
          </a:p>
          <a:p>
            <a:pPr algn="l"/>
            <a:r>
              <a:rPr sz="1300" b="0">
                <a:solidFill>
                  <a:srgbClr val="222222"/>
                </a:solidFill>
                <a:latin typeface="Calibri"/>
              </a:rPr>
              <a:t>•  Pre-commit hook update version.yaml (commit-count + timestamp)</a:t>
            </a:r>
          </a:p>
          <a:p>
            <a:pPr algn="l"/>
            <a:r>
              <a:rPr sz="1300" b="0">
                <a:solidFill>
                  <a:srgbClr val="222222"/>
                </a:solidFill>
                <a:latin typeface="Calibri"/>
              </a:rPr>
              <a:t>•  Docker prod-config: SHINY_DEV_MODE=false · secret via env</a:t>
            </a:r>
          </a:p>
          <a:p>
            <a:pPr algn="l"/>
            <a:r>
              <a:rPr sz="1300" b="0">
                <a:solidFill>
                  <a:srgbClr val="222222"/>
                </a:solidFill>
                <a:latin typeface="Calibri"/>
              </a:rPr>
              <a:t>•  DB-isolation in tests: Singleton._instances reset in fixtures</a:t>
            </a:r>
          </a:p>
          <a:p>
            <a:pPr algn="l"/>
            <a:r>
              <a:rPr sz="1300" b="0">
                <a:solidFill>
                  <a:srgbClr val="222222"/>
                </a:solidFill>
                <a:latin typeface="Calibri"/>
              </a:rPr>
              <a:t>•  Broker unit tests dekken DTO mapping + lifecycle + retry-logica</a:t>
            </a:r>
          </a:p>
          <a:p>
            <a:pPr algn="l"/>
            <a:r>
              <a:rPr sz="1300" b="0">
                <a:solidFill>
                  <a:srgbClr val="222222"/>
                </a:solidFill>
                <a:latin typeface="Calibri"/>
              </a:rPr>
              <a:t>•  MFFT calculator tests gebruiken parameterised subTest over 5 clusters</a:t>
            </a:r>
          </a:p>
        </p:txBody>
      </p:sp>
      <p:sp>
        <p:nvSpPr>
          <p:cNvPr id="15" name="TextBox 14"/>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6" name="TextBox 15"/>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18 / 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4A5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02920"/>
            <a:ext cx="10972800" cy="411480"/>
          </a:xfrm>
          <a:prstGeom prst="rect">
            <a:avLst/>
          </a:prstGeom>
          <a:noFill/>
        </p:spPr>
        <p:txBody>
          <a:bodyPr wrap="square" lIns="45720" rIns="45720">
            <a:spAutoFit/>
          </a:bodyPr>
          <a:lstStyle/>
          <a:p>
            <a:pPr algn="l"/>
            <a:r>
              <a:rPr sz="1300" b="1">
                <a:solidFill>
                  <a:srgbClr val="FFC107"/>
                </a:solidFill>
                <a:latin typeface="Calibri"/>
              </a:rPr>
              <a:t>DASHBOARD + ANALYTICS</a:t>
            </a:r>
          </a:p>
        </p:txBody>
      </p:sp>
      <p:sp>
        <p:nvSpPr>
          <p:cNvPr id="5" name="TextBox 4"/>
          <p:cNvSpPr txBox="1"/>
          <p:nvPr/>
        </p:nvSpPr>
        <p:spPr>
          <a:xfrm>
            <a:off x="548640" y="868680"/>
            <a:ext cx="10972800" cy="777240"/>
          </a:xfrm>
          <a:prstGeom prst="rect">
            <a:avLst/>
          </a:prstGeom>
          <a:noFill/>
        </p:spPr>
        <p:txBody>
          <a:bodyPr wrap="square" lIns="45720" rIns="45720">
            <a:spAutoFit/>
          </a:bodyPr>
          <a:lstStyle/>
          <a:p>
            <a:pPr algn="l"/>
            <a:r>
              <a:rPr sz="3200" b="1">
                <a:solidFill>
                  <a:srgbClr val="222222"/>
                </a:solidFill>
                <a:latin typeface="Calibri"/>
              </a:rPr>
              <a:t>Plotly · async aggregaties · per-eenheid</a:t>
            </a:r>
          </a:p>
        </p:txBody>
      </p:sp>
      <p:pic>
        <p:nvPicPr>
          <p:cNvPr id="6" name="Picture 5" descr="img_1.png"/>
          <p:cNvPicPr>
            <a:picLocks noChangeAspect="1"/>
          </p:cNvPicPr>
          <p:nvPr/>
        </p:nvPicPr>
        <p:blipFill>
          <a:blip r:embed="rId2"/>
          <a:stretch>
            <a:fillRect/>
          </a:stretch>
        </p:blipFill>
        <p:spPr>
          <a:xfrm>
            <a:off x="1356959" y="2194560"/>
            <a:ext cx="3869761" cy="4114799"/>
          </a:xfrm>
          <a:prstGeom prst="rect">
            <a:avLst/>
          </a:prstGeom>
        </p:spPr>
      </p:pic>
      <p:pic>
        <p:nvPicPr>
          <p:cNvPr id="7" name="Picture 6" descr="img_2.png"/>
          <p:cNvPicPr>
            <a:picLocks noChangeAspect="1"/>
          </p:cNvPicPr>
          <p:nvPr/>
        </p:nvPicPr>
        <p:blipFill>
          <a:blip r:embed="rId3"/>
          <a:stretch>
            <a:fillRect/>
          </a:stretch>
        </p:blipFill>
        <p:spPr>
          <a:xfrm>
            <a:off x="8095686" y="2194560"/>
            <a:ext cx="1730868" cy="4114800"/>
          </a:xfrm>
          <a:prstGeom prst="rect">
            <a:avLst/>
          </a:prstGeom>
        </p:spPr>
      </p:pic>
      <p:sp>
        <p:nvSpPr>
          <p:cNvPr id="8" name="TextBox 7"/>
          <p:cNvSpPr txBox="1"/>
          <p:nvPr/>
        </p:nvSpPr>
        <p:spPr>
          <a:xfrm>
            <a:off x="548640" y="6355080"/>
            <a:ext cx="10972800" cy="365760"/>
          </a:xfrm>
          <a:prstGeom prst="rect">
            <a:avLst/>
          </a:prstGeom>
          <a:noFill/>
        </p:spPr>
        <p:txBody>
          <a:bodyPr wrap="square" lIns="45720" rIns="45720">
            <a:spAutoFit/>
          </a:bodyPr>
          <a:lstStyle/>
          <a:p>
            <a:pPr algn="ctr"/>
            <a:r>
              <a:rPr sz="1100" b="0">
                <a:solidFill>
                  <a:srgbClr val="555555"/>
                </a:solidFill>
                <a:latin typeface="Calibri"/>
              </a:rPr>
              <a:t>Dashboard (links) · Analytics: coverage gauges, age-bracket pass rate, monthly trend, MFFT bottleneck, per-event histograms</a:t>
            </a:r>
          </a:p>
        </p:txBody>
      </p:sp>
      <p:sp>
        <p:nvSpPr>
          <p:cNvPr id="9" name="TextBox 8"/>
          <p:cNvSpPr txBox="1"/>
          <p:nvPr/>
        </p:nvSpPr>
        <p:spPr>
          <a:xfrm>
            <a:off x="457200" y="6446520"/>
            <a:ext cx="7315200" cy="365760"/>
          </a:xfrm>
          <a:prstGeom prst="rect">
            <a:avLst/>
          </a:prstGeom>
          <a:noFill/>
        </p:spPr>
        <p:txBody>
          <a:bodyPr wrap="square" lIns="45720" rIns="45720">
            <a:spAutoFit/>
          </a:bodyPr>
          <a:lstStyle/>
          <a:p>
            <a:pPr algn="l"/>
            <a:r>
              <a:rPr sz="1000" b="0">
                <a:solidFill>
                  <a:srgbClr val="555555"/>
                </a:solidFill>
                <a:latin typeface="Calibri"/>
              </a:rPr>
              <a:t>WarriorFit  ·  Technische voorstelling  ·  Benoit Goethals</a:t>
            </a:r>
          </a:p>
        </p:txBody>
      </p:sp>
      <p:sp>
        <p:nvSpPr>
          <p:cNvPr id="10" name="TextBox 9"/>
          <p:cNvSpPr txBox="1"/>
          <p:nvPr/>
        </p:nvSpPr>
        <p:spPr>
          <a:xfrm>
            <a:off x="10515600" y="6446520"/>
            <a:ext cx="1280160" cy="365760"/>
          </a:xfrm>
          <a:prstGeom prst="rect">
            <a:avLst/>
          </a:prstGeom>
          <a:noFill/>
        </p:spPr>
        <p:txBody>
          <a:bodyPr wrap="square" lIns="45720" rIns="45720">
            <a:spAutoFit/>
          </a:bodyPr>
          <a:lstStyle/>
          <a:p>
            <a:pPr algn="r"/>
            <a:r>
              <a:rPr sz="1000" b="0">
                <a:solidFill>
                  <a:srgbClr val="555555"/>
                </a:solidFill>
                <a:latin typeface="Calibri"/>
              </a:rPr>
              <a:t>19 / 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34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0972800" cy="411480"/>
          </a:xfrm>
          <a:prstGeom prst="rect">
            <a:avLst/>
          </a:prstGeom>
          <a:noFill/>
        </p:spPr>
        <p:txBody>
          <a:bodyPr wrap="square" lIns="45720" rIns="45720">
            <a:spAutoFit/>
          </a:bodyPr>
          <a:lstStyle/>
          <a:p>
            <a:pPr algn="l"/>
            <a:r>
              <a:rPr sz="1400" b="1">
                <a:solidFill>
                  <a:srgbClr val="FFC107"/>
                </a:solidFill>
                <a:latin typeface="Calibri"/>
              </a:rPr>
              <a:t>VOLGENDE STAPPEN</a:t>
            </a:r>
          </a:p>
        </p:txBody>
      </p:sp>
      <p:sp>
        <p:nvSpPr>
          <p:cNvPr id="4" name="TextBox 3"/>
          <p:cNvSpPr txBox="1"/>
          <p:nvPr/>
        </p:nvSpPr>
        <p:spPr>
          <a:xfrm>
            <a:off x="548640" y="868680"/>
            <a:ext cx="10972800" cy="868680"/>
          </a:xfrm>
          <a:prstGeom prst="rect">
            <a:avLst/>
          </a:prstGeom>
          <a:noFill/>
        </p:spPr>
        <p:txBody>
          <a:bodyPr wrap="square" lIns="45720" rIns="45720">
            <a:spAutoFit/>
          </a:bodyPr>
          <a:lstStyle/>
          <a:p>
            <a:pPr algn="l"/>
            <a:r>
              <a:rPr sz="3600" b="1">
                <a:solidFill>
                  <a:srgbClr val="FFFFFF"/>
                </a:solidFill>
                <a:latin typeface="Calibri"/>
              </a:rPr>
              <a:t>Productie-pilot Q3 2026</a:t>
            </a:r>
          </a:p>
        </p:txBody>
      </p:sp>
      <p:sp>
        <p:nvSpPr>
          <p:cNvPr id="5" name="Rounded Rectangle 4"/>
          <p:cNvSpPr/>
          <p:nvPr/>
        </p:nvSpPr>
        <p:spPr>
          <a:xfrm>
            <a:off x="548640" y="2194560"/>
            <a:ext cx="3566160" cy="3840480"/>
          </a:xfrm>
          <a:prstGeom prst="roundRect">
            <a:avLst/>
          </a:prstGeom>
          <a:solidFill>
            <a:srgbClr val="4A5D23"/>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468880"/>
            <a:ext cx="3200400" cy="457200"/>
          </a:xfrm>
          <a:prstGeom prst="rect">
            <a:avLst/>
          </a:prstGeom>
          <a:noFill/>
        </p:spPr>
        <p:txBody>
          <a:bodyPr wrap="square" lIns="45720" rIns="45720">
            <a:spAutoFit/>
          </a:bodyPr>
          <a:lstStyle/>
          <a:p>
            <a:pPr algn="l"/>
            <a:r>
              <a:rPr sz="1800" b="1">
                <a:solidFill>
                  <a:srgbClr val="FFC107"/>
                </a:solidFill>
                <a:latin typeface="Calibri"/>
              </a:rPr>
              <a:t>Korte termijn</a:t>
            </a:r>
          </a:p>
        </p:txBody>
      </p:sp>
      <p:sp>
        <p:nvSpPr>
          <p:cNvPr id="7" name="TextBox 6"/>
          <p:cNvSpPr txBox="1"/>
          <p:nvPr/>
        </p:nvSpPr>
        <p:spPr>
          <a:xfrm>
            <a:off x="822960" y="3017520"/>
            <a:ext cx="3200400" cy="3017520"/>
          </a:xfrm>
          <a:prstGeom prst="rect">
            <a:avLst/>
          </a:prstGeom>
          <a:noFill/>
        </p:spPr>
        <p:txBody>
          <a:bodyPr wrap="square" lIns="45720" rIns="45720">
            <a:spAutoFit/>
          </a:bodyPr>
          <a:lstStyle/>
          <a:p>
            <a:pPr algn="l"/>
            <a:r>
              <a:rPr sz="1300" b="0">
                <a:solidFill>
                  <a:srgbClr val="F5F1E6"/>
                </a:solidFill>
                <a:latin typeface="Calibri"/>
              </a:rPr>
              <a:t>→  BEMIL-API productie-koppeling</a:t>
            </a:r>
          </a:p>
          <a:p>
            <a:pPr algn="l"/>
            <a:r>
              <a:rPr sz="1300" b="0">
                <a:solidFill>
                  <a:srgbClr val="F5F1E6"/>
                </a:solidFill>
                <a:latin typeface="Calibri"/>
              </a:rPr>
              <a:t>→  SSO voor militair-login (Defensie IdP)</a:t>
            </a:r>
          </a:p>
          <a:p>
            <a:pPr algn="l"/>
            <a:r>
              <a:rPr sz="1300" b="0">
                <a:solidFill>
                  <a:srgbClr val="F5F1E6"/>
                </a:solidFill>
                <a:latin typeface="Calibri"/>
              </a:rPr>
              <a:t>→  Admin UI voor dead-letter queue</a:t>
            </a:r>
          </a:p>
          <a:p>
            <a:pPr algn="l"/>
            <a:r>
              <a:rPr sz="1300" b="0">
                <a:solidFill>
                  <a:srgbClr val="F5F1E6"/>
                </a:solidFill>
                <a:latin typeface="Calibri"/>
              </a:rPr>
              <a:t>→  i18n missing-key linter</a:t>
            </a:r>
          </a:p>
        </p:txBody>
      </p:sp>
      <p:sp>
        <p:nvSpPr>
          <p:cNvPr id="8" name="Rounded Rectangle 7"/>
          <p:cNvSpPr/>
          <p:nvPr/>
        </p:nvSpPr>
        <p:spPr>
          <a:xfrm>
            <a:off x="4297680" y="2194560"/>
            <a:ext cx="3566160" cy="3840480"/>
          </a:xfrm>
          <a:prstGeom prst="roundRect">
            <a:avLst/>
          </a:prstGeom>
          <a:solidFill>
            <a:srgbClr val="4A5D23"/>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2468880"/>
            <a:ext cx="3200400" cy="457200"/>
          </a:xfrm>
          <a:prstGeom prst="rect">
            <a:avLst/>
          </a:prstGeom>
          <a:noFill/>
        </p:spPr>
        <p:txBody>
          <a:bodyPr wrap="square" lIns="45720" rIns="45720">
            <a:spAutoFit/>
          </a:bodyPr>
          <a:lstStyle/>
          <a:p>
            <a:pPr algn="l"/>
            <a:r>
              <a:rPr sz="1800" b="1">
                <a:solidFill>
                  <a:srgbClr val="FFC107"/>
                </a:solidFill>
                <a:latin typeface="Calibri"/>
              </a:rPr>
              <a:t>Middel-lang</a:t>
            </a:r>
          </a:p>
        </p:txBody>
      </p:sp>
      <p:sp>
        <p:nvSpPr>
          <p:cNvPr id="10" name="TextBox 9"/>
          <p:cNvSpPr txBox="1"/>
          <p:nvPr/>
        </p:nvSpPr>
        <p:spPr>
          <a:xfrm>
            <a:off x="4572000" y="3017520"/>
            <a:ext cx="3200400" cy="3017520"/>
          </a:xfrm>
          <a:prstGeom prst="rect">
            <a:avLst/>
          </a:prstGeom>
          <a:noFill/>
        </p:spPr>
        <p:txBody>
          <a:bodyPr wrap="square" lIns="45720" rIns="45720">
            <a:spAutoFit/>
          </a:bodyPr>
          <a:lstStyle/>
          <a:p>
            <a:pPr algn="l"/>
            <a:r>
              <a:rPr sz="1300" b="0" dirty="0">
                <a:solidFill>
                  <a:srgbClr val="F5F1E6"/>
                </a:solidFill>
                <a:latin typeface="Calibri"/>
              </a:rPr>
              <a:t>→  MFFT </a:t>
            </a:r>
            <a:r>
              <a:rPr sz="1300" b="0" dirty="0" err="1">
                <a:solidFill>
                  <a:srgbClr val="F5F1E6"/>
                </a:solidFill>
                <a:latin typeface="Calibri"/>
              </a:rPr>
              <a:t>scoretabellen</a:t>
            </a:r>
            <a:r>
              <a:rPr sz="1300" b="0" dirty="0">
                <a:solidFill>
                  <a:srgbClr val="F5F1E6"/>
                </a:solidFill>
                <a:latin typeface="Calibri"/>
              </a:rPr>
              <a:t> </a:t>
            </a:r>
            <a:r>
              <a:rPr sz="1300" b="0" dirty="0" err="1">
                <a:solidFill>
                  <a:srgbClr val="F5F1E6"/>
                </a:solidFill>
                <a:latin typeface="Calibri"/>
              </a:rPr>
              <a:t>configureerbaar</a:t>
            </a:r>
            <a:r>
              <a:rPr sz="1300" b="0" dirty="0">
                <a:solidFill>
                  <a:srgbClr val="F5F1E6"/>
                </a:solidFill>
                <a:latin typeface="Calibri"/>
              </a:rPr>
              <a:t> (YAML / DB)</a:t>
            </a:r>
          </a:p>
          <a:p>
            <a:pPr algn="l"/>
            <a:r>
              <a:rPr sz="1300" b="0" dirty="0">
                <a:solidFill>
                  <a:srgbClr val="F5F1E6"/>
                </a:solidFill>
                <a:latin typeface="Calibri"/>
              </a:rPr>
              <a:t>→  Per-soldier drill-down </a:t>
            </a:r>
            <a:r>
              <a:rPr sz="1300" b="0" dirty="0" err="1">
                <a:solidFill>
                  <a:srgbClr val="F5F1E6"/>
                </a:solidFill>
                <a:latin typeface="Calibri"/>
              </a:rPr>
              <a:t>vanuit</a:t>
            </a:r>
            <a:r>
              <a:rPr sz="1300" b="0" dirty="0">
                <a:solidFill>
                  <a:srgbClr val="F5F1E6"/>
                </a:solidFill>
                <a:latin typeface="Calibri"/>
              </a:rPr>
              <a:t> Analytics-</a:t>
            </a:r>
            <a:r>
              <a:rPr sz="1300" b="0" dirty="0" err="1">
                <a:solidFill>
                  <a:srgbClr val="F5F1E6"/>
                </a:solidFill>
                <a:latin typeface="Calibri"/>
              </a:rPr>
              <a:t>grafieken</a:t>
            </a:r>
            <a:endParaRPr sz="1300" b="0" dirty="0">
              <a:solidFill>
                <a:srgbClr val="F5F1E6"/>
              </a:solidFill>
              <a:latin typeface="Calibri"/>
            </a:endParaRPr>
          </a:p>
          <a:p>
            <a:pPr algn="l"/>
            <a:r>
              <a:rPr sz="1300" b="0" dirty="0">
                <a:solidFill>
                  <a:srgbClr val="F5F1E6"/>
                </a:solidFill>
                <a:latin typeface="Calibri"/>
              </a:rPr>
              <a:t>→  OPS_SP / TER_SP cluster-support op </a:t>
            </a:r>
            <a:r>
              <a:rPr sz="1300" b="0" dirty="0" err="1">
                <a:solidFill>
                  <a:srgbClr val="F5F1E6"/>
                </a:solidFill>
                <a:latin typeface="Calibri"/>
              </a:rPr>
              <a:t>personeel-niveau</a:t>
            </a:r>
            <a:endParaRPr sz="1300" b="0" dirty="0">
              <a:solidFill>
                <a:srgbClr val="F5F1E6"/>
              </a:solidFill>
              <a:latin typeface="Calibri"/>
            </a:endParaRPr>
          </a:p>
          <a:p>
            <a:pPr algn="l"/>
            <a:r>
              <a:rPr sz="1300" b="0" dirty="0">
                <a:solidFill>
                  <a:srgbClr val="F5F1E6"/>
                </a:solidFill>
                <a:latin typeface="Calibri"/>
              </a:rPr>
              <a:t>→  Prometheus / health-endpoint</a:t>
            </a:r>
          </a:p>
        </p:txBody>
      </p:sp>
      <p:sp>
        <p:nvSpPr>
          <p:cNvPr id="11" name="Rounded Rectangle 10"/>
          <p:cNvSpPr/>
          <p:nvPr/>
        </p:nvSpPr>
        <p:spPr>
          <a:xfrm>
            <a:off x="8046720" y="2194560"/>
            <a:ext cx="3566160" cy="3840480"/>
          </a:xfrm>
          <a:prstGeom prst="roundRect">
            <a:avLst/>
          </a:prstGeom>
          <a:solidFill>
            <a:srgbClr val="4A5D23"/>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2468880"/>
            <a:ext cx="3200400" cy="457200"/>
          </a:xfrm>
          <a:prstGeom prst="rect">
            <a:avLst/>
          </a:prstGeom>
          <a:noFill/>
        </p:spPr>
        <p:txBody>
          <a:bodyPr wrap="square" lIns="45720" rIns="45720">
            <a:spAutoFit/>
          </a:bodyPr>
          <a:lstStyle/>
          <a:p>
            <a:pPr algn="l"/>
            <a:r>
              <a:rPr sz="1800" b="1">
                <a:solidFill>
                  <a:srgbClr val="FFC107"/>
                </a:solidFill>
                <a:latin typeface="Calibri"/>
              </a:rPr>
              <a:t>Lang</a:t>
            </a:r>
          </a:p>
        </p:txBody>
      </p:sp>
      <p:sp>
        <p:nvSpPr>
          <p:cNvPr id="13" name="TextBox 12"/>
          <p:cNvSpPr txBox="1"/>
          <p:nvPr/>
        </p:nvSpPr>
        <p:spPr>
          <a:xfrm>
            <a:off x="8321040" y="3017520"/>
            <a:ext cx="3200400" cy="3017520"/>
          </a:xfrm>
          <a:prstGeom prst="rect">
            <a:avLst/>
          </a:prstGeom>
          <a:noFill/>
        </p:spPr>
        <p:txBody>
          <a:bodyPr wrap="square" lIns="45720" rIns="45720">
            <a:spAutoFit/>
          </a:bodyPr>
          <a:lstStyle/>
          <a:p>
            <a:pPr algn="l"/>
            <a:r>
              <a:rPr sz="1300" b="0">
                <a:solidFill>
                  <a:srgbClr val="F5F1E6"/>
                </a:solidFill>
                <a:latin typeface="Calibri"/>
              </a:rPr>
              <a:t>→  Roll-out per bataljon</a:t>
            </a:r>
          </a:p>
          <a:p>
            <a:pPr algn="l"/>
            <a:r>
              <a:rPr sz="1300" b="0">
                <a:solidFill>
                  <a:srgbClr val="F5F1E6"/>
                </a:solidFill>
                <a:latin typeface="Calibri"/>
              </a:rPr>
              <a:t>→  MkDocs site finaliseren</a:t>
            </a:r>
          </a:p>
          <a:p>
            <a:pPr algn="l"/>
            <a:r>
              <a:rPr sz="1300" b="0">
                <a:solidFill>
                  <a:srgbClr val="F5F1E6"/>
                </a:solidFill>
                <a:latin typeface="Calibri"/>
              </a:rPr>
              <a:t>→  Cross-eenheid statistieken</a:t>
            </a:r>
          </a:p>
          <a:p>
            <a:pPr algn="l"/>
            <a:r>
              <a:rPr sz="1300" b="0">
                <a:solidFill>
                  <a:srgbClr val="F5F1E6"/>
                </a:solidFill>
                <a:latin typeface="Calibri"/>
              </a:rPr>
              <a:t>→  Mobile-companion (Shiny Express)</a:t>
            </a:r>
          </a:p>
        </p:txBody>
      </p:sp>
      <p:sp>
        <p:nvSpPr>
          <p:cNvPr id="14" name="TextBox 13"/>
          <p:cNvSpPr txBox="1"/>
          <p:nvPr/>
        </p:nvSpPr>
        <p:spPr>
          <a:xfrm>
            <a:off x="548640" y="6400800"/>
            <a:ext cx="10972800" cy="365760"/>
          </a:xfrm>
          <a:prstGeom prst="rect">
            <a:avLst/>
          </a:prstGeom>
          <a:noFill/>
        </p:spPr>
        <p:txBody>
          <a:bodyPr wrap="square" lIns="45720" rIns="45720">
            <a:spAutoFit/>
          </a:bodyPr>
          <a:lstStyle/>
          <a:p>
            <a:pPr algn="ctr"/>
            <a:r>
              <a:rPr sz="1100" b="0">
                <a:solidFill>
                  <a:srgbClr val="C3B091"/>
                </a:solidFill>
                <a:latin typeface="Calibri"/>
              </a:rPr>
              <a:t>benoit.goethals@gmail.com  ·  github.com/BenoitGoethals/WarriorFit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3462</TotalTime>
  <Words>3352</Words>
  <Application>Microsoft Macintosh PowerPoint</Application>
  <PresentationFormat>Widescreen</PresentationFormat>
  <Paragraphs>451</Paragraphs>
  <Slides>19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Benoit Goethals</cp:lastModifiedBy>
  <cp:revision>5</cp:revision>
  <dcterms:created xsi:type="dcterms:W3CDTF">2013-01-27T09:14:16Z</dcterms:created>
  <dcterms:modified xsi:type="dcterms:W3CDTF">2026-06-22T18:35:18Z</dcterms:modified>
  <cp:category/>
</cp:coreProperties>
</file>