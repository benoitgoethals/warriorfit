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68"/>
  </p:normalViewPr>
  <p:slideViewPr>
    <p:cSldViewPr snapToGrid="0" snapToObjects="1">
      <p:cViewPr varScale="1">
        <p:scale>
          <a:sx n="240" d="100"/>
          <a:sy n="240" d="100"/>
        </p:scale>
        <p:origin x="200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A502-5F08-B140-AD9B-A3AFF21258ED}" type="datetimeFigureOut">
              <a:rPr lang="en-BE" smtClean="0"/>
              <a:t>18/06/2026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EB9D1-6DC3-4841-9682-DA20CB5367A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4464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Uren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manueel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werk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per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sessie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5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testtypes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, 5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scoringsregels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herbruikbaar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historiek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automatische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e-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mailrespons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Papieren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fiches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raken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kwijt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Geen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realtime-zicht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op de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eenheid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HR-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synchronisatie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traag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&amp;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foutgevoelig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Cijfers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verspreid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over Excel-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bestanden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vergelijking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tussen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sub-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eenheden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Compliance-rapport =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handmatig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audit trail — AVG-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risico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data-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retentiebeleid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ondersteuning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voor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MFFT 2026</a:t>
            </a: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statistische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inzichten</a:t>
            </a:r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lang="en-GB" sz="1200" b="0" dirty="0">
                <a:solidFill>
                  <a:srgbClr val="222222"/>
                </a:solidFill>
                <a:latin typeface="Calibri"/>
              </a:rPr>
              <a:t>•  Geen </a:t>
            </a:r>
            <a:r>
              <a:rPr lang="en-GB" sz="1200" b="0" dirty="0" err="1">
                <a:solidFill>
                  <a:srgbClr val="222222"/>
                </a:solidFill>
                <a:latin typeface="Calibri"/>
              </a:rPr>
              <a:t>integratie</a:t>
            </a:r>
            <a:r>
              <a:rPr lang="en-GB" sz="1200" b="0" dirty="0">
                <a:solidFill>
                  <a:srgbClr val="222222"/>
                </a:solidFill>
                <a:latin typeface="Calibri"/>
              </a:rPr>
              <a:t> met BEMIL / HR</a:t>
            </a:r>
          </a:p>
          <a:p>
            <a:pPr algn="l"/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pPr algn="l"/>
            <a:endParaRPr lang="en-GB" sz="1200" b="0" dirty="0">
              <a:solidFill>
                <a:srgbClr val="222222"/>
              </a:solidFill>
              <a:latin typeface="Calibri"/>
            </a:endParaRPr>
          </a:p>
          <a:p>
            <a:endParaRPr lang="en-BE" dirty="0"/>
          </a:p>
          <a:p>
            <a:endParaRPr lang="en-BE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EB9D1-6DC3-4841-9682-DA20CB5367AE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17457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4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C107"/>
                </a:solidFill>
                <a:latin typeface="Calibri"/>
              </a:rPr>
              <a:t>⚔  WARRIORFIT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WarriorFit digitaliseert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C107"/>
                </a:solidFill>
                <a:latin typeface="Calibri"/>
              </a:rPr>
              <a:t>de fysieke fitheidstesten van Defensie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C3B091"/>
                </a:solidFill>
                <a:latin typeface="Calibri"/>
              </a:rPr>
              <a:t>Eén platform — 5 testtypes — geïntegreerd met HRM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3B091"/>
                </a:solidFill>
                <a:latin typeface="Calibri"/>
              </a:rPr>
              <a:t>Benoit Goethals  ·  Academiejaar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1B5F-2ABA-38A8-CC62-AAFC0C7E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oster with text and images&#10;&#10;AI-generated content may be incorrect.">
            <a:extLst>
              <a:ext uri="{FF2B5EF4-FFF2-40B4-BE49-F238E27FC236}">
                <a16:creationId xmlns:a16="http://schemas.microsoft.com/office/drawing/2014/main" id="{312775BC-333A-9321-CEA5-F71A87664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19" y="101070"/>
            <a:ext cx="9983788" cy="665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61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OPLOSSING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Calibri"/>
              </a:rPr>
              <a:t>Eén Shiny-platform voor het volledige proces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4A5D23"/>
                </a:solidFill>
                <a:latin typeface="Calibri"/>
              </a:rPr>
              <a:t>Vijf testtypes — PHEF, Combat, Functional, Swimming, MFFT — met live scoring per onderdeel.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3566160" cy="13716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3566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Registratie &amp;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35661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→  Eén invoerpagina per testtype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→  Officiële scoretabellen ingebouwd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→  Live tier-feedback (✓ GOLD / ✗ UNFIT)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→  Strikte input-validatie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→  Automatische e-mail naar militair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834640"/>
            <a:ext cx="356616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3063240"/>
            <a:ext cx="3566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Inzicht &amp; rapportage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611880"/>
            <a:ext cx="3566160" cy="95410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Dashboard per 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eenheid</a:t>
            </a:r>
            <a:endParaRPr sz="14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Analytics: bottleneck + trends</a:t>
            </a:r>
          </a:p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Individueel</a:t>
            </a:r>
            <a:r>
              <a:rPr sz="1400" b="0" dirty="0">
                <a:solidFill>
                  <a:srgbClr val="222222"/>
                </a:solidFill>
                <a:latin typeface="Calibri"/>
              </a:rPr>
              <a:t> PDF-rapport</a:t>
            </a:r>
          </a:p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CSV + landscape A4 PDF export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834640"/>
            <a:ext cx="3566160" cy="137160"/>
          </a:xfrm>
          <a:prstGeom prst="rect">
            <a:avLst/>
          </a:prstGeom>
          <a:solidFill>
            <a:srgbClr val="C3B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0" y="3063240"/>
            <a:ext cx="3566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Calibri"/>
              </a:rPr>
              <a:t>Integratie &amp;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611880"/>
            <a:ext cx="356616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BEMIL-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koppeling</a:t>
            </a:r>
            <a:r>
              <a:rPr sz="1400" b="0" dirty="0">
                <a:solidFill>
                  <a:srgbClr val="222222"/>
                </a:solidFill>
                <a:latin typeface="Calibri"/>
              </a:rPr>
              <a:t> (HR-broker)</a:t>
            </a:r>
          </a:p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AVG: consent, export, 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retentie</a:t>
            </a:r>
            <a:endParaRPr sz="14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RBAC: 6 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rollen</a:t>
            </a:r>
            <a:r>
              <a:rPr sz="1400" b="0" dirty="0">
                <a:solidFill>
                  <a:srgbClr val="222222"/>
                </a:solidFill>
                <a:latin typeface="Calibri"/>
              </a:rPr>
              <a:t>, OWASP-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gehard</a:t>
            </a:r>
            <a:endParaRPr sz="14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EN / NL / FR </a:t>
            </a:r>
            <a:r>
              <a:rPr sz="1400" b="0" dirty="0" err="1">
                <a:solidFill>
                  <a:srgbClr val="222222"/>
                </a:solidFill>
                <a:latin typeface="Calibri"/>
              </a:rPr>
              <a:t>meertalig</a:t>
            </a:r>
            <a:endParaRPr sz="1400" b="0" dirty="0">
              <a:solidFill>
                <a:srgbClr val="222222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222222"/>
                </a:solidFill>
                <a:latin typeface="Calibri"/>
              </a:rPr>
              <a:t>→  PostgreSQL + audit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WarriorFit  ·  Benoit Goethals  ·  2025-2026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WAAROM 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Calibri"/>
              </a:rPr>
              <a:t>De juiste oplossing op het juiste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280160" cy="822960"/>
          </a:xfrm>
          <a:prstGeom prst="round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9456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Eval MFFT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060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Nieuwe verplichte 8-event evaluatie van de Landmacht — niet meer manueel te beheren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280160" cy="822960"/>
          </a:xfrm>
          <a:prstGeom prst="round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AVG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4612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Consent + Art. 15/20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5760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Self-service GDPR is geen optie meer maar een wettelijke vereiste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79"/>
            <a:ext cx="1280160" cy="822960"/>
          </a:xfrm>
          <a:prstGeom prst="round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480559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297679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BEMIL digitaliseert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709159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Defensie verwacht event-driven sync ipv batch CSV's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1280160" cy="822960"/>
          </a:xfrm>
          <a:prstGeom prst="round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C107"/>
                </a:solidFill>
                <a:latin typeface="Calibri"/>
              </a:rPr>
              <a:t>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349240"/>
            <a:ext cx="2286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Calibri"/>
              </a:rPr>
              <a:t>Python + async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76072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Shiny + SQLAlchemy async maken eenpersoonsteams realistisch productief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WarriorFit  ·  Benoit Goethals  ·  2025-2026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MARKTOMVANG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Calibri"/>
              </a:rPr>
              <a:t>Defensie-personeel als gestructureerde doelgroep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3566160" cy="3200400"/>
          </a:xfrm>
          <a:prstGeom prst="roundRect">
            <a:avLst/>
          </a:prstGeom>
          <a:solidFill>
            <a:srgbClr val="33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5661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≈ 25 000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3566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Defensie totaal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35661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Alle actieve militairen in België — jaarlijkse PHEF wettelijk verplicht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286000"/>
            <a:ext cx="3566160" cy="3200400"/>
          </a:xfrm>
          <a:prstGeom prst="round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560320"/>
            <a:ext cx="35661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≈ 11 000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474720"/>
            <a:ext cx="3566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Landcomponent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023360"/>
            <a:ext cx="35661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Doelgroep voor MFFT 2026 — paratroopers + ENABLER-clusters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566160" cy="32004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2560320"/>
            <a:ext cx="35661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1 SOR-eenheid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474720"/>
            <a:ext cx="3566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Pilot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56616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WarriorFit is gevalideerd op één SOR-eenheid en uitrolbaar per 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Per eenheid: ~500 militairen × 5 testtypes × 1× per jaar = 2 500 testresultaten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WarriorFit  ·  Benoit Goethals  ·  2025-2026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CONCURRENTIE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Calibri"/>
              </a:rPr>
              <a:t>Wat gebruikt Defensie vandaag?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200400" cy="4572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Criterium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40" y="2011680"/>
            <a:ext cx="2011680" cy="4572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0" y="20574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Excel / papier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011680"/>
            <a:ext cx="2011680" cy="4572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20574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BEMIL (HR)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011680"/>
            <a:ext cx="2011680" cy="4572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20574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Generieke fitness-app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2011680"/>
            <a:ext cx="2011680" cy="45720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0" y="2057400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WarriorFit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68880"/>
            <a:ext cx="320040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633472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5D23"/>
                </a:solidFill>
                <a:latin typeface="Calibri"/>
              </a:rPr>
              <a:t>Alle 5 testtypes ondersteund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246888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26334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Deels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46888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26334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6888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26334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46888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0" y="26334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334218"/>
                </a:solidFill>
                <a:latin typeface="Calibri"/>
              </a:rPr>
              <a:t>Ja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0896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273552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5D23"/>
                </a:solidFill>
                <a:latin typeface="Calibri"/>
              </a:rPr>
              <a:t>Officiële scoretabellen (incl. MFFT)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310896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0" y="327355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Manueel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310896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0" y="327355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10896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327355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310896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0" y="327355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334218"/>
                </a:solidFill>
                <a:latin typeface="Calibri"/>
              </a:rPr>
              <a:t>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49039"/>
            <a:ext cx="320040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3913631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5D23"/>
                </a:solidFill>
                <a:latin typeface="Calibri"/>
              </a:rPr>
              <a:t>Live tier-feedback per onderdeel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3749039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0" y="3913631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749039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60" y="3913631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3749039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63840" y="3913631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Soms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3749039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75520" y="3913631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334218"/>
                </a:solidFill>
                <a:latin typeface="Calibri"/>
              </a:rPr>
              <a:t>Ja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38912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553712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5D23"/>
                </a:solidFill>
                <a:latin typeface="Calibri"/>
              </a:rPr>
              <a:t>AVG: consent + export + retentie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40" y="438912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840480" y="455371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438912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852160" y="455371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Deels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38912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63840" y="455371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438912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75520" y="455371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334218"/>
                </a:solidFill>
                <a:latin typeface="Calibri"/>
              </a:rPr>
              <a:t>Ja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029200"/>
            <a:ext cx="320040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193792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5D23"/>
                </a:solidFill>
                <a:latin typeface="Calibri"/>
              </a:rPr>
              <a:t>HR-broker integratie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502920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40480" y="519379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502920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852160" y="519379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n.v.t.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0" y="502920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63840" y="519379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84080" y="5029200"/>
            <a:ext cx="2011680" cy="640080"/>
          </a:xfrm>
          <a:prstGeom prst="rect">
            <a:avLst/>
          </a:prstGeom>
          <a:solidFill>
            <a:srgbClr val="F5F1E6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75520" y="519379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334218"/>
                </a:solidFill>
                <a:latin typeface="Calibri"/>
              </a:rPr>
              <a:t>Ja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669280"/>
            <a:ext cx="3200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" y="5833872"/>
            <a:ext cx="30175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4A5D23"/>
                </a:solidFill>
                <a:latin typeface="Calibri"/>
              </a:rPr>
              <a:t>Cohort-analytics dashboard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49040" y="566928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840480" y="58338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566928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852160" y="58338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Beperkt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566928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63840" y="58338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Calibri"/>
              </a:rPr>
              <a:t>Nee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784080" y="5669280"/>
            <a:ext cx="20116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75520" y="5833872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334218"/>
                </a:solidFill>
                <a:latin typeface="Calibri"/>
              </a:rPr>
              <a:t>Ja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334218"/>
                </a:solidFill>
                <a:latin typeface="Calibri"/>
              </a:rPr>
              <a:t>Duurzaam voordeel: domeinspecifieke scoretabellen + AVG + HR-integratie in één codebase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WarriorFit  ·  Benoit Goethals  ·  2025-2026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Calibri"/>
              </a:rPr>
              <a:t>Gelaagde architectuur — uitbreidbaar per testtype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943600" cy="685800"/>
          </a:xfrm>
          <a:prstGeom prst="roundRect">
            <a:avLst/>
          </a:prstGeom>
          <a:solidFill>
            <a:srgbClr val="33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 · Shiny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5F1E6"/>
                </a:solidFill>
                <a:latin typeface="Calibri"/>
              </a:rPr>
              <a:t>24 pagina's · RBAC per 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5943600" cy="685800"/>
          </a:xfrm>
          <a:prstGeom prst="round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2 ·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6440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5F1E6"/>
                </a:solidFill>
                <a:latin typeface="Calibri"/>
              </a:rPr>
              <a:t>21 controllers · reactive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943600" cy="6858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3 · Services + Broker + Calculators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4164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5F1E6"/>
                </a:solidFill>
                <a:latin typeface="Calibri"/>
              </a:rPr>
              <a:t>Async + DI · MfftEvalCalculator + PhefCalculator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5943600" cy="685800"/>
          </a:xfrm>
          <a:prstGeom prst="round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4 · Repositories (async)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1888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5F1E6"/>
                </a:solidFill>
                <a:latin typeface="Calibri"/>
              </a:rPr>
              <a:t>Polymorphic FitnessTest 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5943600" cy="685800"/>
          </a:xfrm>
          <a:prstGeom prst="roundRect">
            <a:avLst/>
          </a:prstGeom>
          <a:solidFill>
            <a:srgbClr val="33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5 · ORM Models +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96128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F5F1E6"/>
                </a:solidFill>
                <a:latin typeface="Calibri"/>
              </a:rPr>
              <a:t>MfftEvalTest joined-table inheritance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0312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FFC107"/>
                </a:solidFill>
                <a:latin typeface="Calibr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7432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pagina's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10312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FFC107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7432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testtypes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38328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FFC107"/>
                </a:solidFill>
                <a:latin typeface="Calibri"/>
              </a:rPr>
              <a:t>171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0233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tests groen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38328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FFC107"/>
                </a:solidFill>
                <a:latin typeface="Calibri"/>
              </a:rPr>
              <a:t>EN/NL/FR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0233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meertalig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6344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FFC107"/>
                </a:solidFill>
                <a:latin typeface="Calibri"/>
              </a:rPr>
              <a:t>100 %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3035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async I/O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663440"/>
            <a:ext cx="1828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1">
                <a:solidFill>
                  <a:srgbClr val="FFC107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3035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rollen RBAC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334218"/>
                </a:solidFill>
                <a:latin typeface="Calibri"/>
              </a:rPr>
              <a:t>Eval MFFT toegevoegd in 1 sprint → bewijs dat de architectuur uitbreidbaar 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WarriorFit  ·  Benoit Goethals  ·  2025-2026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Calibri"/>
              </a:rPr>
              <a:t>Intern deployment, per-eenheid uitrolbaar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394960" cy="548640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Lokale Defensie-deployment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50292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Docker-image op interne server (geen publieke blootstelling)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PostgreSQL met SSL/TLS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PTI's invoer, commando's lezen, USER self-service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BEMIL-broker async sync naar HR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Geen licenties — open beheerd binnen Defensie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94560"/>
            <a:ext cx="5394960" cy="5486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Uitrolmodel per eenheid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502920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1 eenheid → eigen DB-schema + admin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Roll-out volgorde: SOR-pilot → batalion → land-component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Hergebruik van docs (User Manual NL/FR)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Opleidingstijd PTI: &lt; 30 min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Beheer via interne IT-cel (NIST CSF 2.0)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Geen commerciële prijs — academisch project, ontworpen voor interne Defensie-deployment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WarriorFit  ·  Benoit Goethals  ·  2025-2026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5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222222"/>
                </a:solidFill>
                <a:latin typeface="Calibri"/>
              </a:rPr>
              <a:t>Eénpersoonsproject met militaire achtergrond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642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3B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560320"/>
            <a:ext cx="2194560" cy="2194560"/>
          </a:xfrm>
          <a:prstGeom prst="ellipse">
            <a:avLst/>
          </a:prstGeom>
          <a:solidFill>
            <a:srgbClr val="4A5D23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945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6000" b="1">
                <a:solidFill>
                  <a:srgbClr val="FFC107"/>
                </a:solidFill>
                <a:latin typeface="Calibri"/>
              </a:rPr>
              <a:t>BG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600" b="1">
                <a:solidFill>
                  <a:srgbClr val="222222"/>
                </a:solidFill>
                <a:latin typeface="Calibri"/>
              </a:rPr>
              <a:t>Benoit Goethals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4A5D23"/>
                </a:solidFill>
                <a:latin typeface="Calibri"/>
              </a:rPr>
              <a:t>Solo developer · architect · product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57600"/>
            <a:ext cx="82296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Master Software Engineering 2025-2026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~1 050 commits over 10 maanden · 273 story points · 22 epics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Diepe ervaring met Python, async I/O, SQLAlchemy, Shiny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Direct contact met Land-component PTI's voor MFFT 2026 inhoud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 AVG-/security-bewustzijn: OWASP, NIST CSF 2.0, PostgreSQL TLS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WarriorFit  ·  Benoit Goethals  ·  2025-2026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4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STATUS &amp; VRAAG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Productieklaar — klaar voor pilot-deployment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2560320" cy="1828800"/>
          </a:xfrm>
          <a:prstGeom prst="roundRect">
            <a:avLst/>
          </a:prstGeom>
          <a:solidFill>
            <a:srgbClr val="4A5D23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5603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FFC107"/>
                </a:solidFill>
                <a:latin typeface="Calibri"/>
              </a:rPr>
              <a:t>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5F1E6"/>
                </a:solidFill>
                <a:latin typeface="Calibri"/>
              </a:rPr>
              <a:t>tests groen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194560"/>
            <a:ext cx="2560320" cy="1828800"/>
          </a:xfrm>
          <a:prstGeom prst="roundRect">
            <a:avLst/>
          </a:prstGeom>
          <a:solidFill>
            <a:srgbClr val="4A5D23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2468880"/>
            <a:ext cx="25603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FFC107"/>
                </a:solidFill>
                <a:latin typeface="Calibri"/>
              </a:rPr>
              <a:t>94 / 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38328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5F1E6"/>
                </a:solidFill>
                <a:latin typeface="Calibri"/>
              </a:rPr>
              <a:t>stories klaar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194560"/>
            <a:ext cx="2560320" cy="1828800"/>
          </a:xfrm>
          <a:prstGeom prst="roundRect">
            <a:avLst/>
          </a:prstGeom>
          <a:solidFill>
            <a:srgbClr val="4A5D23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468880"/>
            <a:ext cx="25603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FFC107"/>
                </a:solidFill>
                <a:latin typeface="Calibri"/>
              </a:rPr>
              <a:t>EN/NL/FR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8328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5F1E6"/>
                </a:solidFill>
                <a:latin typeface="Calibri"/>
              </a:rPr>
              <a:t>i18n compleet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194560"/>
            <a:ext cx="2560320" cy="1828800"/>
          </a:xfrm>
          <a:prstGeom prst="roundRect">
            <a:avLst/>
          </a:prstGeom>
          <a:solidFill>
            <a:srgbClr val="4A5D23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2468880"/>
            <a:ext cx="25603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FFC107"/>
                </a:solidFill>
                <a:latin typeface="Calibri"/>
              </a:rPr>
              <a:t>AVG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383280"/>
            <a:ext cx="2560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5F1E6"/>
                </a:solidFill>
                <a:latin typeface="Calibri"/>
              </a:rPr>
              <a:t>GDPR 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C107"/>
                </a:solidFill>
                <a:latin typeface="Calibri"/>
              </a:rPr>
              <a:t>DE VRAAG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10972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→  Pilot-deployment in één SOR-eenheid (Q3 2026)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→  Toegang tot BEMIL-API voor productie-koppeling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→  Feedback van PTI's tijdens MFFT-rollout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C3B091"/>
                </a:solidFill>
                <a:latin typeface="Calibri"/>
              </a:rPr>
              <a:t>benoit.goethals@gmail.com  ·  github.com/BenoitGoethals/WarriorFit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826</Words>
  <Application>Microsoft Macintosh PowerPoint</Application>
  <PresentationFormat>Widescreen</PresentationFormat>
  <Paragraphs>189</Paragraphs>
  <Slides>10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Benoit Goethals</cp:lastModifiedBy>
  <cp:revision>3</cp:revision>
  <dcterms:created xsi:type="dcterms:W3CDTF">2013-01-27T09:14:16Z</dcterms:created>
  <dcterms:modified xsi:type="dcterms:W3CDTF">2026-06-18T06:12:30Z</dcterms:modified>
  <cp:category/>
</cp:coreProperties>
</file>