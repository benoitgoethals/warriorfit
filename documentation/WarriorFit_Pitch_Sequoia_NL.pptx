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3"/>
    <p:restoredTop sz="94668"/>
  </p:normalViewPr>
  <p:slideViewPr>
    <p:cSldViewPr snapToGrid="0" snapToObjects="1">
      <p:cViewPr varScale="1">
        <p:scale>
          <a:sx n="240" d="100"/>
          <a:sy n="240" d="100"/>
        </p:scale>
        <p:origin x="1848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D4A502-5F08-B140-AD9B-A3AFF21258ED}" type="datetimeFigureOut">
              <a:rPr lang="en-BE" smtClean="0"/>
              <a:t>17/06/2026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EEB9D1-6DC3-4841-9682-DA20CB5367A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44647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Uren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manueel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werk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per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sessie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5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testtypes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, 5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scoringsregels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Geen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herbruikbaar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historiek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Geen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automatische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e-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mailrespons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Papieren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fiches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raken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kwijt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Geen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realtime-zicht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op de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eenheid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HR-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synchronisatie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traag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&amp;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foutgevoelig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Cijfers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verspreid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over Excel-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bestanden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Geen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vergelijking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tussen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sub-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eenheden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Compliance-rapport =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handmatig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Geen audit trail — AVG-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risico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Geen data-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retentiebeleid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Geen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ondersteuning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voor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MFFT 2026</a:t>
            </a: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Geen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statistische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inzichten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Geen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integratie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met BEMIL / HR</a:t>
            </a:r>
          </a:p>
          <a:p>
            <a:pPr algn="l"/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endParaRPr lang="en-BE" dirty="0"/>
          </a:p>
          <a:p>
            <a:endParaRPr lang="en-BE" dirty="0"/>
          </a:p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EEB9D1-6DC3-4841-9682-DA20CB5367AE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174572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4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C107"/>
                </a:solidFill>
                <a:latin typeface="Calibri"/>
              </a:rPr>
              <a:t>⚔  WARRIORFIT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109728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WarriorFit digitaliseert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3756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400" b="1">
                <a:solidFill>
                  <a:srgbClr val="FFC107"/>
                </a:solidFill>
                <a:latin typeface="Calibri"/>
              </a:rPr>
              <a:t>de fysieke fitheidstesten van Defensie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C3B091"/>
                </a:solidFill>
                <a:latin typeface="Calibri"/>
              </a:rPr>
              <a:t>Eén platform — 5 testtypes — geïntegreerd met HRM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C3B091"/>
                </a:solidFill>
                <a:latin typeface="Calibri"/>
              </a:rPr>
              <a:t>Benoit Goethals  ·  Academiejaar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31B5F-2ABA-38A8-CC62-AAFC0C7EF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poster with text and images&#10;&#10;AI-generated content may be incorrect.">
            <a:extLst>
              <a:ext uri="{FF2B5EF4-FFF2-40B4-BE49-F238E27FC236}">
                <a16:creationId xmlns:a16="http://schemas.microsoft.com/office/drawing/2014/main" id="{312775BC-333A-9321-CEA5-F71A87664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119" y="101070"/>
            <a:ext cx="9983788" cy="665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161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OPLOSSING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Calibri"/>
              </a:rPr>
              <a:t>Eén Shiny-platform voor het volledige proces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4A5D23"/>
                </a:solidFill>
                <a:latin typeface="Calibri"/>
              </a:rPr>
              <a:t>Vijf testtypes — PHEF, Combat, Functional, Swimming, MFFT — met live scoring per onderdeel.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34640"/>
            <a:ext cx="3566160" cy="13716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35661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Calibri"/>
              </a:rPr>
              <a:t>Registratie &amp; scoring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11880"/>
            <a:ext cx="35661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Eén invoerpagina per testtype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Officiële scoretabellen ingebouwd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Live tier-feedback (✓ GOLD / ✗ UNFIT)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Strikte input-validatie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Automatische e-mail naar militair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834640"/>
            <a:ext cx="3566160" cy="13716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0" y="3063240"/>
            <a:ext cx="35661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Calibri"/>
              </a:rPr>
              <a:t>Inzicht &amp; rapportage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611880"/>
            <a:ext cx="35661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Dashboard per eenheid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Analytics: bottleneck + trends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Individueel PDF-rapport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CSV + landscape A4 PDF export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Eigen unit + sub-eenheid filter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834640"/>
            <a:ext cx="3566160" cy="137160"/>
          </a:xfrm>
          <a:prstGeom prst="rect">
            <a:avLst/>
          </a:prstGeom>
          <a:solidFill>
            <a:srgbClr val="C3B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0" y="3063240"/>
            <a:ext cx="35661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Calibri"/>
              </a:rPr>
              <a:t>Integratie &amp;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611880"/>
            <a:ext cx="35661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BEMIL-koppeling (HR-broker)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AVG: consent, export, retentie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RBAC: 6 rollen, OWASP-gehard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EN / NL / FR meertalig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→  PostgreSQL + audit 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Benoit Goethals  ·  2025-2026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WAAROM NU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Calibri"/>
              </a:rPr>
              <a:t>De juiste oplossing op het juiste moment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1280160" cy="82296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94560"/>
            <a:ext cx="2286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Calibri"/>
              </a:rPr>
              <a:t>Eval MFFT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606040"/>
            <a:ext cx="9144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Nieuwe verplichte 8-event evaluatie van de Landmacht — niet meer manueel te beheren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1280160" cy="82296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AVG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246120"/>
            <a:ext cx="2286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Calibri"/>
              </a:rPr>
              <a:t>Consent + Art. 15/20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657600"/>
            <a:ext cx="9144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Self-service GDPR is geen optie meer maar een wettelijke vereiste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97679"/>
            <a:ext cx="1280160" cy="82296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4480559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297679"/>
            <a:ext cx="2286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Calibri"/>
              </a:rPr>
              <a:t>BEMIL digitaliseert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4709159"/>
            <a:ext cx="9144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Defensie verwacht event-driven sync ipv batch CSV's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49240"/>
            <a:ext cx="1280160" cy="82296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5532120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5349240"/>
            <a:ext cx="2286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Calibri"/>
              </a:rPr>
              <a:t>Python + async 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5760720"/>
            <a:ext cx="9144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Shiny + SQLAlchemy async maken eenpersoonsteams realistisch productief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Benoit Goethals  ·  2025-2026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MARKTOMVANG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Calibri"/>
              </a:rPr>
              <a:t>Defensie-personeel als gestructureerde doelgroep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3566160" cy="32004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560320"/>
            <a:ext cx="356616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≈ 25 000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3566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Defensie totaal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356616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Alle actieve militairen in België — jaarlijkse PHEF wettelijk verplicht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286000"/>
            <a:ext cx="3566160" cy="32004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0" y="2560320"/>
            <a:ext cx="356616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≈ 11 000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474720"/>
            <a:ext cx="3566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Landcomponent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4023360"/>
            <a:ext cx="356616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Doelgroep voor MFFT 2026 — paratroopers + ENABLER-clusters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286000"/>
            <a:ext cx="3566160" cy="32004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0" y="2560320"/>
            <a:ext cx="356616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1 SOR-eenheid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474720"/>
            <a:ext cx="3566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Pilot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023360"/>
            <a:ext cx="356616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WarriorFit is gevalideerd op één SOR-eenheid en uitrolbaar per unit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Per eenheid: ~500 militairen × 5 testtypes × 1× per jaar = 2 500 testresultaten per unit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Benoit Goethals  ·  2025-2026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CONCURRENTIE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Calibri"/>
              </a:rPr>
              <a:t>Wat gebruikt Defensie vandaag?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3200400" cy="45720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Criterium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40" y="2011680"/>
            <a:ext cx="2011680" cy="45720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49040" y="2057400"/>
            <a:ext cx="20116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Excel / papier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011680"/>
            <a:ext cx="2011680" cy="45720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60720" y="2057400"/>
            <a:ext cx="20116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BEMIL (HR)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2011680"/>
            <a:ext cx="2011680" cy="45720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0" y="2057400"/>
            <a:ext cx="20116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Generieke fitness-app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80" y="2011680"/>
            <a:ext cx="2011680" cy="45720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0" y="2057400"/>
            <a:ext cx="20116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WarriorFit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468880"/>
            <a:ext cx="320040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2633472"/>
            <a:ext cx="30175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4A5D23"/>
                </a:solidFill>
                <a:latin typeface="Calibri"/>
              </a:rPr>
              <a:t>Alle 5 testtypes ondersteund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468880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40480" y="263347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Deels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720" y="2468880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852160" y="263347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2468880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863840" y="263347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84080" y="2468880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75520" y="263347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334218"/>
                </a:solidFill>
                <a:latin typeface="Calibri"/>
              </a:rPr>
              <a:t>Ja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108960"/>
            <a:ext cx="32004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3273552"/>
            <a:ext cx="30175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4A5D23"/>
                </a:solidFill>
                <a:latin typeface="Calibri"/>
              </a:rPr>
              <a:t>Officiële scoretabellen (incl. MFFT)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40" y="310896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840480" y="327355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Manueel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60720" y="310896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852160" y="327355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0" y="310896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863840" y="327355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84080" y="310896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875520" y="327355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334218"/>
                </a:solidFill>
                <a:latin typeface="Calibri"/>
              </a:rPr>
              <a:t>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749039"/>
            <a:ext cx="320040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" y="3913631"/>
            <a:ext cx="30175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4A5D23"/>
                </a:solidFill>
                <a:latin typeface="Calibri"/>
              </a:rPr>
              <a:t>Live tier-feedback per onderdeel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49040" y="3749039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840480" y="3913631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60720" y="3749039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160" y="3913631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0" y="3749039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863840" y="3913631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Soms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84080" y="3749039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875520" y="3913631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334218"/>
                </a:solidFill>
                <a:latin typeface="Calibri"/>
              </a:rPr>
              <a:t>Ja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389120"/>
            <a:ext cx="32004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0080" y="4553712"/>
            <a:ext cx="30175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4A5D23"/>
                </a:solidFill>
                <a:latin typeface="Calibri"/>
              </a:rPr>
              <a:t>AVG: consent + export + retentie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49040" y="438912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840480" y="455371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60720" y="438912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852160" y="455371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Deels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0" y="438912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863840" y="455371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784080" y="438912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875520" y="455371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334218"/>
                </a:solidFill>
                <a:latin typeface="Calibri"/>
              </a:rPr>
              <a:t>Ja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5029200"/>
            <a:ext cx="320040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40080" y="5193792"/>
            <a:ext cx="30175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4A5D23"/>
                </a:solidFill>
                <a:latin typeface="Calibri"/>
              </a:rPr>
              <a:t>HR-broker integratie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749040" y="5029200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840480" y="519379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0720" y="5029200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852160" y="519379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n.v.t.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72400" y="5029200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863840" y="519379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84080" y="5029200"/>
            <a:ext cx="2011680" cy="640080"/>
          </a:xfrm>
          <a:prstGeom prst="rect">
            <a:avLst/>
          </a:prstGeom>
          <a:solidFill>
            <a:srgbClr val="F5F1E6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875520" y="519379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334218"/>
                </a:solidFill>
                <a:latin typeface="Calibri"/>
              </a:rPr>
              <a:t>Ja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5669280"/>
            <a:ext cx="32004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40080" y="5833872"/>
            <a:ext cx="30175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4A5D23"/>
                </a:solidFill>
                <a:latin typeface="Calibri"/>
              </a:rPr>
              <a:t>Cohort-analytics dashboard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749040" y="566928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840480" y="583387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760720" y="566928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852160" y="583387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Beperkt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772400" y="566928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863840" y="583387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Calibri"/>
              </a:rPr>
              <a:t>Nee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784080" y="5669280"/>
            <a:ext cx="20116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875520" y="5833872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334218"/>
                </a:solidFill>
                <a:latin typeface="Calibri"/>
              </a:rPr>
              <a:t>Ja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34218"/>
                </a:solidFill>
                <a:latin typeface="Calibri"/>
              </a:rPr>
              <a:t>Duurzaam voordeel: domeinspecifieke scoretabellen + AVG + HR-integratie in één codebase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Benoit Goethals  ·  2025-2026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Calibri"/>
              </a:rPr>
              <a:t>Gelaagde architectuur — uitbreidbaar per testtype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943600" cy="6858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1 · Shiny Pages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87168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F5F1E6"/>
                </a:solidFill>
                <a:latin typeface="Calibri"/>
              </a:rPr>
              <a:t>24 pagina's · RBAC per rol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80360"/>
            <a:ext cx="5943600" cy="6858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97180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2 · Controllers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64408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F5F1E6"/>
                </a:solidFill>
                <a:latin typeface="Calibri"/>
              </a:rPr>
              <a:t>21 controllers · reactive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57600"/>
            <a:ext cx="5943600" cy="6858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74904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3 · Services + Broker + Calculators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41648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F5F1E6"/>
                </a:solidFill>
                <a:latin typeface="Calibri"/>
              </a:rPr>
              <a:t>Async + DI · MfftEvalCalculator + PhefCalculator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434840"/>
            <a:ext cx="5943600" cy="6858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452628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4 · Repositories (async)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18888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F5F1E6"/>
                </a:solidFill>
                <a:latin typeface="Calibri"/>
              </a:rPr>
              <a:t>Polymorphic FitnessTest load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12080"/>
            <a:ext cx="5943600" cy="6858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30352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5 · ORM Models +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96128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F5F1E6"/>
                </a:solidFill>
                <a:latin typeface="Calibri"/>
              </a:rPr>
              <a:t>MfftEvalTest joined-table inheritance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103120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200" b="1">
                <a:solidFill>
                  <a:srgbClr val="FFC107"/>
                </a:solidFill>
                <a:latin typeface="Calibri"/>
              </a:rPr>
              <a:t>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74320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pagina's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103120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200" b="1">
                <a:solidFill>
                  <a:srgbClr val="FFC107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74320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testtypes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383280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200" b="1">
                <a:solidFill>
                  <a:srgbClr val="FFC107"/>
                </a:solidFill>
                <a:latin typeface="Calibri"/>
              </a:rPr>
              <a:t>171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402336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tests groen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3383280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200" b="1">
                <a:solidFill>
                  <a:srgbClr val="FFC107"/>
                </a:solidFill>
                <a:latin typeface="Calibri"/>
              </a:rPr>
              <a:t>EN/NL/FR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402336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meertalig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663440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200" b="1">
                <a:solidFill>
                  <a:srgbClr val="FFC107"/>
                </a:solidFill>
                <a:latin typeface="Calibri"/>
              </a:rPr>
              <a:t>100 %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530352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async I/O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4663440"/>
            <a:ext cx="1828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200" b="1">
                <a:solidFill>
                  <a:srgbClr val="FFC107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530352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rollen RBAC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334218"/>
                </a:solidFill>
                <a:latin typeface="Calibri"/>
              </a:rPr>
              <a:t>Eval MFFT toegevoegd in 1 sprint → bewijs dat de architectuur uitbreidbaar 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Benoit Goethals  ·  2025-2026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Calibri"/>
              </a:rPr>
              <a:t>Intern deployment, per-eenheid uitrolbaar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5394960" cy="54864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5029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Lokale Defensie-deployment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502920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Docker-image op interne server (geen publieke blootstelling)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PostgreSQL met SSL/TLS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PTI's invoer, commando's lezen, USER self-service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BEMIL-broker async sync naar HR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Geen licenties — open beheerd binnen Defensie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194560"/>
            <a:ext cx="5394960" cy="5486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5029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Uitrolmodel per eenheid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926080"/>
            <a:ext cx="502920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1 eenheid → eigen DB-schema + admin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Roll-out volgorde: SOR-pilot → batalion → land-component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Hergebruik van docs (User Manual NL/FR)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Opleidingstijd PTI: &lt; 30 min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Beheer via interne IT-cel (NIST CSF 2.0)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Geen commerciële prijs — academisch project, ontworpen voor interne Defensie-deployment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Benoit Goethals  ·  2025-2026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Calibri"/>
              </a:rPr>
              <a:t>Eénpersoonsproject met militaire achtergrond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1106424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C3B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2560320"/>
            <a:ext cx="2194560" cy="2194560"/>
          </a:xfrm>
          <a:prstGeom prst="ellipse">
            <a:avLst/>
          </a:prstGeom>
          <a:solidFill>
            <a:srgbClr val="4A5D23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219456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6000" b="1">
                <a:solidFill>
                  <a:srgbClr val="FFC107"/>
                </a:solidFill>
                <a:latin typeface="Calibri"/>
              </a:rPr>
              <a:t>BG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468880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  <a:latin typeface="Calibri"/>
              </a:rPr>
              <a:t>Benoit Goethals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017520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4A5D23"/>
                </a:solidFill>
                <a:latin typeface="Calibri"/>
              </a:rPr>
              <a:t>Solo developer · architect · product owner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657600"/>
            <a:ext cx="82296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Master Software Engineering 2025-2026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~1 050 commits over 10 maanden · 273 story points · 22 epics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Diepe ervaring met Python, async I/O, SQLAlchemy, Shiny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Direct contact met Land-component PTI's voor MFFT 2026 inhoud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AVG-/security-bewustzijn: OWASP, NIST CSF 2.0, PostgreSQL TLS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Benoit Goethals  ·  2025-2026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4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STATUS &amp; VRAAG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Productieklaar — klaar voor pilot-deployment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560320" cy="1828800"/>
          </a:xfrm>
          <a:prstGeom prst="roundRect">
            <a:avLst/>
          </a:prstGeom>
          <a:solidFill>
            <a:srgbClr val="4A5D23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25603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FFC107"/>
                </a:solidFill>
                <a:latin typeface="Calibri"/>
              </a:rPr>
              <a:t>171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tests groen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194560"/>
            <a:ext cx="2560320" cy="1828800"/>
          </a:xfrm>
          <a:prstGeom prst="roundRect">
            <a:avLst/>
          </a:prstGeom>
          <a:solidFill>
            <a:srgbClr val="4A5D23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2468880"/>
            <a:ext cx="25603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FFC107"/>
                </a:solidFill>
                <a:latin typeface="Calibri"/>
              </a:rPr>
              <a:t>94 / 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38328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stories klaar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2194560"/>
            <a:ext cx="2560320" cy="1828800"/>
          </a:xfrm>
          <a:prstGeom prst="roundRect">
            <a:avLst/>
          </a:prstGeom>
          <a:solidFill>
            <a:srgbClr val="4A5D23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0" y="2468880"/>
            <a:ext cx="25603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FFC107"/>
                </a:solidFill>
                <a:latin typeface="Calibri"/>
              </a:rPr>
              <a:t>EN/NL/FR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38328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i18n compleet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2194560"/>
            <a:ext cx="2560320" cy="1828800"/>
          </a:xfrm>
          <a:prstGeom prst="roundRect">
            <a:avLst/>
          </a:prstGeom>
          <a:solidFill>
            <a:srgbClr val="4A5D23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78240" y="2468880"/>
            <a:ext cx="25603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FFC107"/>
                </a:solidFill>
                <a:latin typeface="Calibri"/>
              </a:rPr>
              <a:t>AVG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338328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GDPR compliant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DE VRAAG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54880"/>
            <a:ext cx="109728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→  Pilot-deployment in één SOR-eenheid (Q3 2026)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→  Toegang tot BEMIL-API voor productie-koppeling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→  Feedback van PTI's tijdens MFFT-rollout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C3B091"/>
                </a:solidFill>
                <a:latin typeface="Calibri"/>
              </a:rPr>
              <a:t>benoit.goethals@gmail.com  ·  github.com/BenoitGoethals/WarriorFit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832</Words>
  <Application>Microsoft Macintosh PowerPoint</Application>
  <PresentationFormat>Widescreen</PresentationFormat>
  <Paragraphs>190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Benoit Goethals</cp:lastModifiedBy>
  <cp:revision>2</cp:revision>
  <dcterms:created xsi:type="dcterms:W3CDTF">2013-01-27T09:14:16Z</dcterms:created>
  <dcterms:modified xsi:type="dcterms:W3CDTF">2026-06-17T07:30:56Z</dcterms:modified>
  <cp:category/>
</cp:coreProperties>
</file>