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D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371600"/>
            <a:ext cx="11274552" cy="438912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0" y="1463040"/>
            <a:ext cx="1554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0" i="0">
                <a:solidFill>
                  <a:srgbClr val="C8A020"/>
                </a:solidFill>
                <a:latin typeface="Calibri"/>
              </a:rPr>
              <a:t>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468880"/>
            <a:ext cx="1036015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 i="0">
                <a:solidFill>
                  <a:srgbClr val="C8A020"/>
                </a:solidFill>
                <a:latin typeface="Calibri"/>
              </a:rPr>
              <a:t>WarriorFit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103601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FFFFFF"/>
                </a:solidFill>
                <a:latin typeface="Calibri"/>
              </a:rPr>
              <a:t>Digitalisering van militaire fysieke fitheidstesten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06908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B0C09A"/>
                </a:solidFill>
                <a:latin typeface="Calibri"/>
              </a:rPr>
              <a:t>Benoit Goethals  |  mei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303520"/>
            <a:ext cx="2437790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0" y="5376672"/>
            <a:ext cx="243779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C8A020"/>
                </a:solidFill>
                <a:latin typeface="Calibri"/>
              </a:rPr>
              <a:t>1.012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5897880"/>
            <a:ext cx="243779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0C09A"/>
                </a:solidFill>
                <a:latin typeface="Calibri"/>
              </a:rPr>
              <a:t>commits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437790" y="5303520"/>
            <a:ext cx="2437790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37790" y="5376672"/>
            <a:ext cx="243779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C8A020"/>
                </a:solidFill>
                <a:latin typeface="Calibri"/>
              </a:rPr>
              <a:t>25.800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37790" y="5897880"/>
            <a:ext cx="243779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0C09A"/>
                </a:solidFill>
                <a:latin typeface="Calibri"/>
              </a:rPr>
              <a:t>lijnen Python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5580" y="5303520"/>
            <a:ext cx="2437790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75580" y="5376672"/>
            <a:ext cx="243779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C8A020"/>
                </a:solidFill>
                <a:latin typeface="Calibri"/>
              </a:rPr>
              <a:t>231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75580" y="5897880"/>
            <a:ext cx="243779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0C09A"/>
                </a:solidFill>
                <a:latin typeface="Calibri"/>
              </a:rPr>
              <a:t>story points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3371" y="5303520"/>
            <a:ext cx="2437790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3371" y="5376672"/>
            <a:ext cx="243779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C8A020"/>
                </a:solidFill>
                <a:latin typeface="Calibri"/>
              </a:rPr>
              <a:t>19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3371" y="5897880"/>
            <a:ext cx="243779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0C09A"/>
                </a:solidFill>
                <a:latin typeface="Calibri"/>
              </a:rPr>
              <a:t>sprints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751161" y="5303520"/>
            <a:ext cx="2437790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51161" y="5376672"/>
            <a:ext cx="243779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C8A020"/>
                </a:solidFill>
                <a:latin typeface="Calibri"/>
              </a:rPr>
              <a:t>80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51161" y="5897880"/>
            <a:ext cx="243779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0C09A"/>
                </a:solidFill>
                <a:latin typeface="Calibri"/>
              </a:rPr>
              <a:t>user stories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D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C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E2D1E"/>
                </a:solidFill>
                <a:latin typeface="Calibri"/>
              </a:rPr>
              <a:t>Probleemstelling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3152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2D1E"/>
                </a:solidFill>
                <a:latin typeface="Calibri"/>
              </a:rPr>
              <a:t>Manuele, papieren registratie van militaire fitheidstesten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80160"/>
            <a:ext cx="5669280" cy="52120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C8A020"/>
                </a:solidFill>
                <a:latin typeface="Calibri"/>
              </a:rPr>
              <a:t>Huidige situatie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5394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C8A020"/>
                </a:solidFill>
                <a:latin typeface="Calibri"/>
              </a:rPr>
              <a:t>▶  </a:t>
            </a:r>
            <a:r>
              <a:rPr sz="1800">
                <a:solidFill>
                  <a:srgbClr val="FFFFFF"/>
                </a:solidFill>
                <a:latin typeface="Calibri"/>
              </a:rPr>
              <a:t>Papieren fiches per test — geen centraal overzicht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C8A020"/>
                </a:solidFill>
                <a:latin typeface="Calibri"/>
              </a:rPr>
              <a:t>▶  </a:t>
            </a:r>
            <a:r>
              <a:rPr sz="1800">
                <a:solidFill>
                  <a:srgbClr val="FFFFFF"/>
                </a:solidFill>
                <a:latin typeface="Calibri"/>
              </a:rPr>
              <a:t>5 testtypes, elk met eigen scoringsregels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C8A020"/>
                </a:solidFill>
                <a:latin typeface="Calibri"/>
              </a:rPr>
              <a:t>▶  </a:t>
            </a:r>
            <a:r>
              <a:rPr sz="1800">
                <a:solidFill>
                  <a:srgbClr val="FFFFFF"/>
                </a:solidFill>
                <a:latin typeface="Calibri"/>
              </a:rPr>
              <a:t>Manuele HR-synchronisatie (foutgevoelig, traag)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C8A020"/>
                </a:solidFill>
                <a:latin typeface="Calibri"/>
              </a:rPr>
              <a:t>▶  </a:t>
            </a:r>
            <a:r>
              <a:rPr sz="1800">
                <a:solidFill>
                  <a:srgbClr val="FFFFFF"/>
                </a:solidFill>
                <a:latin typeface="Calibri"/>
              </a:rPr>
              <a:t>Geen historisch inzicht per militair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C8A020"/>
                </a:solidFill>
                <a:latin typeface="Calibri"/>
              </a:rPr>
              <a:t>▶  </a:t>
            </a:r>
            <a:r>
              <a:rPr sz="1800">
                <a:solidFill>
                  <a:srgbClr val="FFFFFF"/>
                </a:solidFill>
                <a:latin typeface="Calibri"/>
              </a:rPr>
              <a:t>Geen AVG-compliance (gezondheidsdata)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C8A020"/>
                </a:solidFill>
                <a:latin typeface="Calibri"/>
              </a:rPr>
              <a:t>▶  </a:t>
            </a:r>
            <a:r>
              <a:rPr sz="1800">
                <a:solidFill>
                  <a:srgbClr val="FFFFFF"/>
                </a:solidFill>
                <a:latin typeface="Calibri"/>
              </a:rPr>
              <a:t>Geen rol-gebaseerde toegangscontrole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C8A020"/>
                </a:solidFill>
                <a:latin typeface="Calibri"/>
              </a:rPr>
              <a:t>▶  </a:t>
            </a:r>
            <a:r>
              <a:rPr sz="1800">
                <a:solidFill>
                  <a:srgbClr val="FFFFFF"/>
                </a:solidFill>
                <a:latin typeface="Calibri"/>
              </a:rPr>
              <a:t>Geen automatische herinnering of planning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280160"/>
            <a:ext cx="5669280" cy="52120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371600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C8A020"/>
                </a:solidFill>
                <a:latin typeface="Calibri"/>
              </a:rPr>
              <a:t>Impact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874519"/>
            <a:ext cx="5394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C8A020"/>
                </a:solidFill>
                <a:latin typeface="Calibri"/>
              </a:rPr>
              <a:t>▶  </a:t>
            </a:r>
            <a:r>
              <a:rPr sz="1800">
                <a:solidFill>
                  <a:srgbClr val="C0392B"/>
                </a:solidFill>
                <a:latin typeface="Calibri"/>
              </a:rPr>
              <a:t>Vertraging in HR-rapportage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C8A020"/>
                </a:solidFill>
                <a:latin typeface="Calibri"/>
              </a:rPr>
              <a:t>▶  </a:t>
            </a:r>
            <a:r>
              <a:rPr sz="1800">
                <a:solidFill>
                  <a:srgbClr val="C0392B"/>
                </a:solidFill>
                <a:latin typeface="Calibri"/>
              </a:rPr>
              <a:t>Dataverlies door papieren archief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C8A020"/>
                </a:solidFill>
                <a:latin typeface="Calibri"/>
              </a:rPr>
              <a:t>▶  </a:t>
            </a:r>
            <a:r>
              <a:rPr sz="1800">
                <a:solidFill>
                  <a:srgbClr val="C0392B"/>
                </a:solidFill>
                <a:latin typeface="Calibri"/>
              </a:rPr>
              <a:t>Geen audit trail — inbreuk op regelgeving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C8A020"/>
                </a:solidFill>
                <a:latin typeface="Calibri"/>
              </a:rPr>
              <a:t>▶  </a:t>
            </a:r>
            <a:r>
              <a:rPr sz="1800">
                <a:solidFill>
                  <a:srgbClr val="C0392B"/>
                </a:solidFill>
                <a:latin typeface="Calibri"/>
              </a:rPr>
              <a:t>PTI's verliezen uren aan manueel werk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C8A020"/>
                </a:solidFill>
                <a:latin typeface="Calibri"/>
              </a:rPr>
              <a:t>▶  </a:t>
            </a:r>
            <a:r>
              <a:rPr sz="1800">
                <a:solidFill>
                  <a:srgbClr val="C0392B"/>
                </a:solidFill>
                <a:latin typeface="Calibri"/>
              </a:rPr>
              <a:t>Commandanten missen realtimezicht op eenheidsstatus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5303520"/>
            <a:ext cx="5394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8B463"/>
                </a:solidFill>
                <a:latin typeface="Calibri"/>
              </a:rPr>
              <a:t>→  WarriorFit digitaliseert het volledige proces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D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C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E2D1E"/>
                </a:solidFill>
                <a:latin typeface="Calibri"/>
              </a:rPr>
              <a:t>Oplossing — WarriorFit Ecosysteem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3152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2D1E"/>
                </a:solidFill>
                <a:latin typeface="Calibri"/>
              </a:rPr>
              <a:t>Intranetwebplatform — geen publieke blootstelling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2437790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1307592"/>
            <a:ext cx="243779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C8A020"/>
                </a:solidFill>
                <a:latin typeface="Calibri"/>
              </a:rPr>
              <a:t>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828800"/>
            <a:ext cx="243779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0C09A"/>
                </a:solidFill>
                <a:latin typeface="Calibri"/>
              </a:rPr>
              <a:t>pagina's</a:t>
            </a:r>
          </a:p>
        </p:txBody>
      </p:sp>
      <p:sp>
        <p:nvSpPr>
          <p:cNvPr id="8" name="Rectangle 7"/>
          <p:cNvSpPr/>
          <p:nvPr/>
        </p:nvSpPr>
        <p:spPr>
          <a:xfrm>
            <a:off x="2437790" y="1234440"/>
            <a:ext cx="2437790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37790" y="1307592"/>
            <a:ext cx="243779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C8A020"/>
                </a:solidFill>
                <a:latin typeface="Calibri"/>
              </a:rPr>
              <a:t>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37790" y="1828800"/>
            <a:ext cx="243779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0C09A"/>
                </a:solidFill>
                <a:latin typeface="Calibri"/>
              </a:rPr>
              <a:t>rollen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875580" y="1234440"/>
            <a:ext cx="2437790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75580" y="1307592"/>
            <a:ext cx="243779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C8A020"/>
                </a:solidFill>
                <a:latin typeface="Calibri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75580" y="1828800"/>
            <a:ext cx="243779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0C09A"/>
                </a:solidFill>
                <a:latin typeface="Calibri"/>
              </a:rPr>
              <a:t>testtypes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3371" y="1234440"/>
            <a:ext cx="2437790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3371" y="1307592"/>
            <a:ext cx="243779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C8A020"/>
                </a:solidFill>
                <a:latin typeface="Calibri"/>
              </a:rPr>
              <a:t>40+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3371" y="1828800"/>
            <a:ext cx="243779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0C09A"/>
                </a:solidFill>
                <a:latin typeface="Calibri"/>
              </a:rPr>
              <a:t>DI-singletons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51161" y="1234440"/>
            <a:ext cx="2437790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51161" y="1307592"/>
            <a:ext cx="243779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C8A020"/>
                </a:solidFill>
                <a:latin typeface="Calibri"/>
              </a:rPr>
              <a:t>100 %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51161" y="1828800"/>
            <a:ext cx="243779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0C09A"/>
                </a:solidFill>
                <a:latin typeface="Calibri"/>
              </a:rPr>
              <a:t>async I/O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8600" y="2606040"/>
            <a:ext cx="2240280" cy="24688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004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C8A020"/>
                </a:solidFill>
                <a:latin typeface="Calibri"/>
              </a:rPr>
              <a:t>Shiny for Python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" y="3291840"/>
            <a:ext cx="2057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B0C09A"/>
                </a:solidFill>
                <a:latin typeface="Calibri"/>
              </a:rPr>
              <a:t>Reactieve web-UI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B0C09A"/>
                </a:solidFill>
                <a:latin typeface="Calibri"/>
              </a:rPr>
              <a:t>24 pagina's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B0C09A"/>
                </a:solidFill>
                <a:latin typeface="Calibri"/>
              </a:rPr>
              <a:t>RBAC-beschermd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606040" y="2606040"/>
            <a:ext cx="2240280" cy="24688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69748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C8A020"/>
                </a:solidFill>
                <a:latin typeface="Calibri"/>
              </a:rPr>
              <a:t>PostgreSQL
+ asyncpg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97480" y="3291840"/>
            <a:ext cx="2057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B0C09A"/>
                </a:solidFill>
                <a:latin typeface="Calibri"/>
              </a:rPr>
              <a:t>Async ORM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B0C09A"/>
                </a:solidFill>
                <a:latin typeface="Calibri"/>
              </a:rPr>
              <a:t>SQLAlchemy 2.0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B0C09A"/>
                </a:solidFill>
                <a:latin typeface="Calibri"/>
              </a:rPr>
              <a:t>Alembic-migraties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83480" y="2606040"/>
            <a:ext cx="2240280" cy="24688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7492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C8A020"/>
                </a:solidFill>
                <a:latin typeface="Calibri"/>
              </a:rPr>
              <a:t>Broker (MOM)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74920" y="3291840"/>
            <a:ext cx="2057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B0C09A"/>
                </a:solidFill>
                <a:latin typeface="Calibri"/>
              </a:rPr>
              <a:t>Transactionele outbox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B0C09A"/>
                </a:solidFill>
                <a:latin typeface="Calibri"/>
              </a:rPr>
              <a:t>Exp. backoff retry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B0C09A"/>
                </a:solidFill>
                <a:latin typeface="Calibri"/>
              </a:rPr>
              <a:t>Dead-letter queue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60920" y="2606040"/>
            <a:ext cx="2240280" cy="24688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5236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C8A020"/>
                </a:solidFill>
                <a:latin typeface="Calibri"/>
              </a:rPr>
              <a:t>FastAPI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52360" y="3291840"/>
            <a:ext cx="2057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B0C09A"/>
                </a:solidFill>
                <a:latin typeface="Calibri"/>
              </a:rPr>
              <a:t>MOM REST-endpoint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B0C09A"/>
                </a:solidFill>
                <a:latin typeface="Calibri"/>
              </a:rPr>
              <a:t>X-API-Key auth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B0C09A"/>
                </a:solidFill>
                <a:latin typeface="Calibri"/>
              </a:rPr>
              <a:t>CORS-vergrendeling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738360" y="2606040"/>
            <a:ext cx="2240280" cy="24688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82980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C8A020"/>
                </a:solidFill>
                <a:latin typeface="Calibri"/>
              </a:rPr>
              <a:t>HR Simulator
+ Mailpit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29800" y="3291840"/>
            <a:ext cx="2057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B0C09A"/>
                </a:solidFill>
                <a:latin typeface="Calibri"/>
              </a:rPr>
              <a:t>Dev/test-omgeving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B0C09A"/>
                </a:solidFill>
                <a:latin typeface="Calibri"/>
              </a:rPr>
              <a:t>HR-integratie mock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B0C09A"/>
                </a:solidFill>
                <a:latin typeface="Calibri"/>
              </a:rPr>
              <a:t>E-mailpreview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6172200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B0C09A"/>
                </a:solidFill>
                <a:latin typeface="Calibri"/>
              </a:rPr>
              <a:t>Deployment: intranet — geen publiek internet · Docker · GitHub Actions CI/CD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D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C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E2D1E"/>
                </a:solidFill>
                <a:latin typeface="Calibri"/>
              </a:rPr>
              <a:t>Architectuur — Lagen &amp; DI Container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3152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2D1E"/>
                </a:solidFill>
                <a:latin typeface="Calibri"/>
              </a:rPr>
              <a:t>Unidirectionele afhankelijkheidsstroom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188720"/>
            <a:ext cx="6858000" cy="59436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234440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8A020"/>
                </a:solidFill>
                <a:latin typeface="Calibri"/>
              </a:rPr>
              <a:t>UI — Shiny pagina's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1298448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C09A"/>
                </a:solidFill>
                <a:latin typeface="Calibri"/>
              </a:rPr>
              <a:t>24 modules · @inject · Provide[Container.xxx]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1920240"/>
            <a:ext cx="6858000" cy="59436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965960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8E44AD"/>
                </a:solidFill>
                <a:latin typeface="Calibri"/>
              </a:rPr>
              <a:t>Controllers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0" y="2029968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C09A"/>
                </a:solidFill>
                <a:latin typeface="Calibri"/>
              </a:rPr>
              <a:t>PhefController, CrossController, ... (5 controllers)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2651760"/>
            <a:ext cx="6858000" cy="59436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2697480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16AAB"/>
                </a:solidFill>
                <a:latin typeface="Calibri"/>
              </a:rPr>
              <a:t>Services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60" y="2761488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C09A"/>
                </a:solidFill>
                <a:latin typeface="Calibri"/>
              </a:rPr>
              <a:t>ServiceTest, MilitaryService, GdprService, ... (12+)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3383280"/>
            <a:ext cx="6858000" cy="59436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429000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E67E22"/>
                </a:solidFill>
                <a:latin typeface="Calibri"/>
              </a:rPr>
              <a:t>Repositories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23360" y="3493008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C09A"/>
                </a:solidFill>
                <a:latin typeface="Calibri"/>
              </a:rPr>
              <a:t>FitnessTestRepository, UserRepository, ... (8 repos)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4114800"/>
            <a:ext cx="6858000" cy="59436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4160520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7AE60"/>
                </a:solidFill>
                <a:latin typeface="Calibri"/>
              </a:rPr>
              <a:t>ORM Models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23360" y="4224528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C09A"/>
                </a:solidFill>
                <a:latin typeface="Calibri"/>
              </a:rPr>
              <a:t>PhefTest, FunctionalTest, March, ... — polymorf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" y="4846320"/>
            <a:ext cx="6858000" cy="59436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4892040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B0C09A"/>
                </a:solidFill>
                <a:latin typeface="Calibri"/>
              </a:rPr>
              <a:t>PostgreSQL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23360" y="4956048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C09A"/>
                </a:solidFill>
                <a:latin typeface="Calibri"/>
              </a:rPr>
              <a:t>Async · asyncpg · TLS verify-full (productie)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94760" y="178308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C8A020"/>
                </a:solidFill>
                <a:latin typeface="Calibri"/>
              </a:rPr>
              <a:t>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94760" y="25146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C8A020"/>
                </a:solidFill>
                <a:latin typeface="Calibri"/>
              </a:rPr>
              <a:t>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94760" y="32461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C8A020"/>
                </a:solidFill>
                <a:latin typeface="Calibri"/>
              </a:rPr>
              <a:t>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94760" y="397763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C8A020"/>
                </a:solidFill>
                <a:latin typeface="Calibri"/>
              </a:rPr>
              <a:t>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94760" y="47091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C8A020"/>
                </a:solidFill>
                <a:latin typeface="Calibri"/>
              </a:rPr>
              <a:t>↓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0" y="1234440"/>
            <a:ext cx="3657600" cy="530352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21040" y="128016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8A020"/>
                </a:solidFill>
                <a:latin typeface="Calibri"/>
              </a:rPr>
              <a:t>DI Container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80" y="178308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B0C09A"/>
                </a:solidFill>
                <a:latin typeface="Calibri"/>
              </a:rPr>
              <a:t>providers.Singleton(…)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B0C09A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B0C09A"/>
                </a:solidFill>
                <a:latin typeface="Calibri"/>
              </a:rPr>
              <a:t>ApplicationConfig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B0C09A"/>
                </a:solidFill>
                <a:latin typeface="Calibri"/>
              </a:rPr>
              <a:t>8 repositories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B0C09A"/>
                </a:solidFill>
                <a:latin typeface="Calibri"/>
              </a:rPr>
              <a:t>12+ services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B0C09A"/>
                </a:solidFill>
                <a:latin typeface="Calibri"/>
              </a:rPr>
              <a:t>5 controllers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B0C09A"/>
                </a:solidFill>
                <a:latin typeface="Calibri"/>
              </a:rPr>
              <a:t>MailService · BEMILService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B0C09A"/>
                </a:solidFill>
                <a:latin typeface="Calibri"/>
              </a:rPr>
              <a:t>NotifyMail · Broker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B0C09A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B0C09A"/>
                </a:solidFill>
                <a:latin typeface="Calibri"/>
              </a:rPr>
              <a:t>→ 40+ singletons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B0C09A"/>
                </a:solidFill>
                <a:latin typeface="Calibri"/>
              </a:rPr>
              <a:t>→ 1× aangemaakt bij opstart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B0C09A"/>
                </a:solidFill>
                <a:latin typeface="Calibri"/>
              </a:rPr>
              <a:t>→ gedeeld over volledige sessie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0" y="534924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C8A020"/>
                </a:solidFill>
                <a:latin typeface="Calibri"/>
              </a:rPr>
              <a:t>→ 40+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D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C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E2D1E"/>
                </a:solidFill>
                <a:latin typeface="Calibri"/>
              </a:rPr>
              <a:t>Rollen &amp; Toegangscontrole (RBAC)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3152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2D1E"/>
                </a:solidFill>
                <a:latin typeface="Calibri"/>
              </a:rPr>
              <a:t>6 rollen · PageSpec met allowed_roles per module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80160"/>
          <a:ext cx="713232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2194560"/>
                <a:gridCol w="3474720"/>
              </a:tblGrid>
              <a:tr h="627017"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C8A020"/>
                          </a:solidFill>
                          <a:latin typeface="Calibri"/>
                        </a:rPr>
                        <a:t>Rol</a:t>
                      </a:r>
                    </a:p>
                  </a:txBody>
                  <a:tcPr marT="38100" marB="38100" marL="63500" marR="63500">
                    <a:solidFill>
                      <a:srgbClr val="3A5A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C8A020"/>
                          </a:solidFill>
                          <a:latin typeface="Calibri"/>
                        </a:rPr>
                        <a:t>Omschrijving</a:t>
                      </a:r>
                    </a:p>
                  </a:txBody>
                  <a:tcPr marT="38100" marB="38100" marL="63500" marR="63500">
                    <a:solidFill>
                      <a:srgbClr val="3A5A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C8A020"/>
                          </a:solidFill>
                          <a:latin typeface="Calibri"/>
                        </a:rPr>
                        <a:t>Toegang</a:t>
                      </a:r>
                    </a:p>
                  </a:txBody>
                  <a:tcPr marT="38100" marB="38100" marL="63500" marR="63500">
                    <a:solidFill>
                      <a:srgbClr val="3A5A3A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ADMIN</a:t>
                      </a:r>
                    </a:p>
                  </a:txBody>
                  <a:tcPr marT="38100" marB="38100" marL="63500" marR="635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Systeembeheerder</a:t>
                      </a:r>
                    </a:p>
                  </a:txBody>
                  <a:tcPr marT="38100" marB="38100" marL="63500" marR="635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Volledige toegang + beheer</a:t>
                      </a:r>
                    </a:p>
                  </a:txBody>
                  <a:tcPr marT="38100" marB="38100" marL="63500" marR="63500">
                    <a:solidFill>
                      <a:srgbClr val="243824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PTI</a:t>
                      </a:r>
                    </a:p>
                  </a:txBody>
                  <a:tcPr marT="38100" marB="38100" marL="63500" marR="635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Fitheidsinstructeur</a:t>
                      </a:r>
                    </a:p>
                  </a:txBody>
                  <a:tcPr marT="38100" marB="38100" marL="63500" marR="635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Testresultaten invoeren &amp; bekijken</a:t>
                      </a:r>
                    </a:p>
                  </a:txBody>
                  <a:tcPr marT="38100" marB="38100" marL="63500" marR="63500">
                    <a:solidFill>
                      <a:srgbClr val="2A402A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APTI</a:t>
                      </a:r>
                    </a:p>
                  </a:txBody>
                  <a:tcPr marT="38100" marB="38100" marL="63500" marR="635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Adjunct PTI</a:t>
                      </a:r>
                    </a:p>
                  </a:txBody>
                  <a:tcPr marT="38100" marB="38100" marL="63500" marR="635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Beperkt invoer, volledige lezing</a:t>
                      </a:r>
                    </a:p>
                  </a:txBody>
                  <a:tcPr marT="38100" marB="38100" marL="63500" marR="63500">
                    <a:solidFill>
                      <a:srgbClr val="243824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PLANNER</a:t>
                      </a:r>
                    </a:p>
                  </a:txBody>
                  <a:tcPr marT="38100" marB="38100" marL="63500" marR="635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Planningsofficial</a:t>
                      </a:r>
                    </a:p>
                  </a:txBody>
                  <a:tcPr marT="38100" marB="38100" marL="63500" marR="635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Sessies &amp; fitnessruimte plannen</a:t>
                      </a:r>
                    </a:p>
                  </a:txBody>
                  <a:tcPr marT="38100" marB="38100" marL="63500" marR="63500">
                    <a:solidFill>
                      <a:srgbClr val="2A402A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GUEST</a:t>
                      </a:r>
                    </a:p>
                  </a:txBody>
                  <a:tcPr marT="38100" marB="38100" marL="63500" marR="635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Gast / bezoeker</a:t>
                      </a:r>
                    </a:p>
                  </a:txBody>
                  <a:tcPr marT="38100" marB="38100" marL="63500" marR="635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Alleen eigen profiel (read-only)</a:t>
                      </a:r>
                    </a:p>
                  </a:txBody>
                  <a:tcPr marT="38100" marB="38100" marL="63500" marR="63500">
                    <a:solidFill>
                      <a:srgbClr val="243824"/>
                    </a:solidFill>
                  </a:tcPr>
                </a:tc>
              </a:tr>
              <a:tr h="627018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USER</a:t>
                      </a:r>
                    </a:p>
                  </a:txBody>
                  <a:tcPr marT="38100" marB="38100" marL="63500" marR="635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Militair (serviceman)</a:t>
                      </a:r>
                    </a:p>
                  </a:txBody>
                  <a:tcPr marT="38100" marB="38100" marL="63500" marR="635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Eigen fiche, privacypagina</a:t>
                      </a:r>
                    </a:p>
                  </a:txBody>
                  <a:tcPr marT="38100" marB="38100" marL="63500" marR="63500">
                    <a:solidFill>
                      <a:srgbClr val="2A402A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772400" y="1280160"/>
            <a:ext cx="4114800" cy="530352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79" y="137160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8A020"/>
                </a:solidFill>
                <a:latin typeface="Calibri"/>
              </a:rPr>
              <a:t>Implementatie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79" y="1920240"/>
            <a:ext cx="3749039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>
                <a:solidFill>
                  <a:srgbClr val="C8A020"/>
                </a:solidFill>
                <a:latin typeface="Calibri"/>
              </a:rPr>
              <a:t>▶  </a:t>
            </a:r>
            <a:r>
              <a:rPr sz="1400">
                <a:solidFill>
                  <a:srgbClr val="FFFFFF"/>
                </a:solidFill>
                <a:latin typeface="Calibri"/>
              </a:rPr>
              <a:t>PageSpec(allowed_roles=[…]) per pagina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C8A020"/>
                </a:solidFill>
                <a:latin typeface="Calibri"/>
              </a:rPr>
              <a:t>▶  </a:t>
            </a:r>
            <a:r>
              <a:rPr sz="1400">
                <a:solidFill>
                  <a:srgbClr val="FFFFFF"/>
                </a:solidFill>
                <a:latin typeface="Calibri"/>
              </a:rPr>
              <a:t>Sessiecontrole bij elke navigatie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C8A020"/>
                </a:solidFill>
                <a:latin typeface="Calibri"/>
              </a:rPr>
              <a:t>▶  </a:t>
            </a:r>
            <a:r>
              <a:rPr sz="1400">
                <a:solidFill>
                  <a:srgbClr val="FFFFFF"/>
                </a:solidFill>
                <a:latin typeface="Calibri"/>
              </a:rPr>
              <a:t>10-min inactiviteitstime-out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C8A020"/>
                </a:solidFill>
                <a:latin typeface="Calibri"/>
              </a:rPr>
              <a:t>▶  </a:t>
            </a:r>
            <a:r>
              <a:rPr sz="1400">
                <a:solidFill>
                  <a:srgbClr val="FFFFFF"/>
                </a:solidFill>
                <a:latin typeface="Calibri"/>
              </a:rPr>
              <a:t>Argon2id wachtwoordhashing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C8A020"/>
                </a:solidFill>
                <a:latin typeface="Calibri"/>
              </a:rPr>
              <a:t>▶  </a:t>
            </a:r>
            <a:r>
              <a:rPr sz="1400">
                <a:solidFill>
                  <a:srgbClr val="FFFFFF"/>
                </a:solidFill>
                <a:latin typeface="Calibri"/>
              </a:rPr>
              <a:t>Rate-limiting op login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C8A020"/>
                </a:solidFill>
                <a:latin typeface="Calibri"/>
              </a:rPr>
              <a:t>▶  </a:t>
            </a:r>
            <a:r>
              <a:rPr sz="1400">
                <a:solidFill>
                  <a:srgbClr val="FFFFFF"/>
                </a:solidFill>
                <a:latin typeface="Calibri"/>
              </a:rPr>
              <a:t>Audit trail: alle CRUD-acties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C8A020"/>
                </a:solidFill>
                <a:latin typeface="Calibri"/>
              </a:rPr>
              <a:t>▶  </a:t>
            </a:r>
            <a:r>
              <a:rPr sz="1400">
                <a:solidFill>
                  <a:srgbClr val="FFFFFF"/>
                </a:solidFill>
                <a:latin typeface="Calibri"/>
              </a:rPr>
              <a:t>UserStore scoped per Shiny-sessie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C8A020"/>
                </a:solidFill>
                <a:latin typeface="Calibri"/>
              </a:rPr>
              <a:t>▶  </a:t>
            </a:r>
            <a:r>
              <a:rPr sz="1400">
                <a:solidFill>
                  <a:srgbClr val="FFFFFF"/>
                </a:solidFill>
                <a:latin typeface="Calibri"/>
              </a:rPr>
              <a:t>IDOR-bescherming (_assert_can_modify)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D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C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E2D1E"/>
                </a:solidFill>
                <a:latin typeface="Calibri"/>
              </a:rPr>
              <a:t>5 Testtypes — volledig gedigitaliseerd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3152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2D1E"/>
                </a:solidFill>
                <a:latin typeface="Calibri"/>
              </a:rPr>
              <a:t>ORM: polymorf FitnessTest-basisklasse → subtypes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" y="1280160"/>
            <a:ext cx="2194560" cy="502920"/>
          </a:xfrm>
          <a:prstGeom prst="rect">
            <a:avLst/>
          </a:prstGeom>
          <a:solidFill>
            <a:srgbClr val="C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8600" y="1280160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E2D1E"/>
                </a:solidFill>
                <a:latin typeface="Calibri"/>
              </a:rPr>
              <a:t>PHEF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" y="1783080"/>
            <a:ext cx="2194560" cy="388620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18745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A020"/>
                </a:solidFill>
                <a:latin typeface="Calibri"/>
              </a:rPr>
              <a:t>Fysieke Fitheid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2377440"/>
            <a:ext cx="20116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B0C09A"/>
                </a:solidFill>
                <a:latin typeface="Calibri"/>
              </a:rPr>
              <a:t>2400 m looptijd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B0C09A"/>
                </a:solidFill>
                <a:latin typeface="Calibri"/>
              </a:rPr>
              <a:t>Zijbrug (links &amp; rechts)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B0C09A"/>
                </a:solidFill>
                <a:latin typeface="Calibri"/>
              </a:rPr>
              <a:t>Leeftijds-/gendercorrectie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B0C09A"/>
                </a:solidFill>
                <a:latin typeface="Calibri"/>
              </a:rPr>
              <a:t>Scores: A / B / C / D / F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06040" y="1280160"/>
            <a:ext cx="2194560" cy="502920"/>
          </a:xfrm>
          <a:prstGeom prst="rect">
            <a:avLst/>
          </a:prstGeom>
          <a:solidFill>
            <a:srgbClr val="28B4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06040" y="1280160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E2D1E"/>
                </a:solidFill>
                <a:latin typeface="Calibri"/>
              </a:rPr>
              <a:t>Functioneel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06040" y="1783080"/>
            <a:ext cx="2194560" cy="388620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97480" y="18745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8B463"/>
                </a:solidFill>
                <a:latin typeface="Calibri"/>
              </a:rPr>
              <a:t>Functionele Test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2377440"/>
            <a:ext cx="20116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B0C09A"/>
                </a:solidFill>
                <a:latin typeface="Calibri"/>
              </a:rPr>
              <a:t>Functionele fitheid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B0C09A"/>
                </a:solidFill>
                <a:latin typeface="Calibri"/>
              </a:rPr>
              <a:t>Komplexe oefeningen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B0C09A"/>
                </a:solidFill>
                <a:latin typeface="Calibri"/>
              </a:rPr>
              <a:t>Rij scores 1-5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B0C09A"/>
                </a:solidFill>
                <a:latin typeface="Calibri"/>
              </a:rPr>
              <a:t>Geschikt voor hersteltraject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83480" y="1280160"/>
            <a:ext cx="2194560" cy="50292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83480" y="1280160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E2D1E"/>
                </a:solidFill>
                <a:latin typeface="Calibri"/>
              </a:rPr>
              <a:t>Gevechtstest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83480" y="1783080"/>
            <a:ext cx="2194560" cy="388620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74920" y="18745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0392B"/>
                </a:solidFill>
                <a:latin typeface="Calibri"/>
              </a:rPr>
              <a:t>Paraat (Paratrooper)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2377440"/>
            <a:ext cx="20116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B0C09A"/>
                </a:solidFill>
                <a:latin typeface="Calibri"/>
              </a:rPr>
              <a:t>Gevechtsgerichte test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B0C09A"/>
                </a:solidFill>
                <a:latin typeface="Calibri"/>
              </a:rPr>
              <a:t>Paratrooper-specifiek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B0C09A"/>
                </a:solidFill>
                <a:latin typeface="Calibri"/>
              </a:rPr>
              <a:t>Harde drempelwaarden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B0C09A"/>
                </a:solidFill>
                <a:latin typeface="Calibri"/>
              </a:rPr>
              <a:t>Binaire uitkomst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60920" y="1280160"/>
            <a:ext cx="2194560" cy="502920"/>
          </a:xfrm>
          <a:prstGeom prst="rect">
            <a:avLst/>
          </a:prstGeom>
          <a:solidFill>
            <a:srgbClr val="216A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60920" y="1280160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E2D1E"/>
                </a:solidFill>
                <a:latin typeface="Calibri"/>
              </a:rPr>
              <a:t>Mars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60920" y="1783080"/>
            <a:ext cx="2194560" cy="388620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52360" y="18745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16AAB"/>
                </a:solidFill>
                <a:latin typeface="Calibri"/>
              </a:rPr>
              <a:t>Marstest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52360" y="2377440"/>
            <a:ext cx="20116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B0C09A"/>
                </a:solidFill>
                <a:latin typeface="Calibri"/>
              </a:rPr>
              <a:t>Timed march met uitrusting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B0C09A"/>
                </a:solidFill>
                <a:latin typeface="Calibri"/>
              </a:rPr>
              <a:t>Afstand + gewicht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B0C09A"/>
                </a:solidFill>
                <a:latin typeface="Calibri"/>
              </a:rPr>
              <a:t>Eenheidsprestatie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B0C09A"/>
                </a:solidFill>
                <a:latin typeface="Calibri"/>
              </a:rPr>
              <a:t>Historiek per militair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738360" y="1280160"/>
            <a:ext cx="2194560" cy="50292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738360" y="1280160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E2D1E"/>
                </a:solidFill>
                <a:latin typeface="Calibri"/>
              </a:rPr>
              <a:t>Cross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738360" y="1783080"/>
            <a:ext cx="2194560" cy="388620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29800" y="18745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8E44AD"/>
                </a:solidFill>
                <a:latin typeface="Calibri"/>
              </a:rPr>
              <a:t>Crossloop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29800" y="2377440"/>
            <a:ext cx="20116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B0C09A"/>
                </a:solidFill>
                <a:latin typeface="Calibri"/>
              </a:rPr>
              <a:t>Tijdmetingen per loper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B0C09A"/>
                </a:solidFill>
                <a:latin typeface="Calibri"/>
              </a:rPr>
              <a:t>Chronos XML-import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B0C09A"/>
                </a:solidFill>
                <a:latin typeface="Calibri"/>
              </a:rPr>
              <a:t>Statistieken (8 tabbladen)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B0C09A"/>
                </a:solidFill>
                <a:latin typeface="Calibri"/>
              </a:rPr>
              <a:t>Podium &amp; trends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" y="61722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B0C09A"/>
                </a:solidFill>
                <a:latin typeface="Calibri"/>
              </a:rPr>
              <a:t>Gemeenschappelijk: ORM-polymorfisme · async repository · audit trail · HR-broker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D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C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E2D1E"/>
                </a:solidFill>
                <a:latin typeface="Calibri"/>
              </a:rPr>
              <a:t>Dataflow — PHEF-invoer &amp; Broker (MOM)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3152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2D1E"/>
                </a:solidFill>
                <a:latin typeface="Calibri"/>
              </a:rPr>
              <a:t>Transactionele outbox · exponentieel backoff · dead-letter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280160"/>
            <a:ext cx="5852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8A020"/>
                </a:solidFill>
                <a:latin typeface="Calibri"/>
              </a:rPr>
              <a:t>Synchroon pad  (gebruiker wacht)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737360"/>
            <a:ext cx="5852160" cy="329184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28800"/>
            <a:ext cx="54864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Browser (PTI klikt 'Add')</a:t>
            </a:r>
          </a:p>
          <a:p>
            <a:pPr algn="l">
              <a:spcAft>
                <a:spcPts val="9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→  PhefPage (Shiny reactive)</a:t>
            </a:r>
          </a:p>
          <a:p>
            <a:pPr algn="l">
              <a:spcAft>
                <a:spcPts val="9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→  PhefController.add_phef()</a:t>
            </a:r>
          </a:p>
          <a:p>
            <a:pPr algn="l">
              <a:spcAft>
                <a:spcPts val="9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→  ServiceTest.add_phef_test()</a:t>
            </a:r>
          </a:p>
          <a:p>
            <a:pPr algn="l">
              <a:spcAft>
                <a:spcPts val="9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→  FitnessTestRepository.add()</a:t>
            </a:r>
          </a:p>
          <a:p>
            <a:pPr algn="l">
              <a:spcAft>
                <a:spcPts val="9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→  PostgreSQL — INSERT</a:t>
            </a:r>
          </a:p>
          <a:p>
            <a:pPr algn="l">
              <a:spcAft>
                <a:spcPts val="9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←  OK + grid refresh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28016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8B463"/>
                </a:solidFill>
                <a:latin typeface="Calibri"/>
              </a:rPr>
              <a:t>Asynchroon pad  (broker — gebruiker wacht NIET)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737360"/>
            <a:ext cx="5486400" cy="347472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Service → Broker.send_message(test)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→  asyncio.Queue  (in-memory buffer)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→  _process_cycle()  elke 5 s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→  hr_messages table  (duurzaam)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→  POST naar HR-systeem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28B463"/>
                </a:solidFill>
                <a:latin typeface="Calibri"/>
              </a:rPr>
              <a:t>✓  success → rij verwijderd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C0392B"/>
                </a:solidFill>
                <a:latin typeface="Calibri"/>
              </a:rPr>
              <a:t>✗  failure → retry (exp. backoff 5 s→10 min)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C0392B"/>
                </a:solidFill>
                <a:latin typeface="Calibri"/>
              </a:rPr>
              <a:t>✗✗ max_attempts → dead-letter = true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5394960"/>
            <a:ext cx="11521440" cy="731520"/>
          </a:xfrm>
          <a:prstGeom prst="rect">
            <a:avLst/>
          </a:prstGeom>
          <a:solidFill>
            <a:srgbClr val="3A5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5440680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B0C09A"/>
                </a:solidFill>
                <a:latin typeface="Calibri"/>
              </a:rPr>
              <a:t>UI geeft onmiddellijk feedback — HR-synchronisatie gebeurt op de achtergrond. Broker overleeft uitval van het HR-systeem van willekeurige duur.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D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C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E2D1E"/>
                </a:solidFill>
                <a:latin typeface="Calibri"/>
              </a:rPr>
              <a:t>Agile Methodologie — Scrum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3152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2D1E"/>
                </a:solidFill>
                <a:latin typeface="Calibri"/>
              </a:rPr>
              <a:t>Sep 2025 – mei 2026 · 1 developer · 2-weekse sprints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2031492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1307592"/>
            <a:ext cx="203149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C8A020"/>
                </a:solidFill>
                <a:latin typeface="Calibri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828800"/>
            <a:ext cx="20314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0C09A"/>
                </a:solidFill>
                <a:latin typeface="Calibri"/>
              </a:rPr>
              <a:t>epics</a:t>
            </a:r>
          </a:p>
        </p:txBody>
      </p:sp>
      <p:sp>
        <p:nvSpPr>
          <p:cNvPr id="8" name="Rectangle 7"/>
          <p:cNvSpPr/>
          <p:nvPr/>
        </p:nvSpPr>
        <p:spPr>
          <a:xfrm>
            <a:off x="2031492" y="1234440"/>
            <a:ext cx="2031492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31492" y="1307592"/>
            <a:ext cx="203149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C8A020"/>
                </a:solidFill>
                <a:latin typeface="Calibri"/>
              </a:rPr>
              <a:t>80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31492" y="1828800"/>
            <a:ext cx="20314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0C09A"/>
                </a:solidFill>
                <a:latin typeface="Calibri"/>
              </a:rPr>
              <a:t>user stories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62984" y="1234440"/>
            <a:ext cx="2031492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062984" y="1307592"/>
            <a:ext cx="203149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C8A020"/>
                </a:solidFill>
                <a:latin typeface="Calibri"/>
              </a:rPr>
              <a:t>231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62984" y="1828800"/>
            <a:ext cx="20314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0C09A"/>
                </a:solidFill>
                <a:latin typeface="Calibri"/>
              </a:rPr>
              <a:t>story points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94476" y="1234440"/>
            <a:ext cx="2031492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94476" y="1307592"/>
            <a:ext cx="203149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C8A020"/>
                </a:solidFill>
                <a:latin typeface="Calibri"/>
              </a:rPr>
              <a:t>19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1828800"/>
            <a:ext cx="20314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0C09A"/>
                </a:solidFill>
                <a:latin typeface="Calibri"/>
              </a:rPr>
              <a:t>sprints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25968" y="1234440"/>
            <a:ext cx="2031492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25968" y="1307592"/>
            <a:ext cx="203149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C8A020"/>
                </a:solidFill>
                <a:latin typeface="Calibri"/>
              </a:rPr>
              <a:t>12,2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5968" y="1828800"/>
            <a:ext cx="20314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0C09A"/>
                </a:solidFill>
                <a:latin typeface="Calibri"/>
              </a:rPr>
              <a:t>gem. velocity SP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157460" y="1234440"/>
            <a:ext cx="2031492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157460" y="1307592"/>
            <a:ext cx="203149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C8A020"/>
                </a:solidFill>
                <a:latin typeface="Calibri"/>
              </a:rPr>
              <a:t>720 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57460" y="1828800"/>
            <a:ext cx="20314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0C09A"/>
                </a:solidFill>
                <a:latin typeface="Calibri"/>
              </a:rPr>
              <a:t>geschatte inspanning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365760" y="2560320"/>
          <a:ext cx="804672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1371600"/>
                <a:gridCol w="640080"/>
                <a:gridCol w="777240"/>
                <a:gridCol w="443484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C8A020"/>
                          </a:solidFill>
                          <a:latin typeface="Calibri"/>
                        </a:rPr>
                        <a:t>Sprint</a:t>
                      </a:r>
                    </a:p>
                  </a:txBody>
                  <a:tcPr marT="38100" marB="38100" marL="63500" marR="63500">
                    <a:solidFill>
                      <a:srgbClr val="3A5A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C8A020"/>
                          </a:solidFill>
                          <a:latin typeface="Calibri"/>
                        </a:rPr>
                        <a:t>Periode</a:t>
                      </a:r>
                    </a:p>
                  </a:txBody>
                  <a:tcPr marT="38100" marB="38100" marL="63500" marR="63500">
                    <a:solidFill>
                      <a:srgbClr val="3A5A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C8A020"/>
                          </a:solidFill>
                          <a:latin typeface="Calibri"/>
                        </a:rPr>
                        <a:t>SP</a:t>
                      </a:r>
                    </a:p>
                  </a:txBody>
                  <a:tcPr marT="38100" marB="38100" marL="63500" marR="63500">
                    <a:solidFill>
                      <a:srgbClr val="3A5A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C8A020"/>
                          </a:solidFill>
                          <a:latin typeface="Calibri"/>
                        </a:rPr>
                        <a:t>Cumul.</a:t>
                      </a:r>
                    </a:p>
                  </a:txBody>
                  <a:tcPr marT="38100" marB="38100" marL="63500" marR="63500">
                    <a:solidFill>
                      <a:srgbClr val="3A5A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C8A020"/>
                          </a:solidFill>
                          <a:latin typeface="Calibri"/>
                        </a:rPr>
                        <a:t>Focus</a:t>
                      </a:r>
                    </a:p>
                  </a:txBody>
                  <a:tcPr marT="38100" marB="38100" marL="63500" marR="63500">
                    <a:solidFill>
                      <a:srgbClr val="3A5A3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S1</a:t>
                      </a:r>
                    </a:p>
                  </a:txBody>
                  <a:tcPr marT="38100" marB="38100" marL="63500" marR="635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sep 01–14</a:t>
                      </a:r>
                    </a:p>
                  </a:txBody>
                  <a:tcPr marT="38100" marB="38100" marL="63500" marR="635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T="38100" marB="38100" marL="63500" marR="635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T="38100" marB="38100" marL="63500" marR="635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Projectopzet, auth, login</a:t>
                      </a:r>
                    </a:p>
                  </a:txBody>
                  <a:tcPr marT="38100" marB="38100" marL="63500" marR="63500">
                    <a:solidFill>
                      <a:srgbClr val="2438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S2</a:t>
                      </a:r>
                    </a:p>
                  </a:txBody>
                  <a:tcPr marT="38100" marB="38100" marL="63500" marR="635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sep 15–28</a:t>
                      </a:r>
                    </a:p>
                  </a:txBody>
                  <a:tcPr marT="38100" marB="38100" marL="63500" marR="635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marT="38100" marB="38100" marL="63500" marR="635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 marT="38100" marB="38100" marL="63500" marR="635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Gebruikersbeheer, BEMIL</a:t>
                      </a:r>
                    </a:p>
                  </a:txBody>
                  <a:tcPr marT="38100" marB="38100" marL="63500" marR="63500">
                    <a:solidFill>
                      <a:srgbClr val="2A402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S5</a:t>
                      </a:r>
                    </a:p>
                  </a:txBody>
                  <a:tcPr marT="38100" marB="38100" marL="63500" marR="635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okt 27–nov 09</a:t>
                      </a:r>
                    </a:p>
                  </a:txBody>
                  <a:tcPr marT="38100" marB="38100" marL="63500" marR="635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marT="38100" marB="38100" marL="63500" marR="635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74</a:t>
                      </a:r>
                    </a:p>
                  </a:txBody>
                  <a:tcPr marT="38100" marB="38100" marL="63500" marR="635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4 epics — hoogste dichtheid (160 commits)</a:t>
                      </a:r>
                    </a:p>
                  </a:txBody>
                  <a:tcPr marT="38100" marB="38100" marL="63500" marR="63500">
                    <a:solidFill>
                      <a:srgbClr val="2438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S7</a:t>
                      </a:r>
                    </a:p>
                  </a:txBody>
                  <a:tcPr marT="38100" marB="38100" marL="63500" marR="635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nov 24–dec 07</a:t>
                      </a:r>
                    </a:p>
                  </a:txBody>
                  <a:tcPr marT="38100" marB="38100" marL="63500" marR="635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T="38100" marB="38100" marL="63500" marR="635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110</a:t>
                      </a:r>
                    </a:p>
                  </a:txBody>
                  <a:tcPr marT="38100" marB="38100" marL="63500" marR="635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Cross sessies &amp; statistieken</a:t>
                      </a:r>
                    </a:p>
                  </a:txBody>
                  <a:tcPr marT="38100" marB="38100" marL="63500" marR="63500">
                    <a:solidFill>
                      <a:srgbClr val="2A402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S12</a:t>
                      </a:r>
                    </a:p>
                  </a:txBody>
                  <a:tcPr marT="38100" marB="38100" marL="63500" marR="635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feb 02–15</a:t>
                      </a:r>
                    </a:p>
                  </a:txBody>
                  <a:tcPr marT="38100" marB="38100" marL="63500" marR="635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T="38100" marB="38100" marL="63500" marR="635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162</a:t>
                      </a:r>
                    </a:p>
                  </a:txBody>
                  <a:tcPr marT="38100" marB="38100" marL="63500" marR="635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DI-container refactor</a:t>
                      </a:r>
                    </a:p>
                  </a:txBody>
                  <a:tcPr marT="38100" marB="38100" marL="63500" marR="63500">
                    <a:solidFill>
                      <a:srgbClr val="2438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S17</a:t>
                      </a:r>
                    </a:p>
                  </a:txBody>
                  <a:tcPr marT="38100" marB="38100" marL="63500" marR="635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apr 13–26</a:t>
                      </a:r>
                    </a:p>
                  </a:txBody>
                  <a:tcPr marT="38100" marB="38100" marL="63500" marR="635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marT="38100" marB="38100" marL="63500" marR="635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221</a:t>
                      </a:r>
                    </a:p>
                  </a:txBody>
                  <a:tcPr marT="38100" marB="38100" marL="63500" marR="635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GDPR + cross-stats redesign</a:t>
                      </a:r>
                    </a:p>
                  </a:txBody>
                  <a:tcPr marT="38100" marB="38100" marL="63500" marR="63500">
                    <a:solidFill>
                      <a:srgbClr val="2A402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S19</a:t>
                      </a:r>
                    </a:p>
                  </a:txBody>
                  <a:tcPr marT="38100" marB="38100" marL="63500" marR="635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mei 11–24</a:t>
                      </a:r>
                    </a:p>
                  </a:txBody>
                  <a:tcPr marT="38100" marB="38100" marL="63500" marR="635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T="38100" marB="38100" marL="63500" marR="635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231</a:t>
                      </a:r>
                    </a:p>
                  </a:txBody>
                  <a:tcPr marT="38100" marB="38100" marL="63500" marR="635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Beveiliging, DPIA, finale</a:t>
                      </a:r>
                    </a:p>
                  </a:txBody>
                  <a:tcPr marT="38100" marB="38100" marL="63500" marR="63500">
                    <a:solidFill>
                      <a:srgbClr val="243824"/>
                    </a:solidFill>
                  </a:tcPr>
                </a:tc>
              </a:tr>
            </a:tbl>
          </a:graphicData>
        </a:graphic>
      </p:graphicFrame>
      <p:sp>
        <p:nvSpPr>
          <p:cNvPr id="24" name="Rectangle 23"/>
          <p:cNvSpPr/>
          <p:nvPr/>
        </p:nvSpPr>
        <p:spPr>
          <a:xfrm>
            <a:off x="8595360" y="2560320"/>
            <a:ext cx="3383280" cy="365760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0" y="26517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A020"/>
                </a:solidFill>
                <a:latin typeface="Calibri"/>
              </a:rPr>
              <a:t>Top 5 epics (55 % backlog)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86800" y="3108960"/>
            <a:ext cx="3200400" cy="502920"/>
          </a:xfrm>
          <a:prstGeom prst="rect">
            <a:avLst/>
          </a:prstGeom>
          <a:solidFill>
            <a:srgbClr val="243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78240" y="315468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E8  Cross &amp; Statistieken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3154680"/>
            <a:ext cx="822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C8A020"/>
                </a:solidFill>
                <a:latin typeface="Calibri"/>
              </a:rPr>
              <a:t>28 SP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686800" y="3675887"/>
            <a:ext cx="3200400" cy="502920"/>
          </a:xfrm>
          <a:prstGeom prst="rect">
            <a:avLst/>
          </a:prstGeom>
          <a:solidFill>
            <a:srgbClr val="243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78240" y="3721607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E20 GDPR / Privacy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72800" y="3721607"/>
            <a:ext cx="822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C8A020"/>
                </a:solidFill>
                <a:latin typeface="Calibri"/>
              </a:rPr>
              <a:t>25 SP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686800" y="4242816"/>
            <a:ext cx="3200400" cy="502920"/>
          </a:xfrm>
          <a:prstGeom prst="rect">
            <a:avLst/>
          </a:prstGeom>
          <a:solidFill>
            <a:srgbClr val="243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78240" y="4288536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E1  Gebruikersbeheer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0" y="4288536"/>
            <a:ext cx="822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C8A020"/>
                </a:solidFill>
                <a:latin typeface="Calibri"/>
              </a:rPr>
              <a:t>18 SP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686800" y="4809744"/>
            <a:ext cx="3200400" cy="502920"/>
          </a:xfrm>
          <a:prstGeom prst="rect">
            <a:avLst/>
          </a:prstGeom>
          <a:solidFill>
            <a:srgbClr val="243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778240" y="4855464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E3  PHEF-invoer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0" y="4855464"/>
            <a:ext cx="822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C8A020"/>
                </a:solidFill>
                <a:latin typeface="Calibri"/>
              </a:rPr>
              <a:t>18 SP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686800" y="5376672"/>
            <a:ext cx="3200400" cy="502920"/>
          </a:xfrm>
          <a:prstGeom prst="rect">
            <a:avLst/>
          </a:prstGeom>
          <a:solidFill>
            <a:srgbClr val="243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78240" y="5422392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E2  Sessieplanning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972800" y="5422392"/>
            <a:ext cx="822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C8A020"/>
                </a:solidFill>
                <a:latin typeface="Calibri"/>
              </a:rPr>
              <a:t>15 SP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D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C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E2D1E"/>
                </a:solidFill>
                <a:latin typeface="Calibri"/>
              </a:rPr>
              <a:t>Kwaliteit &amp; 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3152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2D1E"/>
                </a:solidFill>
                <a:latin typeface="Calibri"/>
              </a:rPr>
              <a:t>pytest-asyncio · mypy strict · ruff · pre-commit · GitHub Actions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80160"/>
            <a:ext cx="5486400" cy="530352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8A020"/>
                </a:solidFill>
                <a:latin typeface="Calibri"/>
              </a:rPr>
              <a:t>Testpiramide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28800"/>
            <a:ext cx="51206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C8A020"/>
                </a:solidFill>
                <a:latin typeface="Calibri"/>
              </a:rPr>
              <a:t>▶  </a:t>
            </a:r>
            <a:r>
              <a:rPr sz="1600">
                <a:solidFill>
                  <a:srgbClr val="FFFFFF"/>
                </a:solidFill>
                <a:latin typeface="Calibri"/>
              </a:rPr>
              <a:t>pytest + pytest-asyncio voor async tests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C8A020"/>
                </a:solidFill>
                <a:latin typeface="Calibri"/>
              </a:rPr>
              <a:t>▶  </a:t>
            </a:r>
            <a:r>
              <a:rPr sz="1600">
                <a:solidFill>
                  <a:srgbClr val="FFFFFF"/>
                </a:solidFill>
                <a:latin typeface="Calibri"/>
              </a:rPr>
              <a:t>Unittest.mock: AsyncMock, MagicMock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C8A020"/>
                </a:solidFill>
                <a:latin typeface="Calibri"/>
              </a:rPr>
              <a:t>▶  </a:t>
            </a:r>
            <a:r>
              <a:rPr sz="1600">
                <a:solidFill>
                  <a:srgbClr val="FFFFFF"/>
                </a:solidFill>
                <a:latin typeface="Calibri"/>
              </a:rPr>
              <a:t>Constructor-injectie maakt mocking triviaal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C8A020"/>
                </a:solidFill>
                <a:latin typeface="Calibri"/>
              </a:rPr>
              <a:t>▶  </a:t>
            </a:r>
            <a:r>
              <a:rPr sz="1600">
                <a:solidFill>
                  <a:srgbClr val="FFFFFF"/>
                </a:solidFill>
                <a:latin typeface="Calibri"/>
              </a:rPr>
              <a:t>container.override() voor integratietests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C8A020"/>
                </a:solidFill>
                <a:latin typeface="Calibri"/>
              </a:rPr>
              <a:t>▶  </a:t>
            </a:r>
            <a:r>
              <a:rPr sz="1600">
                <a:solidFill>
                  <a:srgbClr val="FFFFFF"/>
                </a:solidFill>
                <a:latin typeface="Calibri"/>
              </a:rPr>
              <a:t>reset_override() — geen statuslek tussen tests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C8A020"/>
                </a:solidFill>
                <a:latin typeface="Calibri"/>
              </a:rPr>
              <a:t>▶  </a:t>
            </a:r>
            <a:r>
              <a:rPr sz="1600">
                <a:solidFill>
                  <a:srgbClr val="FFFFFF"/>
                </a:solidFill>
                <a:latin typeface="Calibri"/>
              </a:rPr>
              <a:t>Singleton._instances clearzen in fixtures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93776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A020"/>
                </a:solidFill>
                <a:latin typeface="Calibri"/>
              </a:rPr>
              <a:t>Voorbeeld: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257800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8BD1FF"/>
                </a:solidFill>
                <a:latin typeface="Calibri"/>
              </a:rPr>
              <a:t>PhefController(service=mock_svc, mil_service=mock_mil)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280160"/>
            <a:ext cx="5486400" cy="530352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37160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8A020"/>
                </a:solidFill>
                <a:latin typeface="Calibri"/>
              </a:rPr>
              <a:t>Tooling &amp; CI/CD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874519"/>
            <a:ext cx="1645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8A020"/>
                </a:solidFill>
                <a:latin typeface="Calibri"/>
              </a:rPr>
              <a:t>mypy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1874519"/>
            <a:ext cx="33832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Strenge typechecking — strict mode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532887"/>
            <a:ext cx="1645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8A020"/>
                </a:solidFill>
                <a:latin typeface="Calibri"/>
              </a:rPr>
              <a:t>ruff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92440" y="2532887"/>
            <a:ext cx="33832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Linting: E/F/W/I · regellengte 100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191256"/>
            <a:ext cx="1645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8A020"/>
                </a:solidFill>
                <a:latin typeface="Calibri"/>
              </a:rPr>
              <a:t>black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92440" y="3191256"/>
            <a:ext cx="33832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Codeformattering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849624"/>
            <a:ext cx="1645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8A020"/>
                </a:solidFill>
                <a:latin typeface="Calibri"/>
              </a:rPr>
              <a:t>pre-commit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92440" y="3849624"/>
            <a:ext cx="33832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Auto-update version.yaml bij commit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4507992"/>
            <a:ext cx="1645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8A020"/>
                </a:solidFill>
                <a:latin typeface="Calibri"/>
              </a:rPr>
              <a:t>GitHub Actions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92440" y="4507992"/>
            <a:ext cx="33832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CI: lint + mypy + tests bij elke push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5166359"/>
            <a:ext cx="1645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8A020"/>
                </a:solidFill>
                <a:latin typeface="Calibri"/>
              </a:rPr>
              <a:t>Docker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2440" y="5166359"/>
            <a:ext cx="33832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Productie-image · geen secrets in image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5824728"/>
            <a:ext cx="1645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8A020"/>
                </a:solidFill>
                <a:latin typeface="Calibri"/>
              </a:rPr>
              <a:t>Alembic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92440" y="5824728"/>
            <a:ext cx="33832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DB-migraties versiebeheerd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D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C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E2D1E"/>
                </a:solidFill>
                <a:latin typeface="Calibri"/>
              </a:rPr>
              <a:t>Beveiliging — OWASP Top 10 evaluatie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3152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2D1E"/>
                </a:solidFill>
                <a:latin typeface="Calibri"/>
              </a:rPr>
              <a:t>Productie-intranet · defense-in-depth aanpak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80160"/>
          <a:ext cx="1152144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6583680"/>
                <a:gridCol w="2194560"/>
              </a:tblGrid>
              <a:tr h="617220"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C8A020"/>
                          </a:solidFill>
                          <a:latin typeface="Calibri"/>
                        </a:rPr>
                        <a:t>OWASP risico</a:t>
                      </a:r>
                    </a:p>
                  </a:txBody>
                  <a:tcPr marT="38100" marB="38100" marL="63500" marR="63500">
                    <a:solidFill>
                      <a:srgbClr val="3A5A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C8A020"/>
                          </a:solidFill>
                          <a:latin typeface="Calibri"/>
                        </a:rPr>
                        <a:t>Maatregel in WarriorFit</a:t>
                      </a:r>
                    </a:p>
                  </a:txBody>
                  <a:tcPr marT="38100" marB="38100" marL="63500" marR="63500">
                    <a:solidFill>
                      <a:srgbClr val="3A5A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C8A020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T="38100" marB="38100" marL="63500" marR="63500">
                    <a:solidFill>
                      <a:srgbClr val="3A5A3A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A01 — Broken Access Control</a:t>
                      </a:r>
                    </a:p>
                  </a:txBody>
                  <a:tcPr marT="38100" marB="38100" marL="63500" marR="635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RBAC per PageSpec · IDOR-fix · sessie-scoped UserStore</a:t>
                      </a:r>
                    </a:p>
                  </a:txBody>
                  <a:tcPr marT="38100" marB="38100" marL="63500" marR="635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E2D1E"/>
                          </a:solidFill>
                          <a:latin typeface="Calibri"/>
                        </a:rPr>
                        <a:t>✓ gedekt</a:t>
                      </a:r>
                    </a:p>
                  </a:txBody>
                  <a:tcPr marT="38100" marB="38100" marL="63500" marR="63500">
                    <a:solidFill>
                      <a:srgbClr val="28B463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A02 — Cryptographic Failures</a:t>
                      </a:r>
                    </a:p>
                  </a:txBody>
                  <a:tcPr marT="38100" marB="38100" marL="63500" marR="635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Argon2id hashing · PostgreSQL TLS verify-full</a:t>
                      </a:r>
                    </a:p>
                  </a:txBody>
                  <a:tcPr marT="38100" marB="38100" marL="63500" marR="635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E2D1E"/>
                          </a:solidFill>
                          <a:latin typeface="Calibri"/>
                        </a:rPr>
                        <a:t>✓ gedekt</a:t>
                      </a:r>
                    </a:p>
                  </a:txBody>
                  <a:tcPr marT="38100" marB="38100" marL="63500" marR="63500">
                    <a:solidFill>
                      <a:srgbClr val="28B463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A03 — Injection</a:t>
                      </a:r>
                    </a:p>
                  </a:txBody>
                  <a:tcPr marT="38100" marB="38100" marL="63500" marR="635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SQLAlchemy parameterized queries · geen raw SQL</a:t>
                      </a:r>
                    </a:p>
                  </a:txBody>
                  <a:tcPr marT="38100" marB="38100" marL="63500" marR="635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E2D1E"/>
                          </a:solidFill>
                          <a:latin typeface="Calibri"/>
                        </a:rPr>
                        <a:t>✓ gedekt</a:t>
                      </a:r>
                    </a:p>
                  </a:txBody>
                  <a:tcPr marT="38100" marB="38100" marL="63500" marR="63500">
                    <a:solidFill>
                      <a:srgbClr val="28B463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A05 — Security Misconfiguration</a:t>
                      </a:r>
                    </a:p>
                  </a:txBody>
                  <a:tcPr marT="38100" marB="38100" marL="63500" marR="635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CORS-vergrendeling · X-API-Key op MOM · strict CSP</a:t>
                      </a:r>
                    </a:p>
                  </a:txBody>
                  <a:tcPr marT="38100" marB="38100" marL="63500" marR="635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E2D1E"/>
                          </a:solidFill>
                          <a:latin typeface="Calibri"/>
                        </a:rPr>
                        <a:t>✓ gedekt</a:t>
                      </a:r>
                    </a:p>
                  </a:txBody>
                  <a:tcPr marT="38100" marB="38100" marL="63500" marR="63500">
                    <a:solidFill>
                      <a:srgbClr val="28B463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A07 — Auth Failures</a:t>
                      </a:r>
                    </a:p>
                  </a:txBody>
                  <a:tcPr marT="38100" marB="38100" marL="63500" marR="635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Rate-limiting login · 10-min timeout · audit trail</a:t>
                      </a:r>
                    </a:p>
                  </a:txBody>
                  <a:tcPr marT="38100" marB="38100" marL="63500" marR="635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E2D1E"/>
                          </a:solidFill>
                          <a:latin typeface="Calibri"/>
                        </a:rPr>
                        <a:t>✓ gedekt</a:t>
                      </a:r>
                    </a:p>
                  </a:txBody>
                  <a:tcPr marT="38100" marB="38100" marL="63500" marR="63500">
                    <a:solidFill>
                      <a:srgbClr val="28B463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A09 — Logging &amp; Monitoring</a:t>
                      </a:r>
                    </a:p>
                  </a:txBody>
                  <a:tcPr marT="38100" marB="38100" marL="63500" marR="635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Volledige CRUD-audit log · broker-health monitoring</a:t>
                      </a:r>
                    </a:p>
                  </a:txBody>
                  <a:tcPr marT="38100" marB="38100" marL="63500" marR="635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E2D1E"/>
                          </a:solidFill>
                          <a:latin typeface="Calibri"/>
                        </a:rPr>
                        <a:t>✓ gedekt</a:t>
                      </a:r>
                    </a:p>
                  </a:txBody>
                  <a:tcPr marT="38100" marB="38100" marL="63500" marR="63500">
                    <a:solidFill>
                      <a:srgbClr val="28B463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A10 — Server-Side Request Forgery</a:t>
                      </a:r>
                    </a:p>
                  </a:txBody>
                  <a:tcPr marT="38100" marB="38100" marL="63500" marR="635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HR-URL allowlist (config) — HTTPS open punt</a:t>
                      </a:r>
                    </a:p>
                  </a:txBody>
                  <a:tcPr marT="38100" marB="38100" marL="63500" marR="635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E2D1E"/>
                          </a:solidFill>
                          <a:latin typeface="Calibri"/>
                        </a:rPr>
                        <a:t>⚠ open</a:t>
                      </a:r>
                    </a:p>
                  </a:txBody>
                  <a:tcPr marT="38100" marB="38100" marL="63500" marR="63500">
                    <a:solidFill>
                      <a:srgbClr val="C0392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D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C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E2D1E"/>
                </a:solidFill>
                <a:latin typeface="Calibri"/>
              </a:rPr>
              <a:t>AVG / GDPR Compliance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3152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2D1E"/>
                </a:solidFill>
                <a:latin typeface="Calibri"/>
              </a:rPr>
              <a:t>DPIA uitgevoerd · Art. 35 · gezondheidsdata Art. 9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80160"/>
            <a:ext cx="5486400" cy="52120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8A020"/>
                </a:solidFill>
                <a:latin typeface="Calibri"/>
              </a:rPr>
              <a:t>Rechtsgrond &amp; scope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28800"/>
            <a:ext cx="5212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C8A020"/>
                </a:solidFill>
                <a:latin typeface="Calibri"/>
              </a:rPr>
              <a:t>▶  </a:t>
            </a:r>
            <a:r>
              <a:rPr sz="1500">
                <a:solidFill>
                  <a:srgbClr val="FFFFFF"/>
                </a:solidFill>
                <a:latin typeface="Calibri"/>
              </a:rPr>
              <a:t>Art. 6(1)(c) — wettelijke verplichting (militaire opleiding)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C8A020"/>
                </a:solidFill>
                <a:latin typeface="Calibri"/>
              </a:rPr>
              <a:t>▶  </a:t>
            </a:r>
            <a:r>
              <a:rPr sz="1500">
                <a:solidFill>
                  <a:srgbClr val="FFFFFF"/>
                </a:solidFill>
                <a:latin typeface="Calibri"/>
              </a:rPr>
              <a:t>Art. 6(1)(e) — taak van algemeen belang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C8A020"/>
                </a:solidFill>
                <a:latin typeface="Calibri"/>
              </a:rPr>
              <a:t>▶  </a:t>
            </a:r>
            <a:r>
              <a:rPr sz="1500">
                <a:solidFill>
                  <a:srgbClr val="FFFFFF"/>
                </a:solidFill>
                <a:latin typeface="Calibri"/>
              </a:rPr>
              <a:t>Art. 9(2)(b) — gezondheidsdata in arbeidscontext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C8A020"/>
                </a:solidFill>
                <a:latin typeface="Calibri"/>
              </a:rPr>
              <a:t>▶  </a:t>
            </a:r>
            <a:r>
              <a:rPr sz="1500">
                <a:solidFill>
                  <a:srgbClr val="FFFFFF"/>
                </a:solidFill>
                <a:latin typeface="Calibri"/>
              </a:rPr>
              <a:t>DPIA uitgevoerd (Art. 35) — versie 1.1, 30 apr 2026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C8A020"/>
                </a:solidFill>
                <a:latin typeface="Calibri"/>
              </a:rPr>
              <a:t>▶  </a:t>
            </a:r>
            <a:r>
              <a:rPr sz="1500">
                <a:solidFill>
                  <a:srgbClr val="FFFFFF"/>
                </a:solidFill>
                <a:latin typeface="Calibri"/>
              </a:rPr>
              <a:t>Verwerkingsverantwoordelijke: Belgische Defensie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C8A020"/>
                </a:solidFill>
                <a:latin typeface="Calibri"/>
              </a:rPr>
              <a:t>▶  </a:t>
            </a:r>
            <a:r>
              <a:rPr sz="1500">
                <a:solidFill>
                  <a:srgbClr val="FFFFFF"/>
                </a:solidFill>
                <a:latin typeface="Calibri"/>
              </a:rPr>
              <a:t>Uitsluitend intranet — geen publieke blootstelling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280160"/>
            <a:ext cx="5486400" cy="52120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37160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8A020"/>
                </a:solidFill>
                <a:latin typeface="Calibri"/>
              </a:rPr>
              <a:t>Geïmplementeerde rechten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874519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8B463"/>
                </a:solidFill>
                <a:latin typeface="Calibri"/>
              </a:rPr>
              <a:t>Art. 15 — Inzage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75320" y="1874519"/>
            <a:ext cx="3246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Volledig exporteerbaar via zelfservice Privacy-pagina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624327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8B463"/>
                </a:solidFill>
                <a:latin typeface="Calibri"/>
              </a:rPr>
              <a:t>Art. 17 — Verwijdering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2624327"/>
            <a:ext cx="3246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GdprService.erase_user() · FK CASCADE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3374135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8B463"/>
                </a:solidFill>
                <a:latin typeface="Calibri"/>
              </a:rPr>
              <a:t>Art. 20 — Portabiliteit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20" y="3374135"/>
            <a:ext cx="3246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JSON-export van eigen fiche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4123944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8B463"/>
                </a:solidFill>
                <a:latin typeface="Calibri"/>
              </a:rPr>
              <a:t>Art. 7  — Toestemming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4123944"/>
            <a:ext cx="3246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user_consents tabel · intrekbaar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873752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8B463"/>
                </a:solidFill>
                <a:latin typeface="Calibri"/>
              </a:rPr>
              <a:t>RetentionService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4873752"/>
            <a:ext cx="3246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Automatische verwijdering na configureerbare termijn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5623559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8B463"/>
                </a:solidFill>
                <a:latin typeface="Calibri"/>
              </a:rPr>
              <a:t>Audit trail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5623559"/>
            <a:ext cx="3246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Alle CRUD-acties gelogd (Art. 32-vereiste)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D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C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E2D1E"/>
                </a:solidFill>
                <a:latin typeface="Calibri"/>
              </a:rPr>
              <a:t>Technologiestapel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3152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2D1E"/>
                </a:solidFill>
                <a:latin typeface="Calibri"/>
              </a:rPr>
              <a:t>Python 3.13+ · moderne async stack · volledig open source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371600"/>
            <a:ext cx="5669280" cy="237744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371600"/>
            <a:ext cx="5669280" cy="411480"/>
          </a:xfrm>
          <a:prstGeom prst="rect">
            <a:avLst/>
          </a:prstGeom>
          <a:solidFill>
            <a:srgbClr val="C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41732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2D1E"/>
                </a:solidFill>
                <a:latin typeface="Calibri"/>
              </a:rPr>
              <a:t>Frontend / UI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82880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B0C09A"/>
                </a:solidFill>
                <a:latin typeface="Calibri"/>
              </a:rPr>
              <a:t>Shiny for Python — reactieve server-side UI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B0C09A"/>
                </a:solidFill>
                <a:latin typeface="Calibri"/>
              </a:rPr>
              <a:t>Plotly — interactieve grafieken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B0C09A"/>
                </a:solidFill>
                <a:latin typeface="Calibri"/>
              </a:rPr>
              <a:t>Rajdhani + JetBrains Mono — militaire typografie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B0C09A"/>
                </a:solidFill>
                <a:latin typeface="Calibri"/>
              </a:rPr>
              <a:t>CSS-thema: olive / khaki / amber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1371600"/>
            <a:ext cx="5669280" cy="237744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371600"/>
            <a:ext cx="5669280" cy="411480"/>
          </a:xfrm>
          <a:prstGeom prst="rect">
            <a:avLst/>
          </a:prstGeom>
          <a:solidFill>
            <a:srgbClr val="28B4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41732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2D1E"/>
                </a:solidFill>
                <a:latin typeface="Calibri"/>
              </a:rPr>
              <a:t>Backend /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82880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B0C09A"/>
                </a:solidFill>
                <a:latin typeface="Calibri"/>
              </a:rPr>
              <a:t>PostgreSQL + asyncpg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B0C09A"/>
                </a:solidFill>
                <a:latin typeface="Calibri"/>
              </a:rPr>
              <a:t>SQLAlchemy 2.0 Async ORM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B0C09A"/>
                </a:solidFill>
                <a:latin typeface="Calibri"/>
              </a:rPr>
              <a:t>Alembic — DB-migratiebeheer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B0C09A"/>
                </a:solidFill>
                <a:latin typeface="Calibri"/>
              </a:rPr>
              <a:t>dependency-injector — DI container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977639"/>
            <a:ext cx="5669280" cy="237744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5760" y="3977639"/>
            <a:ext cx="5669280" cy="41148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4023359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2D1E"/>
                </a:solidFill>
                <a:latin typeface="Calibri"/>
              </a:rPr>
              <a:t>Beveiliging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434839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B0C09A"/>
                </a:solidFill>
                <a:latin typeface="Calibri"/>
              </a:rPr>
              <a:t>Argon2id — wachtwoordhashing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B0C09A"/>
                </a:solidFill>
                <a:latin typeface="Calibri"/>
              </a:rPr>
              <a:t>RBAC per PageSpec (6 rollen)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B0C09A"/>
                </a:solidFill>
                <a:latin typeface="Calibri"/>
              </a:rPr>
              <a:t>TLS verify-full (productie)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B0C09A"/>
                </a:solidFill>
                <a:latin typeface="Calibri"/>
              </a:rPr>
              <a:t>X-API-Key + CORS-vergrendeling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0" y="3977639"/>
            <a:ext cx="5669280" cy="237744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09360" y="3977639"/>
            <a:ext cx="5669280" cy="411480"/>
          </a:xfrm>
          <a:prstGeom prst="rect">
            <a:avLst/>
          </a:prstGeom>
          <a:solidFill>
            <a:srgbClr val="216A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4023359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2D1E"/>
                </a:solidFill>
                <a:latin typeface="Calibri"/>
              </a:rPr>
              <a:t>Infrastructuur / Dev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4434839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B0C09A"/>
                </a:solidFill>
                <a:latin typeface="Calibri"/>
              </a:rPr>
              <a:t>Docker + GitHub Actions CI/CD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B0C09A"/>
                </a:solidFill>
                <a:latin typeface="Calibri"/>
              </a:rPr>
              <a:t>FastAPI — MOM REST endpoint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B0C09A"/>
                </a:solidFill>
                <a:latin typeface="Calibri"/>
              </a:rPr>
              <a:t>Mailpit — e-mailpreview (dev)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B0C09A"/>
                </a:solidFill>
                <a:latin typeface="Calibri"/>
              </a:rPr>
              <a:t>HR Simulator — integratiemock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B0C09A"/>
                </a:solidFill>
                <a:latin typeface="Calibri"/>
              </a:rPr>
              <a:t>uv — dependency management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B0C09A"/>
                </a:solidFill>
                <a:latin typeface="Calibri"/>
              </a:rPr>
              <a:t>ruff · mypy · black · pre-commit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D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C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E2D1E"/>
                </a:solidFill>
                <a:latin typeface="Calibri"/>
              </a:rPr>
              <a:t>Ontwikkelingstraject — 5 fasen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3152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2D1E"/>
                </a:solidFill>
                <a:latin typeface="Calibri"/>
              </a:rPr>
              <a:t>Sep 2025 – mei 2026 · 8,5 maanden · 1 developer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" y="1371600"/>
            <a:ext cx="2194560" cy="502920"/>
          </a:xfrm>
          <a:prstGeom prst="rect">
            <a:avLst/>
          </a:prstGeom>
          <a:solidFill>
            <a:srgbClr val="5D6D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8600" y="1371600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E2D1E"/>
                </a:solidFill>
                <a:latin typeface="Calibri"/>
              </a:rPr>
              <a:t>Fase 1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" y="1874520"/>
            <a:ext cx="2194560" cy="379476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19659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B0C09A"/>
                </a:solidFill>
                <a:latin typeface="Calibri"/>
              </a:rPr>
              <a:t>sep–okt 2025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23774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D6D7E"/>
                </a:solidFill>
                <a:latin typeface="Calibri"/>
              </a:rPr>
              <a:t>Prototype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880360"/>
            <a:ext cx="20116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B0C09A"/>
                </a:solidFill>
                <a:latin typeface="Calibri"/>
              </a:rPr>
              <a:t>Basisauth, login-modal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B0C09A"/>
                </a:solidFill>
                <a:latin typeface="Calibri"/>
              </a:rPr>
              <a:t>Gebruikersbeheer (E1)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B0C09A"/>
                </a:solidFill>
                <a:latin typeface="Calibri"/>
              </a:rPr>
              <a:t>Rolmodel opgezet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06040" y="1371600"/>
            <a:ext cx="2194560" cy="502920"/>
          </a:xfrm>
          <a:prstGeom prst="rect">
            <a:avLst/>
          </a:prstGeom>
          <a:solidFill>
            <a:srgbClr val="276F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06040" y="1371600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E2D1E"/>
                </a:solidFill>
                <a:latin typeface="Calibri"/>
              </a:rPr>
              <a:t>Fase 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06040" y="1874520"/>
            <a:ext cx="2194560" cy="379476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97480" y="19659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B0C09A"/>
                </a:solidFill>
                <a:latin typeface="Calibri"/>
              </a:rPr>
              <a:t>nov 2025–jan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97480" y="23774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76FAB"/>
                </a:solidFill>
                <a:latin typeface="Calibri"/>
              </a:rPr>
              <a:t>Feature Growth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97480" y="2880360"/>
            <a:ext cx="20116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B0C09A"/>
                </a:solidFill>
                <a:latin typeface="Calibri"/>
              </a:rPr>
              <a:t>Alle 5 testtypes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B0C09A"/>
                </a:solidFill>
                <a:latin typeface="Calibri"/>
              </a:rPr>
              <a:t>BEMIL-integratie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B0C09A"/>
                </a:solidFill>
                <a:latin typeface="Calibri"/>
              </a:rPr>
              <a:t>Cross-sessies (E8)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83480" y="1371600"/>
            <a:ext cx="2194560" cy="50292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83480" y="1371600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E2D1E"/>
                </a:solidFill>
                <a:latin typeface="Calibri"/>
              </a:rPr>
              <a:t>Fase 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83480" y="1874520"/>
            <a:ext cx="2194560" cy="379476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74920" y="19659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B0C09A"/>
                </a:solidFill>
                <a:latin typeface="Calibri"/>
              </a:rPr>
              <a:t>feb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23774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8E44AD"/>
                </a:solidFill>
                <a:latin typeface="Calibri"/>
              </a:rPr>
              <a:t>Architectuur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2880360"/>
            <a:ext cx="20116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B0C09A"/>
                </a:solidFill>
                <a:latin typeface="Calibri"/>
              </a:rPr>
              <a:t>DI-container refactor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B0C09A"/>
                </a:solidFill>
                <a:latin typeface="Calibri"/>
              </a:rPr>
              <a:t>40+ singletons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B0C09A"/>
                </a:solidFill>
                <a:latin typeface="Calibri"/>
              </a:rPr>
              <a:t>Async repository-patroon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60920" y="1371600"/>
            <a:ext cx="2194560" cy="50292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60920" y="1371600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E2D1E"/>
                </a:solidFill>
                <a:latin typeface="Calibri"/>
              </a:rPr>
              <a:t>Fase 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60920" y="1874520"/>
            <a:ext cx="2194560" cy="379476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52360" y="19659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B0C09A"/>
                </a:solidFill>
                <a:latin typeface="Calibri"/>
              </a:rPr>
              <a:t>mrt–apr 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52360" y="23774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67E22"/>
                </a:solidFill>
                <a:latin typeface="Calibri"/>
              </a:rPr>
              <a:t>Hardening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52360" y="2880360"/>
            <a:ext cx="20116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B0C09A"/>
                </a:solidFill>
                <a:latin typeface="Calibri"/>
              </a:rPr>
              <a:t>Broker transactionele outbox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B0C09A"/>
                </a:solidFill>
                <a:latin typeface="Calibri"/>
              </a:rPr>
              <a:t>GDPR-compliance (E20)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B0C09A"/>
                </a:solidFill>
                <a:latin typeface="Calibri"/>
              </a:rPr>
              <a:t>Cross-statistieken (8 tabs)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738360" y="1371600"/>
            <a:ext cx="2194560" cy="502920"/>
          </a:xfrm>
          <a:prstGeom prst="rect">
            <a:avLst/>
          </a:prstGeom>
          <a:solidFill>
            <a:srgbClr val="C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38360" y="1371600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E2D1E"/>
                </a:solidFill>
                <a:latin typeface="Calibri"/>
              </a:rPr>
              <a:t>Fase 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738360" y="1874520"/>
            <a:ext cx="2194560" cy="379476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29800" y="19659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B0C09A"/>
                </a:solidFill>
                <a:latin typeface="Calibri"/>
              </a:rPr>
              <a:t>apr–mei 2026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800" y="23774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8A020"/>
                </a:solidFill>
                <a:latin typeface="Calibri"/>
              </a:rPr>
              <a:t>Security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29800" y="2880360"/>
            <a:ext cx="20116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B0C09A"/>
                </a:solidFill>
                <a:latin typeface="Calibri"/>
              </a:rPr>
              <a:t>OWASP Top 10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B0C09A"/>
                </a:solidFill>
                <a:latin typeface="Calibri"/>
              </a:rPr>
              <a:t>DPIA uitvoering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B0C09A"/>
                </a:solidFill>
                <a:latin typeface="Calibri"/>
              </a:rPr>
              <a:t>PostgreSQL TLS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B0C09A"/>
                </a:solidFill>
                <a:latin typeface="Calibri"/>
              </a:rPr>
              <a:t>Finale oplevering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5925312"/>
            <a:ext cx="11430000" cy="109728"/>
          </a:xfrm>
          <a:prstGeom prst="rect">
            <a:avLst/>
          </a:prstGeom>
          <a:solidFill>
            <a:srgbClr val="C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247120" y="57607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C8A020"/>
                </a:solidFill>
                <a:latin typeface="Calibri"/>
              </a:rPr>
              <a:t>→ tijdlijn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D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C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E2D1E"/>
                </a:solidFill>
                <a:latin typeface="Calibri"/>
              </a:rPr>
              <a:t>Routekaart — verdere ontwikkeling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3152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2D1E"/>
                </a:solidFill>
                <a:latin typeface="Calibri"/>
              </a:rPr>
              <a:t>Open punten &amp; toekomstige iteraties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371600"/>
            <a:ext cx="1188720" cy="56692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435608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E2D1E"/>
                </a:solidFill>
                <a:latin typeface="Calibri"/>
              </a:rPr>
              <a:t>Hoog</a:t>
            </a:r>
          </a:p>
        </p:txBody>
      </p:sp>
      <p:sp>
        <p:nvSpPr>
          <p:cNvPr id="7" name="Rectangle 6"/>
          <p:cNvSpPr/>
          <p:nvPr/>
        </p:nvSpPr>
        <p:spPr>
          <a:xfrm>
            <a:off x="1600200" y="1371600"/>
            <a:ext cx="10058400" cy="566928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37360" y="1435608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SSO / SAML-integratie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09160" y="1463040"/>
            <a:ext cx="68580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0C09A"/>
                </a:solidFill>
                <a:latin typeface="Calibri"/>
              </a:rPr>
              <a:t>Eenmalige aanmelding via Defensie-identiteitsprovider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048256"/>
            <a:ext cx="1188720" cy="56692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2112264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E2D1E"/>
                </a:solidFill>
                <a:latin typeface="Calibri"/>
              </a:rPr>
              <a:t>Hoog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00200" y="2048256"/>
            <a:ext cx="10058400" cy="566928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737360" y="2112264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HR-URL HTTPS allowlist (OWASP A10)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9160" y="2139696"/>
            <a:ext cx="68580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0C09A"/>
                </a:solidFill>
                <a:latin typeface="Calibri"/>
              </a:rPr>
              <a:t>Whitelist HR-endpoints + HTTPS-verificatie op uitgaand verkeer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724912"/>
            <a:ext cx="1188720" cy="566928"/>
          </a:xfrm>
          <a:prstGeom prst="rect">
            <a:avLst/>
          </a:prstGeom>
          <a:solidFill>
            <a:srgbClr val="C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2788920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E2D1E"/>
                </a:solidFill>
                <a:latin typeface="Calibri"/>
              </a:rPr>
              <a:t>Gemiddeld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00200" y="2724912"/>
            <a:ext cx="10058400" cy="566928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737360" y="278892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Serviceman login — wachtwoordverificatie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09160" y="2816352"/>
            <a:ext cx="68580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0C09A"/>
                </a:solidFill>
                <a:latin typeface="Calibri"/>
              </a:rPr>
              <a:t>SSO of eigen credentials afwachten; nu tijdelijk overgeslagen (GitHub-issue)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401568"/>
            <a:ext cx="1188720" cy="566928"/>
          </a:xfrm>
          <a:prstGeom prst="rect">
            <a:avLst/>
          </a:prstGeom>
          <a:solidFill>
            <a:srgbClr val="C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3465576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E2D1E"/>
                </a:solidFill>
                <a:latin typeface="Calibri"/>
              </a:rPr>
              <a:t>Gemiddeld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600200" y="3401568"/>
            <a:ext cx="10058400" cy="566928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737360" y="3465576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Responsief ontwerp (mobiel)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09160" y="3493008"/>
            <a:ext cx="68580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0C09A"/>
                </a:solidFill>
                <a:latin typeface="Calibri"/>
              </a:rPr>
              <a:t>Tablet-/smartphoneweergave voor PTI's op terrein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4078224"/>
            <a:ext cx="1188720" cy="566928"/>
          </a:xfrm>
          <a:prstGeom prst="rect">
            <a:avLst/>
          </a:prstGeom>
          <a:solidFill>
            <a:srgbClr val="216A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4142232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E2D1E"/>
                </a:solidFill>
                <a:latin typeface="Calibri"/>
              </a:rPr>
              <a:t>Laag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600200" y="4078224"/>
            <a:ext cx="10058400" cy="566928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737360" y="4142232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Realtimenotificaties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09160" y="4169664"/>
            <a:ext cx="68580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0C09A"/>
                </a:solidFill>
                <a:latin typeface="Calibri"/>
              </a:rPr>
              <a:t>WebSocket push voor sessiewijzigingen en broker-alerts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4754880"/>
            <a:ext cx="1188720" cy="566928"/>
          </a:xfrm>
          <a:prstGeom prst="rect">
            <a:avLst/>
          </a:prstGeom>
          <a:solidFill>
            <a:srgbClr val="216A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5760" y="4818888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E2D1E"/>
                </a:solidFill>
                <a:latin typeface="Calibri"/>
              </a:rPr>
              <a:t>Laag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600200" y="4754880"/>
            <a:ext cx="10058400" cy="566928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737360" y="4818888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Multi-eenheid ondersteuning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09160" y="4846320"/>
            <a:ext cx="68580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0C09A"/>
                </a:solidFill>
                <a:latin typeface="Calibri"/>
              </a:rPr>
              <a:t>Uitbreiding naar meerdere regimenten / compagnieën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5431536"/>
            <a:ext cx="1188720" cy="56692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5495544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E2D1E"/>
                </a:solidFill>
                <a:latin typeface="Calibri"/>
              </a:rPr>
              <a:t>Laag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600200" y="5431536"/>
            <a:ext cx="10058400" cy="566928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737360" y="5495544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Uitgebreid rapportagepakket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709160" y="5522976"/>
            <a:ext cx="68580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0C09A"/>
                </a:solidFill>
                <a:latin typeface="Calibri"/>
              </a:rPr>
              <a:t>PDF-exports per test, eenheid en tijdsperiode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D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2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274552" cy="47548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0" y="1188720"/>
            <a:ext cx="1554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0" i="0">
                <a:solidFill>
                  <a:srgbClr val="C8A020"/>
                </a:solidFill>
                <a:latin typeface="Calibri"/>
              </a:rPr>
              <a:t>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036015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C8A020"/>
                </a:solidFill>
                <a:latin typeface="Calibri"/>
              </a:rPr>
              <a:t>Bedankt!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834640"/>
            <a:ext cx="103601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  <a:latin typeface="Calibri"/>
              </a:rPr>
              <a:t>Vragen?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65760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B0C09A"/>
                </a:solidFill>
                <a:latin typeface="Calibri"/>
              </a:rPr>
              <a:t>Benoit Goethals  ·  benoit.goethals@gmail.com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103601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>
                <a:solidFill>
                  <a:srgbClr val="B0C09A"/>
                </a:solidFill>
                <a:latin typeface="Calibri"/>
              </a:rPr>
              <a:t>github.com/BenoitGoethals/WarriorFit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303520"/>
            <a:ext cx="2031492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0" y="5376672"/>
            <a:ext cx="203149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C8A020"/>
                </a:solidFill>
                <a:latin typeface="Calibri"/>
              </a:rPr>
              <a:t>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5897880"/>
            <a:ext cx="20314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0C09A"/>
                </a:solidFill>
                <a:latin typeface="Calibri"/>
              </a:rPr>
              <a:t>epics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31492" y="5303520"/>
            <a:ext cx="2031492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31492" y="5376672"/>
            <a:ext cx="203149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C8A020"/>
                </a:solidFill>
                <a:latin typeface="Calibri"/>
              </a:rPr>
              <a:t>80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31492" y="5897880"/>
            <a:ext cx="20314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0C09A"/>
                </a:solidFill>
                <a:latin typeface="Calibri"/>
              </a:rPr>
              <a:t>stories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62984" y="5303520"/>
            <a:ext cx="2031492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062984" y="5376672"/>
            <a:ext cx="203149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C8A020"/>
                </a:solidFill>
                <a:latin typeface="Calibri"/>
              </a:rPr>
              <a:t>231 SP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62984" y="5897880"/>
            <a:ext cx="20314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0C09A"/>
                </a:solidFill>
                <a:latin typeface="Calibri"/>
              </a:rPr>
              <a:t>geleverd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94476" y="5303520"/>
            <a:ext cx="2031492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94476" y="5376672"/>
            <a:ext cx="203149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C8A020"/>
                </a:solidFill>
                <a:latin typeface="Calibri"/>
              </a:rPr>
              <a:t>1.012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4476" y="5897880"/>
            <a:ext cx="20314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0C09A"/>
                </a:solidFill>
                <a:latin typeface="Calibri"/>
              </a:rPr>
              <a:t>commits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25968" y="5303520"/>
            <a:ext cx="2031492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25968" y="5376672"/>
            <a:ext cx="203149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C8A020"/>
                </a:solidFill>
                <a:latin typeface="Calibri"/>
              </a:rPr>
              <a:t>25.800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25968" y="5897880"/>
            <a:ext cx="20314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0C09A"/>
                </a:solidFill>
                <a:latin typeface="Calibri"/>
              </a:rPr>
              <a:t>lijnen Python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157460" y="5303520"/>
            <a:ext cx="2031492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157460" y="5376672"/>
            <a:ext cx="203149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C8A020"/>
                </a:solidFill>
                <a:latin typeface="Calibri"/>
              </a:rPr>
              <a:t>8,5 mnd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57460" y="5897880"/>
            <a:ext cx="20314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0C09A"/>
                </a:solidFill>
                <a:latin typeface="Calibri"/>
              </a:rPr>
              <a:t>solo-ontwikkeling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