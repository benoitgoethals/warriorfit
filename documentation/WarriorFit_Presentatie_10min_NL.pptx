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57" r:id="rId4"/>
    <p:sldId id="263" r:id="rId5"/>
    <p:sldId id="258" r:id="rId6"/>
    <p:sldId id="270" r:id="rId7"/>
    <p:sldId id="259" r:id="rId8"/>
    <p:sldId id="260" r:id="rId9"/>
    <p:sldId id="269" r:id="rId10"/>
    <p:sldId id="261" r:id="rId11"/>
    <p:sldId id="262" r:id="rId12"/>
    <p:sldId id="264" r:id="rId13"/>
    <p:sldId id="265" r:id="rId14"/>
    <p:sldId id="266" r:id="rId15"/>
    <p:sldId id="267" r:id="rId16"/>
    <p:sldId id="268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54"/>
    <p:restoredTop sz="94668"/>
  </p:normalViewPr>
  <p:slideViewPr>
    <p:cSldViewPr snapToGrid="0" snapToObjects="1">
      <p:cViewPr varScale="1">
        <p:scale>
          <a:sx n="240" d="100"/>
          <a:sy n="240" d="100"/>
        </p:scale>
        <p:origin x="250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2BB55-7068-074A-A92B-6244B0FEB877}" type="datetimeFigureOut">
              <a:rPr lang="en-BE" smtClean="0"/>
              <a:t>16/06/2026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5CA30-D02E-6347-9904-7A6745BEEBD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67714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5CA30-D02E-6347-9904-7A6745BEEBD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6759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3484" y="782556"/>
            <a:ext cx="11274552" cy="438912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0" y="14630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C8A020"/>
                </a:solidFill>
                <a:latin typeface="Calibri"/>
              </a:rPr>
              <a:t>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8A020"/>
                </a:solidFill>
                <a:latin typeface="Calibri"/>
              </a:rPr>
              <a:t>WarriorFit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Digitalisering van militaire fysieke fitheidstesten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3601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B0C09A"/>
                </a:solidFill>
                <a:latin typeface="Calibri"/>
              </a:rPr>
              <a:t>Benoit Goethals  |  </a:t>
            </a:r>
            <a:r>
              <a:rPr lang="en-US" sz="1600" b="0" i="0" dirty="0">
                <a:solidFill>
                  <a:srgbClr val="B0C09A"/>
                </a:solidFill>
                <a:latin typeface="Calibri"/>
              </a:rPr>
              <a:t>2025 /</a:t>
            </a:r>
            <a:r>
              <a:rPr sz="1600" b="0" i="0" dirty="0">
                <a:solidFill>
                  <a:srgbClr val="B0C09A"/>
                </a:solidFill>
                <a:latin typeface="Calibri"/>
              </a:rPr>
              <a:t>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0"/>
            <a:ext cx="2437790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5376672"/>
            <a:ext cx="243779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1.012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897880"/>
            <a:ext cx="24377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commits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7790" y="5303520"/>
            <a:ext cx="2437790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37790" y="5376672"/>
            <a:ext cx="243779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25.800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7790" y="5897880"/>
            <a:ext cx="24377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lijnen 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5580" y="5303520"/>
            <a:ext cx="2437790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75580" y="5376672"/>
            <a:ext cx="243779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231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5580" y="5897880"/>
            <a:ext cx="24377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story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3371" y="5303520"/>
            <a:ext cx="2437790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3371" y="5376672"/>
            <a:ext cx="243779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3371" y="5897880"/>
            <a:ext cx="24377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sprints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1161" y="5303520"/>
            <a:ext cx="2437790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51161" y="5376672"/>
            <a:ext cx="243779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1161" y="5897880"/>
            <a:ext cx="24377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user stories</a:t>
            </a:r>
          </a:p>
        </p:txBody>
      </p:sp>
      <p:pic>
        <p:nvPicPr>
          <p:cNvPr id="24" name="Video 23">
            <a:extLst>
              <a:ext uri="{FF2B5EF4-FFF2-40B4-BE49-F238E27FC236}">
                <a16:creationId xmlns:a16="http://schemas.microsoft.com/office/drawing/2014/main" id="{ACB914C5-C769-B3E7-BBED-4871C2C306C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539"/>
    </mc:Choice>
    <mc:Fallback>
      <p:transition spd="slow" advTm="185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3511420-E79C-2499-9FC9-58688C14229C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13" name="AutoShape 2" descr="WarriorFit: Digitale oplossing voor paraatheid">
            <a:extLst>
              <a:ext uri="{FF2B5EF4-FFF2-40B4-BE49-F238E27FC236}">
                <a16:creationId xmlns:a16="http://schemas.microsoft.com/office/drawing/2014/main" id="{BA6015A8-389E-655C-810A-80F44D2673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pic>
        <p:nvPicPr>
          <p:cNvPr id="15" name="Picture 14" descr="A poster with text and images&#10;&#10;AI-generated content may be incorrect.">
            <a:extLst>
              <a:ext uri="{FF2B5EF4-FFF2-40B4-BE49-F238E27FC236}">
                <a16:creationId xmlns:a16="http://schemas.microsoft.com/office/drawing/2014/main" id="{1EB5C3F7-5904-977A-7872-AA74BC6C8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19" y="101070"/>
            <a:ext cx="9983788" cy="665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2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Probleemstelling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Manuele, papieren registratie van militaire fitheidstesten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539496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A020"/>
                </a:solidFill>
                <a:latin typeface="Calibri"/>
              </a:rPr>
              <a:t>Huidige situatie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C8A020"/>
                </a:solidFill>
                <a:latin typeface="Calibri"/>
              </a:rPr>
              <a:t>▶  </a:t>
            </a:r>
            <a:r>
              <a:rPr sz="1700">
                <a:solidFill>
                  <a:srgbClr val="FFFFFF"/>
                </a:solidFill>
                <a:latin typeface="Calibri"/>
              </a:rPr>
              <a:t>Papieren fiches — geen centraal overzicht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C8A020"/>
                </a:solidFill>
                <a:latin typeface="Calibri"/>
              </a:rPr>
              <a:t>▶  </a:t>
            </a:r>
            <a:r>
              <a:rPr sz="1700">
                <a:solidFill>
                  <a:srgbClr val="FFFFFF"/>
                </a:solidFill>
                <a:latin typeface="Calibri"/>
              </a:rPr>
              <a:t>5 testtypes met elk eigen scoringsregels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C8A020"/>
                </a:solidFill>
                <a:latin typeface="Calibri"/>
              </a:rPr>
              <a:t>▶  </a:t>
            </a:r>
            <a:r>
              <a:rPr sz="1700">
                <a:solidFill>
                  <a:srgbClr val="FFFFFF"/>
                </a:solidFill>
                <a:latin typeface="Calibri"/>
              </a:rPr>
              <a:t>Manuele HR-synchronisatie (foutgevoelig)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C8A020"/>
                </a:solidFill>
                <a:latin typeface="Calibri"/>
              </a:rPr>
              <a:t>▶  </a:t>
            </a:r>
            <a:r>
              <a:rPr sz="1700">
                <a:solidFill>
                  <a:srgbClr val="FFFFFF"/>
                </a:solidFill>
                <a:latin typeface="Calibri"/>
              </a:rPr>
              <a:t>Geen historisch inzicht per militair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C8A020"/>
                </a:solidFill>
                <a:latin typeface="Calibri"/>
              </a:rPr>
              <a:t>▶  </a:t>
            </a:r>
            <a:r>
              <a:rPr sz="1700">
                <a:solidFill>
                  <a:srgbClr val="FFFFFF"/>
                </a:solidFill>
                <a:latin typeface="Calibri"/>
              </a:rPr>
              <a:t>Geen AVG-compliance (gezondheidsdata Art. 9)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C8A020"/>
                </a:solidFill>
                <a:latin typeface="Calibri"/>
              </a:rPr>
              <a:t>▶  </a:t>
            </a:r>
            <a:r>
              <a:rPr sz="1700">
                <a:solidFill>
                  <a:srgbClr val="FFFFFF"/>
                </a:solidFill>
                <a:latin typeface="Calibri"/>
              </a:rPr>
              <a:t>Geen RBAC — iedereen ziet alles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C8A020"/>
                </a:solidFill>
                <a:latin typeface="Calibri"/>
              </a:rPr>
              <a:t>▶  </a:t>
            </a:r>
            <a:r>
              <a:rPr sz="1700">
                <a:solidFill>
                  <a:srgbClr val="FFFFFF"/>
                </a:solidFill>
                <a:latin typeface="Calibri"/>
              </a:rPr>
              <a:t>Geen audit trail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669280" cy="539496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A020"/>
                </a:solidFill>
                <a:latin typeface="Calibri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C8A020"/>
                </a:solidFill>
                <a:latin typeface="Calibri"/>
              </a:rPr>
              <a:t>▶  </a:t>
            </a:r>
            <a:r>
              <a:rPr sz="1700">
                <a:solidFill>
                  <a:srgbClr val="C0392B"/>
                </a:solidFill>
                <a:latin typeface="Calibri"/>
              </a:rPr>
              <a:t>Vertraging in HR-rapportage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8A020"/>
                </a:solidFill>
                <a:latin typeface="Calibri"/>
              </a:rPr>
              <a:t>▶  </a:t>
            </a:r>
            <a:r>
              <a:rPr sz="1700">
                <a:solidFill>
                  <a:srgbClr val="C0392B"/>
                </a:solidFill>
                <a:latin typeface="Calibri"/>
              </a:rPr>
              <a:t>Dataverlies door papieren archief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8A020"/>
                </a:solidFill>
                <a:latin typeface="Calibri"/>
              </a:rPr>
              <a:t>▶  </a:t>
            </a:r>
            <a:r>
              <a:rPr sz="1700">
                <a:solidFill>
                  <a:srgbClr val="C0392B"/>
                </a:solidFill>
                <a:latin typeface="Calibri"/>
              </a:rPr>
              <a:t>Geen audit trail — compliancerisico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8A020"/>
                </a:solidFill>
                <a:latin typeface="Calibri"/>
              </a:rPr>
              <a:t>▶  </a:t>
            </a:r>
            <a:r>
              <a:rPr sz="1700">
                <a:solidFill>
                  <a:srgbClr val="C0392B"/>
                </a:solidFill>
                <a:latin typeface="Calibri"/>
              </a:rPr>
              <a:t>PTI's verliezen uren aan manueel werk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8A020"/>
                </a:solidFill>
                <a:latin typeface="Calibri"/>
              </a:rPr>
              <a:t>▶  </a:t>
            </a:r>
            <a:r>
              <a:rPr sz="1700">
                <a:solidFill>
                  <a:srgbClr val="C0392B"/>
                </a:solidFill>
                <a:latin typeface="Calibri"/>
              </a:rPr>
              <a:t>Commandanten missen realtimezicht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39496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8B463"/>
                </a:solidFill>
                <a:latin typeface="Calibri"/>
              </a:rPr>
              <a:t>→  WarriorFit digitaliseert het volledige proces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5 Testtypes — volledig gedigitaliseerd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ORM-polymorfisme · FitnessTest-basisklasse + subtypes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188720"/>
            <a:ext cx="1725664" cy="475488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1188720"/>
            <a:ext cx="172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D1E"/>
                </a:solidFill>
                <a:latin typeface="Calibri"/>
              </a:rPr>
              <a:t>PHEF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664208"/>
            <a:ext cx="1725664" cy="2724912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1575606" cy="2613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dirty="0">
                <a:solidFill>
                  <a:srgbClr val="B0C09A"/>
                </a:solidFill>
                <a:latin typeface="Calibri"/>
              </a:rPr>
              <a:t>2400 m 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looptijd</a:t>
            </a:r>
            <a:endParaRPr sz="13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300" dirty="0" err="1">
                <a:solidFill>
                  <a:srgbClr val="B0C09A"/>
                </a:solidFill>
                <a:latin typeface="Calibri"/>
              </a:rPr>
              <a:t>Zijbrug</a:t>
            </a:r>
            <a:r>
              <a:rPr sz="1300" dirty="0">
                <a:solidFill>
                  <a:srgbClr val="B0C09A"/>
                </a:solidFill>
                <a:latin typeface="Calibri"/>
              </a:rPr>
              <a:t> (L+R)</a:t>
            </a:r>
          </a:p>
          <a:p>
            <a:pPr algn="l">
              <a:spcAft>
                <a:spcPts val="500"/>
              </a:spcAft>
            </a:pPr>
            <a:r>
              <a:rPr sz="1300" dirty="0" err="1">
                <a:solidFill>
                  <a:srgbClr val="B0C09A"/>
                </a:solidFill>
                <a:latin typeface="Calibri"/>
              </a:rPr>
              <a:t>Leeftijds</a:t>
            </a:r>
            <a:r>
              <a:rPr sz="1300" dirty="0">
                <a:solidFill>
                  <a:srgbClr val="B0C09A"/>
                </a:solidFill>
                <a:latin typeface="Calibri"/>
              </a:rPr>
              <a:t>-/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gendercorrectie</a:t>
            </a:r>
            <a:endParaRPr lang="en-US" sz="13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endParaRPr lang="en-BE" sz="13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lang="en-BE" sz="1300" dirty="0">
                <a:solidFill>
                  <a:srgbClr val="B0C09A"/>
                </a:solidFill>
                <a:latin typeface="Calibri"/>
              </a:rPr>
              <a:t>STATUTAIR, 5 x fail is exit Defensie.</a:t>
            </a:r>
          </a:p>
          <a:p>
            <a:pPr algn="l">
              <a:spcAft>
                <a:spcPts val="500"/>
              </a:spcAft>
            </a:pPr>
            <a:r>
              <a:rPr lang="en-BE" sz="1300" dirty="0">
                <a:solidFill>
                  <a:srgbClr val="B0C09A"/>
                </a:solidFill>
                <a:latin typeface="Calibri"/>
              </a:rPr>
              <a:t>ENTRY VOORWAARDEN voor promotie,functie </a:t>
            </a:r>
            <a:endParaRPr sz="1300" dirty="0">
              <a:solidFill>
                <a:srgbClr val="B0C09A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32304" y="1188720"/>
            <a:ext cx="1725664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32304" y="1188720"/>
            <a:ext cx="172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 err="1">
                <a:solidFill>
                  <a:srgbClr val="1E2D1E"/>
                </a:solidFill>
                <a:latin typeface="Calibri"/>
              </a:rPr>
              <a:t>Functioneel</a:t>
            </a:r>
            <a:endParaRPr sz="1800" b="1" i="0" dirty="0">
              <a:solidFill>
                <a:srgbClr val="1E2D1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32304" y="1664208"/>
            <a:ext cx="1725664" cy="2724912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23744" y="1737360"/>
            <a:ext cx="1575606" cy="756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dirty="0" err="1">
                <a:solidFill>
                  <a:srgbClr val="B0C09A"/>
                </a:solidFill>
                <a:latin typeface="Calibri"/>
              </a:rPr>
              <a:t>Functionele</a:t>
            </a:r>
            <a:r>
              <a:rPr sz="1300" dirty="0">
                <a:solidFill>
                  <a:srgbClr val="B0C09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fitheid</a:t>
            </a:r>
            <a:endParaRPr sz="13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300" dirty="0" err="1">
                <a:solidFill>
                  <a:srgbClr val="B0C09A"/>
                </a:solidFill>
                <a:latin typeface="Calibri"/>
              </a:rPr>
              <a:t>Komplexe</a:t>
            </a:r>
            <a:r>
              <a:rPr sz="1300" dirty="0">
                <a:solidFill>
                  <a:srgbClr val="B0C09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oefeningen</a:t>
            </a:r>
            <a:endParaRPr sz="1300" dirty="0">
              <a:solidFill>
                <a:srgbClr val="B0C09A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66919" y="1184383"/>
            <a:ext cx="1725664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6919" y="1184383"/>
            <a:ext cx="172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D1E"/>
                </a:solidFill>
                <a:latin typeface="Calibri"/>
              </a:rPr>
              <a:t>Gevecht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6919" y="1659871"/>
            <a:ext cx="1725664" cy="2724912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58359" y="1733023"/>
            <a:ext cx="1575606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dirty="0" err="1">
                <a:solidFill>
                  <a:srgbClr val="B0C09A"/>
                </a:solidFill>
                <a:latin typeface="Calibri"/>
              </a:rPr>
              <a:t>Paraat</a:t>
            </a:r>
            <a:r>
              <a:rPr sz="1300" dirty="0">
                <a:solidFill>
                  <a:srgbClr val="B0C09A"/>
                </a:solidFill>
                <a:latin typeface="Calibri"/>
              </a:rPr>
              <a:t> (paratrooper)</a:t>
            </a:r>
          </a:p>
          <a:p>
            <a:pPr algn="l">
              <a:spcAft>
                <a:spcPts val="500"/>
              </a:spcAft>
            </a:pPr>
            <a:r>
              <a:rPr sz="1300" dirty="0">
                <a:solidFill>
                  <a:srgbClr val="B0C09A"/>
                </a:solidFill>
                <a:latin typeface="Calibri"/>
              </a:rPr>
              <a:t>Harde 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drempelwaarden</a:t>
            </a:r>
            <a:endParaRPr lang="en-US" sz="13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endParaRPr lang="en-BE" sz="13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lang="en-BE" sz="1300" dirty="0">
                <a:solidFill>
                  <a:srgbClr val="B0C09A"/>
                </a:solidFill>
                <a:latin typeface="Calibri"/>
              </a:rPr>
              <a:t>NO GO, no missions, no premie,no jump</a:t>
            </a:r>
            <a:endParaRPr sz="1300" dirty="0">
              <a:solidFill>
                <a:srgbClr val="B0C09A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14040" y="1184383"/>
            <a:ext cx="1725664" cy="475488"/>
          </a:xfrm>
          <a:prstGeom prst="rect">
            <a:avLst/>
          </a:prstGeom>
          <a:solidFill>
            <a:srgbClr val="216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14040" y="1184383"/>
            <a:ext cx="172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D1E"/>
                </a:solidFill>
                <a:latin typeface="Calibri"/>
              </a:rPr>
              <a:t>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14040" y="1659871"/>
            <a:ext cx="1725664" cy="2724912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05480" y="1733023"/>
            <a:ext cx="1575606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dirty="0">
                <a:solidFill>
                  <a:srgbClr val="B0C09A"/>
                </a:solidFill>
                <a:latin typeface="Calibri"/>
              </a:rPr>
              <a:t>Timed march + 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uitrusting</a:t>
            </a:r>
            <a:endParaRPr sz="13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300" dirty="0" err="1">
                <a:solidFill>
                  <a:srgbClr val="B0C09A"/>
                </a:solidFill>
                <a:latin typeface="Calibri"/>
              </a:rPr>
              <a:t>Afstand</a:t>
            </a:r>
            <a:r>
              <a:rPr sz="1300" dirty="0">
                <a:solidFill>
                  <a:srgbClr val="B0C09A"/>
                </a:solidFill>
                <a:latin typeface="Calibri"/>
              </a:rPr>
              <a:t> + 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gewicht</a:t>
            </a:r>
            <a:endParaRPr sz="13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300" dirty="0" err="1">
                <a:solidFill>
                  <a:srgbClr val="B0C09A"/>
                </a:solidFill>
                <a:latin typeface="Calibri"/>
              </a:rPr>
              <a:t>Eenheidsprestatie</a:t>
            </a:r>
            <a:endParaRPr sz="1300" dirty="0">
              <a:solidFill>
                <a:srgbClr val="B0C09A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931144" y="1170432"/>
            <a:ext cx="1725664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31144" y="1170432"/>
            <a:ext cx="172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D1E"/>
                </a:solidFill>
                <a:latin typeface="Calibri"/>
              </a:rPr>
              <a:t>Cross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31144" y="1645920"/>
            <a:ext cx="1725664" cy="2724912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2584" y="1719072"/>
            <a:ext cx="1575606" cy="14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dirty="0" err="1">
                <a:solidFill>
                  <a:srgbClr val="B0C09A"/>
                </a:solidFill>
                <a:latin typeface="Calibri"/>
              </a:rPr>
              <a:t>Tijdmetingen</a:t>
            </a:r>
            <a:r>
              <a:rPr sz="1300" dirty="0">
                <a:solidFill>
                  <a:srgbClr val="B0C09A"/>
                </a:solidFill>
                <a:latin typeface="Calibri"/>
              </a:rPr>
              <a:t> per 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loper</a:t>
            </a:r>
            <a:endParaRPr sz="13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300" dirty="0">
                <a:solidFill>
                  <a:srgbClr val="B0C09A"/>
                </a:solidFill>
                <a:latin typeface="Calibri"/>
              </a:rPr>
              <a:t>Chronos XML-import</a:t>
            </a:r>
          </a:p>
          <a:p>
            <a:pPr algn="l">
              <a:spcAft>
                <a:spcPts val="500"/>
              </a:spcAft>
            </a:pPr>
            <a:r>
              <a:rPr sz="1300" dirty="0">
                <a:solidFill>
                  <a:srgbClr val="B0C09A"/>
                </a:solidFill>
                <a:latin typeface="Calibri"/>
              </a:rPr>
              <a:t>8 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statistiekatabladen</a:t>
            </a:r>
            <a:endParaRPr sz="1300" dirty="0">
              <a:solidFill>
                <a:srgbClr val="B0C09A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4320" y="4526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A020"/>
                </a:solidFill>
                <a:latin typeface="Calibri"/>
              </a:rPr>
              <a:t>Zijbrugscoringtabel (PHEF) — leeftijds- en gendercorrectie:</a:t>
            </a:r>
          </a:p>
        </p:txBody>
      </p:sp>
      <p:pic>
        <p:nvPicPr>
          <p:cNvPr id="26" name="Picture 25" descr="side-bridge-proef-t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1" y="4892040"/>
            <a:ext cx="2006364" cy="185783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CFC85BB-C0C5-7DE1-5A03-5450DB1A13A8}"/>
              </a:ext>
            </a:extLst>
          </p:cNvPr>
          <p:cNvSpPr/>
          <p:nvPr/>
        </p:nvSpPr>
        <p:spPr>
          <a:xfrm>
            <a:off x="9828598" y="1170432"/>
            <a:ext cx="1725664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3F9E0D-E8F6-1AAC-08A0-45679D15F90D}"/>
              </a:ext>
            </a:extLst>
          </p:cNvPr>
          <p:cNvSpPr txBox="1"/>
          <p:nvPr/>
        </p:nvSpPr>
        <p:spPr>
          <a:xfrm>
            <a:off x="9828598" y="1170432"/>
            <a:ext cx="172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dirty="0">
                <a:solidFill>
                  <a:srgbClr val="1E2D1E"/>
                </a:solidFill>
                <a:latin typeface="Calibri"/>
              </a:rPr>
              <a:t>MFTT</a:t>
            </a:r>
            <a:endParaRPr sz="1800" b="1" i="0" dirty="0">
              <a:solidFill>
                <a:srgbClr val="1E2D1E"/>
              </a:solidFill>
              <a:latin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4C01CA-8B65-F1C1-D038-EE0FD8A6D5C7}"/>
              </a:ext>
            </a:extLst>
          </p:cNvPr>
          <p:cNvSpPr/>
          <p:nvPr/>
        </p:nvSpPr>
        <p:spPr>
          <a:xfrm>
            <a:off x="9828598" y="1645920"/>
            <a:ext cx="1725664" cy="2724912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C6F7B2-1D77-3FB1-E96A-CF29074F2C6D}"/>
              </a:ext>
            </a:extLst>
          </p:cNvPr>
          <p:cNvSpPr txBox="1"/>
          <p:nvPr/>
        </p:nvSpPr>
        <p:spPr>
          <a:xfrm>
            <a:off x="9920038" y="1719072"/>
            <a:ext cx="1575606" cy="98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nl-BE" sz="1400" dirty="0">
                <a:solidFill>
                  <a:schemeClr val="bg1"/>
                </a:solidFill>
              </a:rPr>
              <a:t>Military Functional Fitness Training</a:t>
            </a:r>
            <a:r>
              <a:rPr lang="en-BE" sz="1100" dirty="0">
                <a:solidFill>
                  <a:schemeClr val="bg1"/>
                </a:solidFill>
              </a:rPr>
              <a:t> </a:t>
            </a:r>
            <a:endParaRPr lang="en-US" sz="1100" dirty="0">
              <a:solidFill>
                <a:schemeClr val="bg1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lang="en-US" sz="1300" dirty="0">
                <a:solidFill>
                  <a:srgbClr val="B0C09A"/>
                </a:solidFill>
                <a:latin typeface="Calibri"/>
              </a:rPr>
              <a:t>NIEUWE TESTEN 2026</a:t>
            </a:r>
            <a:endParaRPr sz="1300" dirty="0">
              <a:solidFill>
                <a:srgbClr val="B0C09A"/>
              </a:solidFill>
              <a:latin typeface="Calibri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FD9373D-CB91-D997-1FBC-8E379EE91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162" y="4660102"/>
            <a:ext cx="2333292" cy="21978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7313370" y="4862304"/>
            <a:ext cx="4573830" cy="1584216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Oplossing — WarriorFit Ecosysteem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Intranetwebplatform · geen publieke blootstelling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2437790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1261872"/>
            <a:ext cx="243779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783080"/>
            <a:ext cx="24377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pagina's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37790" y="1188720"/>
            <a:ext cx="2437790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37790" y="1261872"/>
            <a:ext cx="243779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7790" y="1783080"/>
            <a:ext cx="24377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rollen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5580" y="1188720"/>
            <a:ext cx="2437790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5580" y="1261872"/>
            <a:ext cx="243779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5580" y="1783080"/>
            <a:ext cx="24377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testtypes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3371" y="1188720"/>
            <a:ext cx="2437790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3371" y="1261872"/>
            <a:ext cx="243779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40+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3371" y="1783080"/>
            <a:ext cx="24377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DI-singletons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51161" y="1188720"/>
            <a:ext cx="2437790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51161" y="1261872"/>
            <a:ext cx="243779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100 %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1161" y="1783080"/>
            <a:ext cx="243779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async I/O</a:t>
            </a:r>
          </a:p>
        </p:txBody>
      </p:sp>
      <p:pic>
        <p:nvPicPr>
          <p:cNvPr id="20" name="Picture 19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2" y="2423160"/>
            <a:ext cx="7096536" cy="274704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313370" y="2423160"/>
            <a:ext cx="4573830" cy="749808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27242" y="2654100"/>
            <a:ext cx="1707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C8A020"/>
                </a:solidFill>
                <a:latin typeface="Calibri"/>
              </a:rPr>
              <a:t>Shiny for 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1990" y="2532888"/>
            <a:ext cx="262232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B0C09A"/>
                </a:solidFill>
                <a:latin typeface="Calibri"/>
              </a:rPr>
              <a:t>Reactieve</a:t>
            </a:r>
            <a:r>
              <a:rPr sz="1300" b="0" i="0" dirty="0">
                <a:solidFill>
                  <a:srgbClr val="B0C09A"/>
                </a:solidFill>
                <a:latin typeface="Calibri"/>
              </a:rPr>
              <a:t> web-UI · 24 </a:t>
            </a:r>
            <a:r>
              <a:rPr sz="1300" b="0" i="0" dirty="0" err="1">
                <a:solidFill>
                  <a:srgbClr val="B0C09A"/>
                </a:solidFill>
                <a:latin typeface="Calibri"/>
              </a:rPr>
              <a:t>pagina's</a:t>
            </a:r>
            <a:r>
              <a:rPr sz="1300" b="0" i="0" dirty="0">
                <a:solidFill>
                  <a:srgbClr val="B0C09A"/>
                </a:solidFill>
                <a:latin typeface="Calibri"/>
              </a:rPr>
              <a:t> · RBAC-</a:t>
            </a:r>
            <a:r>
              <a:rPr sz="1300" b="0" i="0" dirty="0" err="1">
                <a:solidFill>
                  <a:srgbClr val="B0C09A"/>
                </a:solidFill>
                <a:latin typeface="Calibri"/>
              </a:rPr>
              <a:t>beschermd</a:t>
            </a:r>
            <a:endParaRPr sz="1300" b="0" i="0" dirty="0">
              <a:solidFill>
                <a:srgbClr val="B0C09A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313370" y="3227832"/>
            <a:ext cx="4573830" cy="749808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27242" y="3335548"/>
            <a:ext cx="17075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C8A020"/>
                </a:solidFill>
                <a:latin typeface="Calibri"/>
              </a:rPr>
              <a:t>PostgreSQL + </a:t>
            </a:r>
            <a:r>
              <a:rPr sz="1400" b="1" i="0" dirty="0" err="1">
                <a:solidFill>
                  <a:srgbClr val="C8A020"/>
                </a:solidFill>
                <a:latin typeface="Calibri"/>
              </a:rPr>
              <a:t>asyncpg</a:t>
            </a:r>
            <a:endParaRPr sz="1400" b="1" i="0" dirty="0">
              <a:solidFill>
                <a:srgbClr val="C8A02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1990" y="3337560"/>
            <a:ext cx="262232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09A"/>
                </a:solidFill>
                <a:latin typeface="Calibri"/>
              </a:rPr>
              <a:t>Async ORM (SQLAlchemy 2.0) · Alembic-migraties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3370" y="4032504"/>
            <a:ext cx="4573830" cy="749808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27242" y="4232219"/>
            <a:ext cx="1707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C8A020"/>
                </a:solidFill>
                <a:latin typeface="Calibri"/>
              </a:rPr>
              <a:t>Broker (MOM)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1990" y="4142232"/>
            <a:ext cx="262232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09A"/>
                </a:solidFill>
                <a:latin typeface="Calibri"/>
              </a:rPr>
              <a:t>Transactionele outbox · exp. backoff · dead-letter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7240" y="5728821"/>
            <a:ext cx="1707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C8A020"/>
                </a:solidFill>
                <a:latin typeface="Calibri"/>
              </a:rPr>
              <a:t>FastAPI</a:t>
            </a:r>
            <a:endParaRPr sz="1400" b="1" i="0" dirty="0">
              <a:solidFill>
                <a:srgbClr val="C8A020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03681" y="5729885"/>
            <a:ext cx="262232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B0C09A"/>
                </a:solidFill>
                <a:latin typeface="Calibri"/>
              </a:rPr>
              <a:t>MOM REST-endpoint · X-API-Key · CORS-</a:t>
            </a:r>
            <a:r>
              <a:rPr sz="1300" b="0" i="0" dirty="0" err="1">
                <a:solidFill>
                  <a:srgbClr val="B0C09A"/>
                </a:solidFill>
                <a:latin typeface="Calibri"/>
              </a:rPr>
              <a:t>vergrendeling</a:t>
            </a:r>
            <a:endParaRPr sz="1300" b="0" i="0" dirty="0">
              <a:solidFill>
                <a:srgbClr val="B0C09A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27241" y="4982027"/>
            <a:ext cx="17075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C8A020"/>
                </a:solidFill>
                <a:latin typeface="Calibri"/>
              </a:rPr>
              <a:t>HR Simulator + </a:t>
            </a:r>
            <a:r>
              <a:rPr sz="1400" b="1" i="0" dirty="0" err="1">
                <a:solidFill>
                  <a:srgbClr val="C8A020"/>
                </a:solidFill>
                <a:latin typeface="Calibri"/>
              </a:rPr>
              <a:t>Mailpit</a:t>
            </a:r>
            <a:endParaRPr sz="1400" b="1" i="0" dirty="0">
              <a:solidFill>
                <a:srgbClr val="C8A020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81989" y="5049873"/>
            <a:ext cx="262232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B0C09A"/>
                </a:solidFill>
                <a:latin typeface="Calibri"/>
              </a:rPr>
              <a:t>Dev/test </a:t>
            </a:r>
            <a:r>
              <a:rPr sz="1300" b="0" i="0" dirty="0" err="1">
                <a:solidFill>
                  <a:srgbClr val="B0C09A"/>
                </a:solidFill>
                <a:latin typeface="Calibri"/>
              </a:rPr>
              <a:t>omgeving</a:t>
            </a:r>
            <a:r>
              <a:rPr sz="1300" b="0" i="0" dirty="0">
                <a:solidFill>
                  <a:srgbClr val="B0C09A"/>
                </a:solidFill>
                <a:latin typeface="Calibri"/>
              </a:rPr>
              <a:t> · HR-mock · e-</a:t>
            </a:r>
            <a:r>
              <a:rPr sz="1300" b="0" i="0" dirty="0" err="1">
                <a:solidFill>
                  <a:srgbClr val="B0C09A"/>
                </a:solidFill>
                <a:latin typeface="Calibri"/>
              </a:rPr>
              <a:t>mailpreview</a:t>
            </a:r>
            <a:endParaRPr sz="1300" b="0" i="0" dirty="0">
              <a:solidFill>
                <a:srgbClr val="B0C09A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E54BCF-CA1C-E091-C22F-06B9891DE838}"/>
              </a:ext>
            </a:extLst>
          </p:cNvPr>
          <p:cNvSpPr txBox="1"/>
          <p:nvPr/>
        </p:nvSpPr>
        <p:spPr>
          <a:xfrm>
            <a:off x="2499195" y="5296095"/>
            <a:ext cx="3535845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dirty="0" err="1">
                <a:solidFill>
                  <a:srgbClr val="B0C09A"/>
                </a:solidFill>
                <a:latin typeface="Calibri"/>
              </a:rPr>
              <a:t>Gemeenscappelijk</a:t>
            </a:r>
            <a:r>
              <a:rPr sz="1300" dirty="0">
                <a:solidFill>
                  <a:srgbClr val="B0C09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voor</a:t>
            </a:r>
            <a:r>
              <a:rPr sz="1300" dirty="0">
                <a:solidFill>
                  <a:srgbClr val="B0C09A"/>
                </a:solidFill>
                <a:latin typeface="Calibri"/>
              </a:rPr>
              <a:t> alle types:</a:t>
            </a:r>
          </a:p>
          <a:p>
            <a:pPr algn="l">
              <a:spcAft>
                <a:spcPts val="500"/>
              </a:spcAft>
            </a:pPr>
            <a:r>
              <a:rPr sz="1300" dirty="0">
                <a:solidFill>
                  <a:srgbClr val="B0C09A"/>
                </a:solidFill>
                <a:latin typeface="Calibri"/>
              </a:rPr>
              <a:t>▶  ORM-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polymorfisme</a:t>
            </a:r>
            <a:r>
              <a:rPr sz="1300" dirty="0">
                <a:solidFill>
                  <a:srgbClr val="B0C09A"/>
                </a:solidFill>
                <a:latin typeface="Calibri"/>
              </a:rPr>
              <a:t> (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FitnessTest</a:t>
            </a:r>
            <a:r>
              <a:rPr sz="1300" dirty="0">
                <a:solidFill>
                  <a:srgbClr val="B0C09A"/>
                </a:solidFill>
                <a:latin typeface="Calibri"/>
              </a:rPr>
              <a:t>-base)</a:t>
            </a:r>
          </a:p>
          <a:p>
            <a:pPr algn="l">
              <a:spcAft>
                <a:spcPts val="500"/>
              </a:spcAft>
            </a:pPr>
            <a:r>
              <a:rPr sz="1300" dirty="0">
                <a:solidFill>
                  <a:srgbClr val="B0C09A"/>
                </a:solidFill>
                <a:latin typeface="Calibri"/>
              </a:rPr>
              <a:t>▶  Async repository (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SQLAlchemy</a:t>
            </a:r>
            <a:r>
              <a:rPr sz="1300" dirty="0">
                <a:solidFill>
                  <a:srgbClr val="B0C09A"/>
                </a:solidFill>
                <a:latin typeface="Calibri"/>
              </a:rPr>
              <a:t> 2.0)</a:t>
            </a:r>
          </a:p>
          <a:p>
            <a:pPr algn="l">
              <a:spcAft>
                <a:spcPts val="500"/>
              </a:spcAft>
            </a:pPr>
            <a:r>
              <a:rPr sz="1300" dirty="0">
                <a:solidFill>
                  <a:srgbClr val="B0C09A"/>
                </a:solidFill>
                <a:latin typeface="Calibri"/>
              </a:rPr>
              <a:t>▶  Audit trail 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bij</a:t>
            </a:r>
            <a:r>
              <a:rPr sz="1300" dirty="0">
                <a:solidFill>
                  <a:srgbClr val="B0C09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elke</a:t>
            </a:r>
            <a:r>
              <a:rPr sz="1300" dirty="0">
                <a:solidFill>
                  <a:srgbClr val="B0C09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opslag</a:t>
            </a:r>
            <a:endParaRPr sz="13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300" dirty="0">
                <a:solidFill>
                  <a:srgbClr val="B0C09A"/>
                </a:solidFill>
                <a:latin typeface="Calibri"/>
              </a:rPr>
              <a:t>▶  </a:t>
            </a:r>
            <a:r>
              <a:rPr sz="1300" dirty="0" err="1">
                <a:solidFill>
                  <a:srgbClr val="B0C09A"/>
                </a:solidFill>
                <a:latin typeface="Calibri"/>
              </a:rPr>
              <a:t>Automatische</a:t>
            </a:r>
            <a:r>
              <a:rPr sz="1300" dirty="0">
                <a:solidFill>
                  <a:srgbClr val="B0C09A"/>
                </a:solidFill>
                <a:latin typeface="Calibri"/>
              </a:rPr>
              <a:t> HR-forwarding via broker</a:t>
            </a:r>
            <a:r>
              <a:rPr lang="en-US" sz="1300" dirty="0">
                <a:solidFill>
                  <a:srgbClr val="B0C09A"/>
                </a:solidFill>
                <a:latin typeface="Calibri"/>
              </a:rPr>
              <a:t> </a:t>
            </a:r>
            <a:r>
              <a:rPr lang="en-US" sz="1300" dirty="0" err="1">
                <a:solidFill>
                  <a:srgbClr val="B0C09A"/>
                </a:solidFill>
                <a:latin typeface="Calibri"/>
              </a:rPr>
              <a:t>alleen</a:t>
            </a:r>
            <a:r>
              <a:rPr lang="en-US" sz="1300" dirty="0">
                <a:solidFill>
                  <a:srgbClr val="B0C09A"/>
                </a:solidFill>
                <a:latin typeface="Calibri"/>
              </a:rPr>
              <a:t> PHEF</a:t>
            </a:r>
            <a:endParaRPr sz="1300" dirty="0">
              <a:solidFill>
                <a:srgbClr val="B0C09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Technologiestapel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Python 3.13+ · moderne async stack · volledig open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669280" cy="237744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1E"/>
                </a:solidFill>
                <a:latin typeface="Calibri"/>
              </a:rPr>
              <a:t>Frontend /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Shiny for Python — reactieve server-side UI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Plotly — interactieve grafieken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Rajdhani + JetBrains Mono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CSS-thema: olive / khaki / amber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5669280" cy="237744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28B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1E"/>
                </a:solidFill>
                <a:latin typeface="Calibri"/>
              </a:rPr>
              <a:t>Backend /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PostgreSQL + asyncpg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SQLAlchemy 2.0 Async ORM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Alembic — DB-migratiebeheer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dependency-injector (DI-container)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5669280" cy="237744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931920"/>
            <a:ext cx="56692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977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1E"/>
                </a:solidFill>
                <a:latin typeface="Calibri"/>
              </a:rPr>
              <a:t>Beveiliging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89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Argon2id — wachtwoordhashing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RBAC per PageSpec (6 rollen)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TLS verify-full (productie)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X-API-Key + CORS-vergrendeling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669280" cy="237744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5669280" cy="411480"/>
          </a:xfrm>
          <a:prstGeom prst="rect">
            <a:avLst/>
          </a:prstGeom>
          <a:solidFill>
            <a:srgbClr val="216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977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D1E"/>
                </a:solidFill>
                <a:latin typeface="Calibri"/>
              </a:rPr>
              <a:t>Infra / 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89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Docker + GitHub Actions CI/CD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FastAPI — MOM REST endpoint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Mailpit — e-mailpreview (dev)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B0C09A"/>
                </a:solidFill>
                <a:latin typeface="Calibri"/>
              </a:rPr>
              <a:t>uv · ruff · mypy · black · pre-commit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Architectuur — WarriorFit Lagen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UI-laag → Controller-laag → Service-laag → Repository-laag → PostgreSQL</a:t>
            </a:r>
          </a:p>
        </p:txBody>
      </p:sp>
      <p:pic>
        <p:nvPicPr>
          <p:cNvPr id="5" name="Picture 4" descr="overview-WARRIORFIT_Architectu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522" y="1234440"/>
            <a:ext cx="7725907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Architectuur — Gedetailleerde lagenstructuur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Presentation · Service · Integration · Data Access · Core · Infrastructure</a:t>
            </a:r>
          </a:p>
        </p:txBody>
      </p:sp>
      <p:pic>
        <p:nvPicPr>
          <p:cNvPr id="5" name="Picture 4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8" y="1234439"/>
            <a:ext cx="7271617" cy="369648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59" y="1234439"/>
            <a:ext cx="4181883" cy="539496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59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C8A020"/>
                </a:solidFill>
                <a:latin typeface="Calibri"/>
              </a:rPr>
              <a:t>DI Container — 40+ singletons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59" y="1874519"/>
            <a:ext cx="4114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dirty="0" err="1">
                <a:solidFill>
                  <a:srgbClr val="B0C09A"/>
                </a:solidFill>
                <a:latin typeface="Calibri"/>
              </a:rPr>
              <a:t>providers.Singleton</a:t>
            </a:r>
            <a:r>
              <a:rPr sz="1200" dirty="0">
                <a:solidFill>
                  <a:srgbClr val="B0C09A"/>
                </a:solidFill>
                <a:latin typeface="Calibri"/>
              </a:rPr>
              <a:t>(…) —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gedeeld</a:t>
            </a:r>
            <a:r>
              <a:rPr sz="1200" dirty="0">
                <a:solidFill>
                  <a:srgbClr val="B0C09A"/>
                </a:solidFill>
                <a:latin typeface="Calibri"/>
              </a:rPr>
              <a:t> over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proceslevensduur</a:t>
            </a:r>
            <a:endParaRPr sz="12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endParaRPr sz="12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200" dirty="0">
                <a:solidFill>
                  <a:srgbClr val="B0C09A"/>
                </a:solidFill>
                <a:latin typeface="Calibri"/>
              </a:rPr>
              <a:t>Repositories (8): 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UserRepository</a:t>
            </a:r>
            <a:r>
              <a:rPr sz="1200" dirty="0">
                <a:solidFill>
                  <a:srgbClr val="B0C09A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FitnessTestRepository</a:t>
            </a:r>
            <a:r>
              <a:rPr sz="1200" dirty="0">
                <a:solidFill>
                  <a:srgbClr val="B0C09A"/>
                </a:solidFill>
                <a:latin typeface="Calibri"/>
              </a:rPr>
              <a:t> …</a:t>
            </a:r>
          </a:p>
          <a:p>
            <a:pPr algn="l">
              <a:spcAft>
                <a:spcPts val="500"/>
              </a:spcAft>
            </a:pPr>
            <a:r>
              <a:rPr sz="1200" dirty="0">
                <a:solidFill>
                  <a:srgbClr val="B0C09A"/>
                </a:solidFill>
                <a:latin typeface="Calibri"/>
              </a:rPr>
              <a:t>Services (12+):   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ServiceTest</a:t>
            </a:r>
            <a:r>
              <a:rPr sz="1200" dirty="0">
                <a:solidFill>
                  <a:srgbClr val="B0C09A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GdprService</a:t>
            </a:r>
            <a:r>
              <a:rPr sz="1200" dirty="0">
                <a:solidFill>
                  <a:srgbClr val="B0C09A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RetentionService</a:t>
            </a:r>
            <a:r>
              <a:rPr sz="1200" dirty="0">
                <a:solidFill>
                  <a:srgbClr val="B0C09A"/>
                </a:solidFill>
                <a:latin typeface="Calibri"/>
              </a:rPr>
              <a:t> …</a:t>
            </a:r>
          </a:p>
          <a:p>
            <a:pPr algn="l">
              <a:spcAft>
                <a:spcPts val="500"/>
              </a:spcAft>
            </a:pPr>
            <a:r>
              <a:rPr sz="1200" dirty="0">
                <a:solidFill>
                  <a:srgbClr val="B0C09A"/>
                </a:solidFill>
                <a:latin typeface="Calibri"/>
              </a:rPr>
              <a:t>Controllers (5):  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PhefController</a:t>
            </a:r>
            <a:r>
              <a:rPr sz="1200" dirty="0">
                <a:solidFill>
                  <a:srgbClr val="B0C09A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CrossController</a:t>
            </a:r>
            <a:r>
              <a:rPr sz="1200" dirty="0">
                <a:solidFill>
                  <a:srgbClr val="B0C09A"/>
                </a:solidFill>
                <a:latin typeface="Calibri"/>
              </a:rPr>
              <a:t> …</a:t>
            </a:r>
          </a:p>
          <a:p>
            <a:pPr algn="l">
              <a:spcAft>
                <a:spcPts val="500"/>
              </a:spcAft>
            </a:pPr>
            <a:r>
              <a:rPr sz="1200" dirty="0">
                <a:solidFill>
                  <a:srgbClr val="B0C09A"/>
                </a:solidFill>
                <a:latin typeface="Calibri"/>
              </a:rPr>
              <a:t>External:         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BEMILService</a:t>
            </a:r>
            <a:r>
              <a:rPr sz="1200" dirty="0">
                <a:solidFill>
                  <a:srgbClr val="B0C09A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MailService</a:t>
            </a:r>
            <a:r>
              <a:rPr sz="1200" dirty="0">
                <a:solidFill>
                  <a:srgbClr val="B0C09A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NotifyMail</a:t>
            </a:r>
            <a:endParaRPr sz="12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200" dirty="0">
                <a:solidFill>
                  <a:srgbClr val="B0C09A"/>
                </a:solidFill>
                <a:latin typeface="Calibri"/>
              </a:rPr>
              <a:t>Broker:           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Transactionele</a:t>
            </a:r>
            <a:r>
              <a:rPr sz="1200" dirty="0">
                <a:solidFill>
                  <a:srgbClr val="B0C09A"/>
                </a:solidFill>
                <a:latin typeface="Calibri"/>
              </a:rPr>
              <a:t> outbox singleton</a:t>
            </a:r>
          </a:p>
          <a:p>
            <a:pPr algn="l">
              <a:spcAft>
                <a:spcPts val="500"/>
              </a:spcAft>
            </a:pPr>
            <a:endParaRPr sz="12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200" dirty="0">
                <a:solidFill>
                  <a:srgbClr val="B0C09A"/>
                </a:solidFill>
                <a:latin typeface="Calibri"/>
              </a:rPr>
              <a:t>Wiring: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containers.WiringConfiguration</a:t>
            </a:r>
            <a:r>
              <a:rPr sz="1200" dirty="0">
                <a:solidFill>
                  <a:srgbClr val="B0C09A"/>
                </a:solidFill>
                <a:latin typeface="Calibri"/>
              </a:rPr>
              <a:t>(modules=[…])</a:t>
            </a:r>
          </a:p>
          <a:p>
            <a:pPr algn="l">
              <a:spcAft>
                <a:spcPts val="500"/>
              </a:spcAft>
            </a:pPr>
            <a:r>
              <a:rPr sz="1200" dirty="0">
                <a:solidFill>
                  <a:srgbClr val="B0C09A"/>
                </a:solidFill>
                <a:latin typeface="Calibri"/>
              </a:rPr>
              <a:t>  → 25 UI-modules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gepatch</a:t>
            </a:r>
            <a:r>
              <a:rPr sz="1200" dirty="0">
                <a:solidFill>
                  <a:srgbClr val="B0C09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bij</a:t>
            </a:r>
            <a:r>
              <a:rPr sz="1200" dirty="0">
                <a:solidFill>
                  <a:srgbClr val="B0C09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opstart</a:t>
            </a:r>
            <a:endParaRPr sz="1200" dirty="0">
              <a:solidFill>
                <a:srgbClr val="B0C09A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200" dirty="0">
                <a:solidFill>
                  <a:srgbClr val="B0C09A"/>
                </a:solidFill>
                <a:latin typeface="Calibri"/>
              </a:rPr>
              <a:t>  → @inject + Provide[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Container.xxx</a:t>
            </a:r>
            <a:r>
              <a:rPr sz="1200" dirty="0">
                <a:solidFill>
                  <a:srgbClr val="B0C09A"/>
                </a:solidFill>
                <a:latin typeface="Calibri"/>
              </a:rPr>
              <a:t>] op page __</a:t>
            </a:r>
            <a:r>
              <a:rPr sz="1200" dirty="0" err="1">
                <a:solidFill>
                  <a:srgbClr val="B0C09A"/>
                </a:solidFill>
                <a:latin typeface="Calibri"/>
              </a:rPr>
              <a:t>init</a:t>
            </a:r>
            <a:r>
              <a:rPr sz="1200" dirty="0">
                <a:solidFill>
                  <a:srgbClr val="B0C09A"/>
                </a:solidFill>
                <a:latin typeface="Calibri"/>
              </a:rPr>
              <a:t>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AVG / GDPR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DPIA Art. 35 · gezondheidsdata Art. 9 · zelfservice privacypagina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486400" cy="534924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A020"/>
                </a:solidFill>
                <a:latin typeface="Calibri"/>
              </a:rPr>
              <a:t>Rechtsgrond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Art. 6(1)(c) — wettelijke verplichting (militaire opleiding)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Art. 6(1)(e) — taak van algemeen belang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Art. 9(2)(b) — gezondheidsdata in arbeidscontext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DPIA uitgevoerd (Art. 35) — versie 1.1, 30 apr 2026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Verwerkingsverantwoordelijke: Belgische Defensie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Uitsluitend intranet — geen publieke blootstelling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486400" cy="534924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A020"/>
                </a:solidFill>
                <a:latin typeface="Calibri"/>
              </a:rPr>
              <a:t>Geïmplementeerde rechten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Art. 15 — Inzage: volledig exporteerbaar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Art. 17 — Verwijdering: GdprService + FK CASCADE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Art. 20 — Portabiliteit: JSON-export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Art. 7  — Toestemming: user_consents tabel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RetentionService: automatische verwijdering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Audit trail: alle CRUD-acties (Art. 32)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Data Model &amp; 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PostgreSQL · SQLAlchemy ORM · polymorf FitnessTest</a:t>
            </a:r>
          </a:p>
        </p:txBody>
      </p:sp>
      <p:pic>
        <p:nvPicPr>
          <p:cNvPr id="5" name="Picture 4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4119964" cy="5394960"/>
          </a:xfrm>
          <a:prstGeom prst="rect">
            <a:avLst/>
          </a:prstGeom>
        </p:spPr>
      </p:pic>
      <p:pic>
        <p:nvPicPr>
          <p:cNvPr id="6" name="Picture 5" descr="data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817" y="1234439"/>
            <a:ext cx="7376815" cy="32007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92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09A"/>
                </a:solidFill>
                <a:latin typeface="Calibri"/>
              </a:rPr>
              <a:t>ERD (databasetabellen)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92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09A"/>
                </a:solidFill>
                <a:latin typeface="Calibri"/>
              </a:rPr>
              <a:t>ORM-klassendiagram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Rollen &amp; Toegangscontrole (RBAC)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6 rollen · PageSpec(allowed_roles=[…]) per module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71323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8A020"/>
                          </a:solidFill>
                          <a:latin typeface="Calibri"/>
                        </a:rPr>
                        <a:t>Rol</a:t>
                      </a:r>
                    </a:p>
                  </a:txBody>
                  <a:tcPr marL="63500" marR="63500" marT="38100" marB="38100">
                    <a:solidFill>
                      <a:srgbClr val="3A5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8A020"/>
                          </a:solidFill>
                          <a:latin typeface="Calibri"/>
                        </a:rPr>
                        <a:t>Omschrijving</a:t>
                      </a:r>
                    </a:p>
                  </a:txBody>
                  <a:tcPr marL="63500" marR="63500" marT="38100" marB="38100">
                    <a:solidFill>
                      <a:srgbClr val="3A5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8A020"/>
                          </a:solidFill>
                          <a:latin typeface="Calibri"/>
                        </a:rPr>
                        <a:t>Toegang</a:t>
                      </a:r>
                    </a:p>
                  </a:txBody>
                  <a:tcPr marL="63500" marR="63500" marT="38100" marB="38100">
                    <a:solidFill>
                      <a:srgbClr val="3A5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Systeembeheerder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Volledige toegang + gebruikersbeheer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PTI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Fitheidsinstructeur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Testresultaten invoeren &amp; bekijken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APTI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Adjunct PTI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Beperkt invoer, volledige lezing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PLANNER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Planningsofficial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Sessies &amp; fitnessruimte plannen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GUEST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Gast / bezoeker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Alleen eigen profiel (read-only)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Militair (serviceman)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Eigen fiche + privacypagina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1234440"/>
            <a:ext cx="4114800" cy="534924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0" y="13258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A020"/>
                </a:solidFill>
                <a:latin typeface="Calibri"/>
              </a:rPr>
              <a:t>Implementatie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18288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PageSpec(allowed_roles=[…]) per pagina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Sessiecontrole bij elke navigatie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10-min inactiviteitstime-out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Argon2id wachtwoordhashing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Rate-limiting op login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Audit trail — alle CRUD-acties gelogd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UserStore scoped per Shiny-sessie (PR #217)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C8A020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IDOR-fix: _assert_can_modify_tests()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Dataflow — PHEF-invoer &amp; Broker (MOM)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Transactionele outbox · exp. backoff 5 s→10 min · dead-letter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020"/>
                </a:solidFill>
                <a:latin typeface="Calibri"/>
              </a:rPr>
              <a:t>Synchroon pad  (PTI wacht)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303520" cy="301752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Browser: PTI klikt 'Add'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→  PhefPage (Shiny reactive)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→  PhefController.add_phef()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→  ServiceTest.add_phef_test()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→  FitnessTestRepository.add()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→  PostgreSQL — INSERT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←  OK · grid refresh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B463"/>
                </a:solidFill>
                <a:latin typeface="Calibri"/>
              </a:rPr>
              <a:t>Asynchroon pad  (broker — PTI wacht NIET)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166360"/>
            <a:ext cx="5303520" cy="150876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5230368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Service → Broker.send_message(test)</a:t>
            </a: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→  asyncio.Queue (in-memory)</a:t>
            </a: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→  _process_cycle()  elke 5 s</a:t>
            </a: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→  hr_messages (duurzame opslag)</a:t>
            </a: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→  POST naar HR-systeem (BEMIL)</a:t>
            </a:r>
          </a:p>
        </p:txBody>
      </p:sp>
      <p:pic>
        <p:nvPicPr>
          <p:cNvPr id="11" name="Picture 10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014" y="1234440"/>
            <a:ext cx="551661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Volledige Testflow — UI → Service → DB → Broker → 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End-to-end PHEF-flow incl. foutpaden, retry en dead-letter</a:t>
            </a:r>
          </a:p>
        </p:txBody>
      </p:sp>
      <p:pic>
        <p:nvPicPr>
          <p:cNvPr id="5" name="Picture 4" descr="test_flow_ui_db_bro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960" y="1188720"/>
            <a:ext cx="7783032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09A"/>
                </a:solidFill>
                <a:latin typeface="Calibri"/>
              </a:rPr>
              <a:t>Bron: documentation/diagrams/test_flow_ui_db_broker.png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Agile Methodologie — Scrum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Sep 2025 – mei 2026 · 1 developer · 2-weekse sprints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2031492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1261872"/>
            <a:ext cx="20314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783080"/>
            <a:ext cx="20314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epics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1492" y="1188720"/>
            <a:ext cx="2031492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31492" y="1261872"/>
            <a:ext cx="20314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1492" y="1783080"/>
            <a:ext cx="20314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stories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2984" y="1188720"/>
            <a:ext cx="2031492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62984" y="1261872"/>
            <a:ext cx="20314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231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2984" y="1783080"/>
            <a:ext cx="20314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SP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4476" y="1188720"/>
            <a:ext cx="2031492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4476" y="1261872"/>
            <a:ext cx="20314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12,2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1783080"/>
            <a:ext cx="20314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gem. velocity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5968" y="1188720"/>
            <a:ext cx="2031492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25968" y="1261872"/>
            <a:ext cx="20314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1.012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1783080"/>
            <a:ext cx="20314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commits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57460" y="1188720"/>
            <a:ext cx="2031492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57460" y="1261872"/>
            <a:ext cx="20314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720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7460" y="1783080"/>
            <a:ext cx="20314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geschatte inspanning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65760" y="2560320"/>
          <a:ext cx="80467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8A020"/>
                          </a:solidFill>
                          <a:latin typeface="Calibri"/>
                        </a:rPr>
                        <a:t>Sprint</a:t>
                      </a:r>
                    </a:p>
                  </a:txBody>
                  <a:tcPr marL="63500" marR="63500" marT="38100" marB="38100">
                    <a:solidFill>
                      <a:srgbClr val="3A5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8A020"/>
                          </a:solidFill>
                          <a:latin typeface="Calibri"/>
                        </a:rPr>
                        <a:t>Periode</a:t>
                      </a:r>
                    </a:p>
                  </a:txBody>
                  <a:tcPr marL="63500" marR="63500" marT="38100" marB="38100">
                    <a:solidFill>
                      <a:srgbClr val="3A5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8A020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 marL="63500" marR="63500" marT="38100" marB="38100">
                    <a:solidFill>
                      <a:srgbClr val="3A5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8A020"/>
                          </a:solidFill>
                          <a:latin typeface="Calibri"/>
                        </a:rPr>
                        <a:t>Cumul.</a:t>
                      </a:r>
                    </a:p>
                  </a:txBody>
                  <a:tcPr marL="63500" marR="63500" marT="38100" marB="38100">
                    <a:solidFill>
                      <a:srgbClr val="3A5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8A020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63500" marR="63500" marT="38100" marB="38100">
                    <a:solidFill>
                      <a:srgbClr val="3A5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sep 01–14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Opzet, auth, login (E1, E19)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sep 15–28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Gebruikersbeheer, BEMIL (E1, E9)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okt 27–nov 09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4 epics — hoogste commit-dichtheid (160)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S7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nov 24–dec 07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Cross sessies &amp; statistieken (E8)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S12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feb 02–15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162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DI-container refactor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S17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apr 13–26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221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GDPR + cross-stats redesign (E20)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S19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mei 11–24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Beveiliging, DPIA, finale (E19)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8686800" y="2560320"/>
            <a:ext cx="3291840" cy="393192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23960" y="26517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020"/>
                </a:solidFill>
                <a:latin typeface="Calibri"/>
              </a:rPr>
              <a:t>Top 5 epics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3063240"/>
            <a:ext cx="3108960" cy="502920"/>
          </a:xfrm>
          <a:prstGeom prst="rect">
            <a:avLst/>
          </a:prstGeom>
          <a:solidFill>
            <a:srgbClr val="243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0" y="3108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E8  Cross &amp; Statistieken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3108960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8A020"/>
                </a:solidFill>
                <a:latin typeface="Calibri"/>
              </a:rPr>
              <a:t>28 SP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3630168"/>
            <a:ext cx="3108960" cy="502920"/>
          </a:xfrm>
          <a:prstGeom prst="rect">
            <a:avLst/>
          </a:prstGeom>
          <a:solidFill>
            <a:srgbClr val="243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0" y="36758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E20 GDPR / Privacy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367588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8A020"/>
                </a:solidFill>
                <a:latin typeface="Calibri"/>
              </a:rPr>
              <a:t>25 SP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4197096"/>
            <a:ext cx="3108960" cy="502920"/>
          </a:xfrm>
          <a:prstGeom prst="rect">
            <a:avLst/>
          </a:prstGeom>
          <a:solidFill>
            <a:srgbClr val="243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9680" y="424281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E1  Gebruikersbeheer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4242816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8A020"/>
                </a:solidFill>
                <a:latin typeface="Calibri"/>
              </a:rPr>
              <a:t>18 SP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4764024"/>
            <a:ext cx="3108960" cy="502920"/>
          </a:xfrm>
          <a:prstGeom prst="rect">
            <a:avLst/>
          </a:prstGeom>
          <a:solidFill>
            <a:srgbClr val="243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69680" y="480974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E3  PHEF-invoer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4809744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8A020"/>
                </a:solidFill>
                <a:latin typeface="Calibri"/>
              </a:rPr>
              <a:t>18 SP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5330952"/>
            <a:ext cx="3108960" cy="502920"/>
          </a:xfrm>
          <a:prstGeom prst="rect">
            <a:avLst/>
          </a:prstGeom>
          <a:solidFill>
            <a:srgbClr val="243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69680" y="53766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E2  Sessieplanning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537667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8A020"/>
                </a:solidFill>
                <a:latin typeface="Calibri"/>
              </a:rPr>
              <a:t>15 SP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Kwaliteit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pytest-asyncio · mypy strict · ruff · pre-commit · GitHub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486400" cy="534924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A020"/>
                </a:solidFill>
                <a:latin typeface="Calibri"/>
              </a:rPr>
              <a:t>Testpatronen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pytest + pytest-asyncio (async tests)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AsyncMock / MagicMock via unittest.mock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Constructor-injectie: mocking zonder patching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container.override(mock) + reset_override()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Singleton._instances wissen in fixtures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Voorbeeld: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PhefController(service=mock, mil=mock)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486400" cy="534924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A020"/>
                </a:solidFill>
                <a:latin typeface="Calibri"/>
              </a:rPr>
              <a:t>Tooling &amp; CI/CD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dirty="0" err="1">
                <a:solidFill>
                  <a:srgbClr val="FFFFFF"/>
                </a:solidFill>
                <a:latin typeface="Calibri"/>
              </a:rPr>
              <a:t>mypy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— strict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typechecking</a:t>
            </a:r>
            <a:endParaRPr sz="150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dirty="0">
                <a:solidFill>
                  <a:srgbClr val="FFFFFF"/>
                </a:solidFill>
                <a:latin typeface="Calibri"/>
              </a:rPr>
              <a:t>ruff — linting (E/F/W/I,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regellengte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100)</a:t>
            </a:r>
          </a:p>
          <a:p>
            <a:pPr algn="l">
              <a:spcAft>
                <a:spcPts val="900"/>
              </a:spcAft>
            </a:pPr>
            <a:r>
              <a:rPr sz="1500" dirty="0">
                <a:solidFill>
                  <a:srgbClr val="FFFFFF"/>
                </a:solidFill>
                <a:latin typeface="Calibri"/>
              </a:rPr>
              <a:t>black —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codeformattering</a:t>
            </a:r>
            <a:endParaRPr sz="150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dirty="0">
                <a:solidFill>
                  <a:srgbClr val="FFFFFF"/>
                </a:solidFill>
                <a:latin typeface="Calibri"/>
              </a:rPr>
              <a:t>pre-commit — auto-update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version.yaml</a:t>
            </a:r>
            <a:endParaRPr sz="150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500" dirty="0">
                <a:solidFill>
                  <a:srgbClr val="FFFFFF"/>
                </a:solidFill>
                <a:latin typeface="Calibri"/>
              </a:rPr>
              <a:t>GitHub Actions — CI: lint +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mypy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+ tests</a:t>
            </a:r>
          </a:p>
          <a:p>
            <a:pPr algn="l">
              <a:spcAft>
                <a:spcPts val="900"/>
              </a:spcAft>
            </a:pPr>
            <a:r>
              <a:rPr sz="1500" dirty="0">
                <a:solidFill>
                  <a:srgbClr val="FFFFFF"/>
                </a:solidFill>
                <a:latin typeface="Calibri"/>
              </a:rPr>
              <a:t>Docker —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productie</a:t>
            </a:r>
            <a:r>
              <a:rPr sz="1500" dirty="0">
                <a:solidFill>
                  <a:srgbClr val="FFFFFF"/>
                </a:solidFill>
                <a:latin typeface="Calibri"/>
              </a:rPr>
              <a:t>-image (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geen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secrets)</a:t>
            </a:r>
          </a:p>
          <a:p>
            <a:pPr algn="l">
              <a:spcAft>
                <a:spcPts val="900"/>
              </a:spcAft>
            </a:pPr>
            <a:r>
              <a:rPr sz="1500" dirty="0">
                <a:solidFill>
                  <a:srgbClr val="FFFFFF"/>
                </a:solidFill>
                <a:latin typeface="Calibri"/>
              </a:rPr>
              <a:t>Alembic — 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versiebeheerde</a:t>
            </a:r>
            <a:r>
              <a:rPr sz="1500" dirty="0">
                <a:solidFill>
                  <a:srgbClr val="FFFFFF"/>
                </a:solidFill>
                <a:latin typeface="Calibri"/>
              </a:rPr>
              <a:t> DB-</a:t>
            </a:r>
            <a:r>
              <a:rPr sz="1500" dirty="0" err="1">
                <a:solidFill>
                  <a:srgbClr val="FFFFFF"/>
                </a:solidFill>
                <a:latin typeface="Calibri"/>
              </a:rPr>
              <a:t>migraties</a:t>
            </a:r>
            <a:endParaRPr sz="15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D1E"/>
                </a:solidFill>
                <a:latin typeface="Calibri"/>
              </a:rPr>
              <a:t>Beveiliging — OWASP Top 10 evaluatie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D1E"/>
                </a:solidFill>
                <a:latin typeface="Calibri"/>
              </a:rPr>
              <a:t>Defense-in-depth · intranet-deployment · Argon2id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52144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865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8A020"/>
                          </a:solidFill>
                          <a:latin typeface="Calibri"/>
                        </a:rPr>
                        <a:t>OWASP risico</a:t>
                      </a:r>
                    </a:p>
                  </a:txBody>
                  <a:tcPr marL="63500" marR="63500" marT="38100" marB="38100">
                    <a:solidFill>
                      <a:srgbClr val="3A5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8A020"/>
                          </a:solidFill>
                          <a:latin typeface="Calibri"/>
                        </a:rPr>
                        <a:t>Maatregel in WarriorFit</a:t>
                      </a:r>
                    </a:p>
                  </a:txBody>
                  <a:tcPr marL="63500" marR="63500" marT="38100" marB="38100">
                    <a:solidFill>
                      <a:srgbClr val="3A5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8A020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3500" marR="63500" marT="38100" marB="38100">
                    <a:solidFill>
                      <a:srgbClr val="3A5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A01 — Broken Access Control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RBAC per PageSpec · IDOR-fix · sessie-scoped UserStore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D1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3500" marR="63500" marT="38100" marB="38100">
                    <a:solidFill>
                      <a:srgbClr val="28B4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A02 — Cryptographic Failures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Argon2id · PostgreSQL TLS verify-full (productie)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D1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3500" marR="63500" marT="38100" marB="38100">
                    <a:solidFill>
                      <a:srgbClr val="28B4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A03 — Injection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SQLAlchemy geparametriseerde queries — geen raw SQL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D1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3500" marR="63500" marT="38100" marB="38100">
                    <a:solidFill>
                      <a:srgbClr val="28B4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A05 — Misconfiguration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CORS-vergrendeling · X-API-Key op MOM · strict CSP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D1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3500" marR="63500" marT="38100" marB="38100">
                    <a:solidFill>
                      <a:srgbClr val="28B4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A07 — Auth Failures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Rate-limiting login · 10-min timeout · audit trail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D1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3500" marR="63500" marT="38100" marB="38100">
                    <a:solidFill>
                      <a:srgbClr val="28B4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A09 — Logging &amp; Monitoring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Volledige CRUD-audit log · broker-health card</a:t>
                      </a:r>
                    </a:p>
                  </a:txBody>
                  <a:tcPr marL="63500" marR="63500" marT="38100" marB="38100">
                    <a:solidFill>
                      <a:srgbClr val="2A40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D1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3500" marR="63500" marT="38100" marB="38100">
                    <a:solidFill>
                      <a:srgbClr val="28B4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A10 — SSRF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HR-URL allowlist (config) — HTTPS validatie open punt</a:t>
                      </a:r>
                    </a:p>
                  </a:txBody>
                  <a:tcPr marL="63500" marR="63500" marT="38100" marB="38100">
                    <a:solidFill>
                      <a:srgbClr val="243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D1E"/>
                          </a:solidFill>
                          <a:latin typeface="Calibri"/>
                        </a:rPr>
                        <a:t>⚠</a:t>
                      </a:r>
                    </a:p>
                  </a:txBody>
                  <a:tcPr marL="63500" marR="63500" marT="38100" marB="38100"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136" y="429768"/>
            <a:ext cx="11274552" cy="47548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0" y="11887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C8A020"/>
                </a:solidFill>
                <a:latin typeface="Calibri"/>
              </a:rPr>
              <a:t>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8A020"/>
                </a:solidFill>
                <a:latin typeface="Calibri"/>
              </a:rPr>
              <a:t>Bedankt!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Vragen?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0C09A"/>
                </a:solidFill>
                <a:latin typeface="Calibri"/>
              </a:rPr>
              <a:t>Benoit Goethals  ·  benoit.goethals@gmail.com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C09A"/>
                </a:solidFill>
                <a:latin typeface="Calibri"/>
              </a:rPr>
              <a:t>github.com/BenoitGoethals/WarriorFit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303520"/>
            <a:ext cx="2031492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5376672"/>
            <a:ext cx="20314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897880"/>
            <a:ext cx="20314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epics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31492" y="5303520"/>
            <a:ext cx="2031492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31492" y="5376672"/>
            <a:ext cx="20314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1492" y="5897880"/>
            <a:ext cx="20314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stories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2984" y="5303520"/>
            <a:ext cx="2031492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62984" y="5376672"/>
            <a:ext cx="20314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231 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2984" y="5897880"/>
            <a:ext cx="20314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geleverd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6" y="5303520"/>
            <a:ext cx="2031492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94476" y="5376672"/>
            <a:ext cx="20314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1.012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476" y="5897880"/>
            <a:ext cx="20314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commits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5968" y="5303520"/>
            <a:ext cx="2031492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25968" y="5376672"/>
            <a:ext cx="20314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25.800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5968" y="5897880"/>
            <a:ext cx="20314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lijnen Python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57460" y="5303520"/>
            <a:ext cx="2031492" cy="1097280"/>
          </a:xfrm>
          <a:prstGeom prst="rect">
            <a:avLst/>
          </a:prstGeom>
          <a:solidFill>
            <a:srgbClr val="2A4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57460" y="5376672"/>
            <a:ext cx="20314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020"/>
                </a:solidFill>
                <a:latin typeface="Calibri"/>
              </a:rPr>
              <a:t>8,5 mnd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57460" y="5897880"/>
            <a:ext cx="20314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09A"/>
                </a:solidFill>
                <a:latin typeface="Calibri"/>
              </a:rPr>
              <a:t>solo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1381</Words>
  <Application>Microsoft Macintosh PowerPoint</Application>
  <PresentationFormat>Custom</PresentationFormat>
  <Paragraphs>323</Paragraphs>
  <Slides>17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Benoit Goethals</cp:lastModifiedBy>
  <cp:revision>7</cp:revision>
  <dcterms:created xsi:type="dcterms:W3CDTF">2013-01-27T09:14:16Z</dcterms:created>
  <dcterms:modified xsi:type="dcterms:W3CDTF">2026-06-16T13:09:39Z</dcterms:modified>
  <cp:category/>
</cp:coreProperties>
</file>