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3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292"/>
    <p:restoredTop sz="94668"/>
  </p:normalViewPr>
  <p:slideViewPr>
    <p:cSldViewPr snapToGrid="0" snapToObjects="1">
      <p:cViewPr varScale="1">
        <p:scale>
          <a:sx n="240" d="100"/>
          <a:sy n="240" d="100"/>
        </p:scale>
        <p:origin x="1848" y="20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D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43484" y="782556"/>
            <a:ext cx="11274552" cy="438912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303520" y="1463040"/>
            <a:ext cx="1554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0" i="0">
                <a:solidFill>
                  <a:srgbClr val="C8A020"/>
                </a:solidFill>
                <a:latin typeface="Calibri"/>
              </a:rPr>
              <a:t>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103601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 i="0">
                <a:solidFill>
                  <a:srgbClr val="C8A020"/>
                </a:solidFill>
                <a:latin typeface="Calibri"/>
              </a:rPr>
              <a:t>WarriorFit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601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FFFFFF"/>
                </a:solidFill>
                <a:latin typeface="Calibri"/>
              </a:rPr>
              <a:t>Digitalisering van militaire fysieke fitheidstesten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69080"/>
            <a:ext cx="1036015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 dirty="0">
                <a:solidFill>
                  <a:srgbClr val="B0C09A"/>
                </a:solidFill>
                <a:latin typeface="Calibri"/>
              </a:rPr>
              <a:t>Benoit Goethals  |  </a:t>
            </a:r>
            <a:r>
              <a:rPr lang="en-US" sz="1600" b="0" i="0" dirty="0">
                <a:solidFill>
                  <a:srgbClr val="B0C09A"/>
                </a:solidFill>
                <a:latin typeface="Calibri"/>
              </a:rPr>
              <a:t>2025 /</a:t>
            </a:r>
            <a:r>
              <a:rPr sz="1600" b="0" i="0" dirty="0">
                <a:solidFill>
                  <a:srgbClr val="B0C09A"/>
                </a:solidFill>
                <a:latin typeface="Calibri"/>
              </a:rPr>
              <a:t>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303520"/>
            <a:ext cx="2437790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0" y="5376672"/>
            <a:ext cx="243779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1.012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5897880"/>
            <a:ext cx="243779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commits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37790" y="5303520"/>
            <a:ext cx="2437790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437790" y="5376672"/>
            <a:ext cx="243779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25.800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37790" y="5897880"/>
            <a:ext cx="243779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lijnen Python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5580" y="5303520"/>
            <a:ext cx="2437790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875580" y="5376672"/>
            <a:ext cx="243779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231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75580" y="5897880"/>
            <a:ext cx="243779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story points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3371" y="5303520"/>
            <a:ext cx="2437790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313371" y="5376672"/>
            <a:ext cx="243779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19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3371" y="5897880"/>
            <a:ext cx="243779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sprints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751161" y="5303520"/>
            <a:ext cx="2437790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751161" y="5376672"/>
            <a:ext cx="243779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80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51161" y="5897880"/>
            <a:ext cx="243779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user stories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63511420-E79C-2499-9FC9-58688C14229C}"/>
              </a:ext>
            </a:extLst>
          </p:cNvPr>
          <p:cNvSpPr/>
          <p:nvPr/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dirty="0"/>
          </a:p>
        </p:txBody>
      </p:sp>
      <p:sp>
        <p:nvSpPr>
          <p:cNvPr id="13" name="AutoShape 2" descr="WarriorFit: Digitale oplossing voor paraatheid">
            <a:extLst>
              <a:ext uri="{FF2B5EF4-FFF2-40B4-BE49-F238E27FC236}">
                <a16:creationId xmlns:a16="http://schemas.microsoft.com/office/drawing/2014/main" id="{BA6015A8-389E-655C-810A-80F44D26734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2013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BE"/>
          </a:p>
        </p:txBody>
      </p:sp>
      <p:pic>
        <p:nvPicPr>
          <p:cNvPr id="15" name="Picture 14" descr="A poster with text and images&#10;&#10;AI-generated content may be incorrect.">
            <a:extLst>
              <a:ext uri="{FF2B5EF4-FFF2-40B4-BE49-F238E27FC236}">
                <a16:creationId xmlns:a16="http://schemas.microsoft.com/office/drawing/2014/main" id="{1EB5C3F7-5904-977A-7872-AA74BC6C80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119" y="101070"/>
            <a:ext cx="9983788" cy="66558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58249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D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E2D1E"/>
                </a:solidFill>
                <a:latin typeface="Calibri"/>
              </a:rPr>
              <a:t>Probleemstelling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1323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D1E"/>
                </a:solidFill>
                <a:latin typeface="Calibri"/>
              </a:rPr>
              <a:t>Manuele, papieren registratie van militaire fitheidstesten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669280" cy="539496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261872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8A020"/>
                </a:solidFill>
                <a:latin typeface="Calibri"/>
              </a:rPr>
              <a:t>Huidige situatie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5394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>
                <a:solidFill>
                  <a:srgbClr val="C8A020"/>
                </a:solidFill>
                <a:latin typeface="Calibri"/>
              </a:rPr>
              <a:t>▶  </a:t>
            </a:r>
            <a:r>
              <a:rPr sz="1700">
                <a:solidFill>
                  <a:srgbClr val="FFFFFF"/>
                </a:solidFill>
                <a:latin typeface="Calibri"/>
              </a:rPr>
              <a:t>Papieren fiches — geen centraal overzicht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C8A020"/>
                </a:solidFill>
                <a:latin typeface="Calibri"/>
              </a:rPr>
              <a:t>▶  </a:t>
            </a:r>
            <a:r>
              <a:rPr sz="1700">
                <a:solidFill>
                  <a:srgbClr val="FFFFFF"/>
                </a:solidFill>
                <a:latin typeface="Calibri"/>
              </a:rPr>
              <a:t>5 testtypes met elk eigen scoringsregels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C8A020"/>
                </a:solidFill>
                <a:latin typeface="Calibri"/>
              </a:rPr>
              <a:t>▶  </a:t>
            </a:r>
            <a:r>
              <a:rPr sz="1700">
                <a:solidFill>
                  <a:srgbClr val="FFFFFF"/>
                </a:solidFill>
                <a:latin typeface="Calibri"/>
              </a:rPr>
              <a:t>Manuele HR-synchronisatie (foutgevoelig)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C8A020"/>
                </a:solidFill>
                <a:latin typeface="Calibri"/>
              </a:rPr>
              <a:t>▶  </a:t>
            </a:r>
            <a:r>
              <a:rPr sz="1700">
                <a:solidFill>
                  <a:srgbClr val="FFFFFF"/>
                </a:solidFill>
                <a:latin typeface="Calibri"/>
              </a:rPr>
              <a:t>Geen historisch inzicht per militair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C8A020"/>
                </a:solidFill>
                <a:latin typeface="Calibri"/>
              </a:rPr>
              <a:t>▶  </a:t>
            </a:r>
            <a:r>
              <a:rPr sz="1700">
                <a:solidFill>
                  <a:srgbClr val="FFFFFF"/>
                </a:solidFill>
                <a:latin typeface="Calibri"/>
              </a:rPr>
              <a:t>Geen AVG-compliance (gezondheidsdata Art. 9)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C8A020"/>
                </a:solidFill>
                <a:latin typeface="Calibri"/>
              </a:rPr>
              <a:t>▶  </a:t>
            </a:r>
            <a:r>
              <a:rPr sz="1700">
                <a:solidFill>
                  <a:srgbClr val="FFFFFF"/>
                </a:solidFill>
                <a:latin typeface="Calibri"/>
              </a:rPr>
              <a:t>Geen RBAC — iedereen ziet alles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C8A020"/>
                </a:solidFill>
                <a:latin typeface="Calibri"/>
              </a:rPr>
              <a:t>▶  </a:t>
            </a:r>
            <a:r>
              <a:rPr sz="1700">
                <a:solidFill>
                  <a:srgbClr val="FFFFFF"/>
                </a:solidFill>
                <a:latin typeface="Calibri"/>
              </a:rPr>
              <a:t>Geen audit trail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188720"/>
            <a:ext cx="5669280" cy="539496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583680" y="1261872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8A020"/>
                </a:solidFill>
                <a:latin typeface="Calibri"/>
              </a:rPr>
              <a:t>Impact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737360"/>
            <a:ext cx="5394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C8A020"/>
                </a:solidFill>
                <a:latin typeface="Calibri"/>
              </a:rPr>
              <a:t>▶  </a:t>
            </a:r>
            <a:r>
              <a:rPr sz="1700">
                <a:solidFill>
                  <a:srgbClr val="C0392B"/>
                </a:solidFill>
                <a:latin typeface="Calibri"/>
              </a:rPr>
              <a:t>Vertraging in HR-rapportage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C8A020"/>
                </a:solidFill>
                <a:latin typeface="Calibri"/>
              </a:rPr>
              <a:t>▶  </a:t>
            </a:r>
            <a:r>
              <a:rPr sz="1700">
                <a:solidFill>
                  <a:srgbClr val="C0392B"/>
                </a:solidFill>
                <a:latin typeface="Calibri"/>
              </a:rPr>
              <a:t>Dataverlies door papieren archief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C8A020"/>
                </a:solidFill>
                <a:latin typeface="Calibri"/>
              </a:rPr>
              <a:t>▶  </a:t>
            </a:r>
            <a:r>
              <a:rPr sz="1700">
                <a:solidFill>
                  <a:srgbClr val="C0392B"/>
                </a:solidFill>
                <a:latin typeface="Calibri"/>
              </a:rPr>
              <a:t>Geen audit trail — compliancerisico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C8A020"/>
                </a:solidFill>
                <a:latin typeface="Calibri"/>
              </a:rPr>
              <a:t>▶  </a:t>
            </a:r>
            <a:r>
              <a:rPr sz="1700">
                <a:solidFill>
                  <a:srgbClr val="C0392B"/>
                </a:solidFill>
                <a:latin typeface="Calibri"/>
              </a:rPr>
              <a:t>PTI's verliezen uren aan manueel werk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C8A020"/>
                </a:solidFill>
                <a:latin typeface="Calibri"/>
              </a:rPr>
              <a:t>▶  </a:t>
            </a:r>
            <a:r>
              <a:rPr sz="1700">
                <a:solidFill>
                  <a:srgbClr val="C0392B"/>
                </a:solidFill>
                <a:latin typeface="Calibri"/>
              </a:rPr>
              <a:t>Commandanten missen realtimezicht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5394960"/>
            <a:ext cx="5394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8B463"/>
                </a:solidFill>
                <a:latin typeface="Calibri"/>
              </a:rPr>
              <a:t>→  WarriorFit digitaliseert het volledige proces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D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E2D1E"/>
                </a:solidFill>
                <a:latin typeface="Calibri"/>
              </a:rPr>
              <a:t>Oplossing — WarriorFit Ecosysteem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1323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D1E"/>
                </a:solidFill>
                <a:latin typeface="Calibri"/>
              </a:rPr>
              <a:t>Intranetwebplatform · geen publieke blootstelling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2437790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0" y="1261872"/>
            <a:ext cx="243779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783080"/>
            <a:ext cx="243779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pagina's</a:t>
            </a:r>
          </a:p>
        </p:txBody>
      </p:sp>
      <p:sp>
        <p:nvSpPr>
          <p:cNvPr id="8" name="Rectangle 7"/>
          <p:cNvSpPr/>
          <p:nvPr/>
        </p:nvSpPr>
        <p:spPr>
          <a:xfrm>
            <a:off x="2437790" y="1188720"/>
            <a:ext cx="2437790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437790" y="1261872"/>
            <a:ext cx="243779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37790" y="1783080"/>
            <a:ext cx="243779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rollen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75580" y="1188720"/>
            <a:ext cx="2437790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875580" y="1261872"/>
            <a:ext cx="243779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75580" y="1783080"/>
            <a:ext cx="243779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testtypes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3371" y="1188720"/>
            <a:ext cx="2437790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3371" y="1261872"/>
            <a:ext cx="243779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40+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3371" y="1783080"/>
            <a:ext cx="243779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DI-singletons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51161" y="1188720"/>
            <a:ext cx="2437790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751161" y="1261872"/>
            <a:ext cx="243779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100 %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51161" y="1783080"/>
            <a:ext cx="243779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async I/O</a:t>
            </a:r>
          </a:p>
        </p:txBody>
      </p:sp>
      <p:pic>
        <p:nvPicPr>
          <p:cNvPr id="20" name="Picture 19" descr="img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12" y="2423160"/>
            <a:ext cx="7096536" cy="2747046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7313370" y="2423160"/>
            <a:ext cx="4573830" cy="749808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527242" y="2654100"/>
            <a:ext cx="170756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C8A020"/>
                </a:solidFill>
                <a:latin typeface="Calibri"/>
              </a:rPr>
              <a:t>Shiny for Python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81990" y="2532888"/>
            <a:ext cx="2622329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 err="1">
                <a:solidFill>
                  <a:srgbClr val="B0C09A"/>
                </a:solidFill>
                <a:latin typeface="Calibri"/>
              </a:rPr>
              <a:t>Reactieve</a:t>
            </a:r>
            <a:r>
              <a:rPr sz="1300" b="0" i="0" dirty="0">
                <a:solidFill>
                  <a:srgbClr val="B0C09A"/>
                </a:solidFill>
                <a:latin typeface="Calibri"/>
              </a:rPr>
              <a:t> web-UI · 24 </a:t>
            </a:r>
            <a:r>
              <a:rPr sz="1300" b="0" i="0" dirty="0" err="1">
                <a:solidFill>
                  <a:srgbClr val="B0C09A"/>
                </a:solidFill>
                <a:latin typeface="Calibri"/>
              </a:rPr>
              <a:t>pagina's</a:t>
            </a:r>
            <a:r>
              <a:rPr sz="1300" b="0" i="0" dirty="0">
                <a:solidFill>
                  <a:srgbClr val="B0C09A"/>
                </a:solidFill>
                <a:latin typeface="Calibri"/>
              </a:rPr>
              <a:t> · RBAC-</a:t>
            </a:r>
            <a:r>
              <a:rPr sz="1300" b="0" i="0" dirty="0" err="1">
                <a:solidFill>
                  <a:srgbClr val="B0C09A"/>
                </a:solidFill>
                <a:latin typeface="Calibri"/>
              </a:rPr>
              <a:t>beschermd</a:t>
            </a:r>
            <a:endParaRPr sz="1300" b="0" i="0" dirty="0">
              <a:solidFill>
                <a:srgbClr val="B0C09A"/>
              </a:solidFill>
              <a:latin typeface="Calibri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7313370" y="3227832"/>
            <a:ext cx="4573830" cy="749808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527242" y="3335548"/>
            <a:ext cx="170756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C8A020"/>
                </a:solidFill>
                <a:latin typeface="Calibri"/>
              </a:rPr>
              <a:t>PostgreSQL + </a:t>
            </a:r>
            <a:r>
              <a:rPr sz="1400" b="1" i="0" dirty="0" err="1">
                <a:solidFill>
                  <a:srgbClr val="C8A020"/>
                </a:solidFill>
                <a:latin typeface="Calibri"/>
              </a:rPr>
              <a:t>asyncpg</a:t>
            </a:r>
            <a:endParaRPr sz="1400" b="1" i="0" dirty="0">
              <a:solidFill>
                <a:srgbClr val="C8A020"/>
              </a:solidFill>
              <a:latin typeface="Calibri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9081990" y="3337560"/>
            <a:ext cx="2622329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09A"/>
                </a:solidFill>
                <a:latin typeface="Calibri"/>
              </a:rPr>
              <a:t>Async ORM (SQLAlchemy 2.0) · Alembic-migraties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3370" y="4032504"/>
            <a:ext cx="4573830" cy="749808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527242" y="4232219"/>
            <a:ext cx="170756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C8A020"/>
                </a:solidFill>
                <a:latin typeface="Calibri"/>
              </a:rPr>
              <a:t>Broker (MOM)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81990" y="4142232"/>
            <a:ext cx="2622329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09A"/>
                </a:solidFill>
                <a:latin typeface="Calibri"/>
              </a:rPr>
              <a:t>Transactionele outbox · exp. backoff · dead-letter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13370" y="4837176"/>
            <a:ext cx="4573830" cy="749808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527241" y="4980467"/>
            <a:ext cx="170756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 err="1">
                <a:solidFill>
                  <a:srgbClr val="C8A020"/>
                </a:solidFill>
                <a:latin typeface="Calibri"/>
              </a:rPr>
              <a:t>FastAPI</a:t>
            </a:r>
            <a:endParaRPr sz="1400" b="1" i="0" dirty="0">
              <a:solidFill>
                <a:srgbClr val="C8A020"/>
              </a:solidFill>
              <a:latin typeface="Calibri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9081990" y="4946904"/>
            <a:ext cx="2622329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09A"/>
                </a:solidFill>
                <a:latin typeface="Calibri"/>
              </a:rPr>
              <a:t>MOM REST-endpoint · X-API-Key · CORS-vergrendeling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13370" y="5641848"/>
            <a:ext cx="4573830" cy="749808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527240" y="5755142"/>
            <a:ext cx="170756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C8A020"/>
                </a:solidFill>
                <a:latin typeface="Calibri"/>
              </a:rPr>
              <a:t>HR Simulator + </a:t>
            </a:r>
            <a:r>
              <a:rPr sz="1400" b="1" i="0" dirty="0" err="1">
                <a:solidFill>
                  <a:srgbClr val="C8A020"/>
                </a:solidFill>
                <a:latin typeface="Calibri"/>
              </a:rPr>
              <a:t>Mailpit</a:t>
            </a:r>
            <a:endParaRPr sz="1400" b="1" i="0" dirty="0">
              <a:solidFill>
                <a:srgbClr val="C8A020"/>
              </a:solidFill>
              <a:latin typeface="Calibri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9081990" y="5751576"/>
            <a:ext cx="2622329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09A"/>
                </a:solidFill>
                <a:latin typeface="Calibri"/>
              </a:rPr>
              <a:t>Dev/test omgeving · HR-mock · e-mailpreview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D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E2D1E"/>
                </a:solidFill>
                <a:latin typeface="Calibri"/>
              </a:rPr>
              <a:t>Architectuur — WarriorFit Lagen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1323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D1E"/>
                </a:solidFill>
                <a:latin typeface="Calibri"/>
              </a:rPr>
              <a:t>UI-laag → Controller-laag → Service-laag → Repository-laag → PostgreSQL</a:t>
            </a:r>
          </a:p>
        </p:txBody>
      </p:sp>
      <p:pic>
        <p:nvPicPr>
          <p:cNvPr id="5" name="Picture 4" descr="overview-WARRIORFIT_Architectuu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1522" y="1234440"/>
            <a:ext cx="7725907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D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E2D1E"/>
                </a:solidFill>
                <a:latin typeface="Calibri"/>
              </a:rPr>
              <a:t>Architectuur — Gedetailleerde lagenstructuur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1323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D1E"/>
                </a:solidFill>
                <a:latin typeface="Calibri"/>
              </a:rPr>
              <a:t>Presentation · Service · Integration · Data Access · Core · Infrastructure</a:t>
            </a:r>
          </a:p>
        </p:txBody>
      </p:sp>
      <p:pic>
        <p:nvPicPr>
          <p:cNvPr id="5" name="Picture 4" descr="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34440"/>
            <a:ext cx="6858000" cy="364477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498079" y="1234440"/>
            <a:ext cx="4434840" cy="539496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680959" y="13258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A020"/>
                </a:solidFill>
                <a:latin typeface="Calibri"/>
              </a:rPr>
              <a:t>DI Container — 40+ singletons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59" y="1874519"/>
            <a:ext cx="41148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00">
                <a:solidFill>
                  <a:srgbClr val="B0C09A"/>
                </a:solidFill>
                <a:latin typeface="Calibri"/>
              </a:rPr>
              <a:t>providers.Singleton(…) — gedeeld over proceslevensduur</a:t>
            </a:r>
          </a:p>
          <a:p>
            <a:pPr algn="l">
              <a:spcAft>
                <a:spcPts val="500"/>
              </a:spcAft>
            </a:pPr>
            <a:endParaRPr sz="1200">
              <a:solidFill>
                <a:srgbClr val="B0C09A"/>
              </a:solidFill>
              <a:latin typeface="Calibri"/>
            </a:endParaRP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B0C09A"/>
                </a:solidFill>
                <a:latin typeface="Calibri"/>
              </a:rPr>
              <a:t>Repositories (8):  UserRepository, FitnessTestRepository …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B0C09A"/>
                </a:solidFill>
                <a:latin typeface="Calibri"/>
              </a:rPr>
              <a:t>Services (12+):    ServiceTest, GdprService, RetentionService …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B0C09A"/>
                </a:solidFill>
                <a:latin typeface="Calibri"/>
              </a:rPr>
              <a:t>Controllers (5):   PhefController, CrossController …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B0C09A"/>
                </a:solidFill>
                <a:latin typeface="Calibri"/>
              </a:rPr>
              <a:t>External:          BEMILService, MailService, NotifyMail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B0C09A"/>
                </a:solidFill>
                <a:latin typeface="Calibri"/>
              </a:rPr>
              <a:t>Broker:            Transactionele outbox singleton</a:t>
            </a:r>
          </a:p>
          <a:p>
            <a:pPr algn="l">
              <a:spcAft>
                <a:spcPts val="500"/>
              </a:spcAft>
            </a:pPr>
            <a:endParaRPr sz="1200">
              <a:solidFill>
                <a:srgbClr val="B0C09A"/>
              </a:solidFill>
              <a:latin typeface="Calibri"/>
            </a:endParaRP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B0C09A"/>
                </a:solidFill>
                <a:latin typeface="Calibri"/>
              </a:rPr>
              <a:t>Wiring: containers.WiringConfiguration(modules=[…])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B0C09A"/>
                </a:solidFill>
                <a:latin typeface="Calibri"/>
              </a:rPr>
              <a:t>  → 25 UI-modules gepatch bij opstart</a:t>
            </a:r>
          </a:p>
          <a:p>
            <a:pPr algn="l">
              <a:spcAft>
                <a:spcPts val="500"/>
              </a:spcAft>
            </a:pPr>
            <a:r>
              <a:rPr sz="1200">
                <a:solidFill>
                  <a:srgbClr val="B0C09A"/>
                </a:solidFill>
                <a:latin typeface="Calibri"/>
              </a:rPr>
              <a:t>  → @inject + Provide[Container.xxx] op page __init__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D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E2D1E"/>
                </a:solidFill>
                <a:latin typeface="Calibri"/>
              </a:rPr>
              <a:t>Data Model &amp; ERD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1323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D1E"/>
                </a:solidFill>
                <a:latin typeface="Calibri"/>
              </a:rPr>
              <a:t>PostgreSQL · SQLAlchemy ORM · polymorf FitnessTest</a:t>
            </a:r>
          </a:p>
        </p:txBody>
      </p:sp>
      <p:pic>
        <p:nvPicPr>
          <p:cNvPr id="5" name="Picture 4" descr="e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34440"/>
            <a:ext cx="4119964" cy="5394960"/>
          </a:xfrm>
          <a:prstGeom prst="rect">
            <a:avLst/>
          </a:prstGeom>
        </p:spPr>
      </p:pic>
      <p:pic>
        <p:nvPicPr>
          <p:cNvPr id="6" name="Picture 5" descr="datamod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7817" y="1234439"/>
            <a:ext cx="7376815" cy="320071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74320" y="649224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B0C09A"/>
                </a:solidFill>
                <a:latin typeface="Calibri"/>
              </a:rPr>
              <a:t>ERD (databasetabellen)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6492240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B0C09A"/>
                </a:solidFill>
                <a:latin typeface="Calibri"/>
              </a:rPr>
              <a:t>ORM-klassendiagram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D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E2D1E"/>
                </a:solidFill>
                <a:latin typeface="Calibri"/>
              </a:rPr>
              <a:t>Rollen &amp; Toegangscontrole (RBAC)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1323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D1E"/>
                </a:solidFill>
                <a:latin typeface="Calibri"/>
              </a:rPr>
              <a:t>6 rollen · PageSpec(allowed_roles=[…]) per module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34440"/>
          <a:ext cx="713232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83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1395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C8A020"/>
                          </a:solidFill>
                          <a:latin typeface="Calibri"/>
                        </a:rPr>
                        <a:t>Rol</a:t>
                      </a:r>
                    </a:p>
                  </a:txBody>
                  <a:tcPr marL="63500" marR="63500" marT="38100" marB="38100">
                    <a:solidFill>
                      <a:srgbClr val="3A5A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C8A020"/>
                          </a:solidFill>
                          <a:latin typeface="Calibri"/>
                        </a:rPr>
                        <a:t>Omschrijving</a:t>
                      </a:r>
                    </a:p>
                  </a:txBody>
                  <a:tcPr marL="63500" marR="63500" marT="38100" marB="38100">
                    <a:solidFill>
                      <a:srgbClr val="3A5A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C8A020"/>
                          </a:solidFill>
                          <a:latin typeface="Calibri"/>
                        </a:rPr>
                        <a:t>Toegang</a:t>
                      </a:r>
                    </a:p>
                  </a:txBody>
                  <a:tcPr marL="63500" marR="63500" marT="38100" marB="38100">
                    <a:solidFill>
                      <a:srgbClr val="3A5A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3954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ADMIN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Systeembeheerder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Volledige toegang + gebruikersbeheer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3954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PTI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Fitheidsinstructeur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Testresultaten invoeren &amp; bekijken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3954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APTI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Adjunct PTI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Beperkt invoer, volledige lezing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3954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PLANNER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Planningsofficial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Sessies &amp; fitnessruimte plannen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3954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GUEST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Gast / bezoeker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Alleen eigen profiel (read-only)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13956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USER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Militair (serviceman)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Eigen fiche + privacypagina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772400" y="1234440"/>
            <a:ext cx="4114800" cy="534924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955280" y="1325880"/>
            <a:ext cx="37490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A020"/>
                </a:solidFill>
                <a:latin typeface="Calibri"/>
              </a:rPr>
              <a:t>Implementatie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0" y="1828800"/>
            <a:ext cx="3749039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PageSpec(allowed_roles=[…]) per pagina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Sessiecontrole bij elke navigatie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10-min inactiviteitstime-out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Argon2id wachtwoordhashing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Rate-limiting op login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Audit trail — alle CRUD-acties gelogd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UserStore scoped per Shiny-sessie (PR #217)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IDOR-fix: _assert_can_modify_tests()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D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E2D1E"/>
                </a:solidFill>
                <a:latin typeface="Calibri"/>
              </a:rPr>
              <a:t>5 Testtypes — volledig gedigitaliseerd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1323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D1E"/>
                </a:solidFill>
                <a:latin typeface="Calibri"/>
              </a:rPr>
              <a:t>ORM-polymorfisme · FitnessTest-basisklasse + subtypes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1188720"/>
            <a:ext cx="2103120" cy="475488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2880" y="1188720"/>
            <a:ext cx="2103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E2D1E"/>
                </a:solidFill>
                <a:latin typeface="Calibri"/>
              </a:rPr>
              <a:t>PHEF</a:t>
            </a:r>
          </a:p>
        </p:txBody>
      </p:sp>
      <p:sp>
        <p:nvSpPr>
          <p:cNvPr id="7" name="Rectangle 6"/>
          <p:cNvSpPr/>
          <p:nvPr/>
        </p:nvSpPr>
        <p:spPr>
          <a:xfrm>
            <a:off x="182880" y="1664208"/>
            <a:ext cx="2103120" cy="2724912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1737360"/>
            <a:ext cx="19202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2400 m looptijd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Zijbrug (L+R)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Leeftijds-/gendercorrectie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Scores A/B/C/D/F</a:t>
            </a:r>
          </a:p>
        </p:txBody>
      </p:sp>
      <p:sp>
        <p:nvSpPr>
          <p:cNvPr id="9" name="Rectangle 8"/>
          <p:cNvSpPr/>
          <p:nvPr/>
        </p:nvSpPr>
        <p:spPr>
          <a:xfrm>
            <a:off x="2432304" y="1188720"/>
            <a:ext cx="2103120" cy="47548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432304" y="1188720"/>
            <a:ext cx="2103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E2D1E"/>
                </a:solidFill>
                <a:latin typeface="Calibri"/>
              </a:rPr>
              <a:t>Functioneel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32304" y="1664208"/>
            <a:ext cx="2103120" cy="2724912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523744" y="1737360"/>
            <a:ext cx="19202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Functionele fitheid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Komplexe oefeningen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Rij scores 1–5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81728" y="1188720"/>
            <a:ext cx="2103120" cy="47548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681728" y="1188720"/>
            <a:ext cx="2103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E2D1E"/>
                </a:solidFill>
                <a:latin typeface="Calibri"/>
              </a:rPr>
              <a:t>Gevecht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81728" y="1664208"/>
            <a:ext cx="2103120" cy="2724912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773168" y="1737360"/>
            <a:ext cx="19202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Paraat (paratrooper)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Harde drempelwaarden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Binaire uitkomst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931152" y="1188720"/>
            <a:ext cx="2103120" cy="475488"/>
          </a:xfrm>
          <a:prstGeom prst="rect">
            <a:avLst/>
          </a:prstGeom>
          <a:solidFill>
            <a:srgbClr val="216A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931152" y="1188720"/>
            <a:ext cx="2103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E2D1E"/>
                </a:solidFill>
                <a:latin typeface="Calibri"/>
              </a:rPr>
              <a:t>Mars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31152" y="1664208"/>
            <a:ext cx="2103120" cy="2724912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022592" y="1737360"/>
            <a:ext cx="19202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Timed march + uitrusting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Afstand + gewicht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Eenheidsprestatie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80576" y="1188720"/>
            <a:ext cx="2103120" cy="475488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180576" y="1188720"/>
            <a:ext cx="2103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E2D1E"/>
                </a:solidFill>
                <a:latin typeface="Calibri"/>
              </a:rPr>
              <a:t>Cross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80576" y="1664208"/>
            <a:ext cx="2103120" cy="2724912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272016" y="1737360"/>
            <a:ext cx="19202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Tijdmetingen per loper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Chronos XML-import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8 statistiekatabladen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" y="452628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8A020"/>
                </a:solidFill>
                <a:latin typeface="Calibri"/>
              </a:rPr>
              <a:t>Zijbrugscoringtabel (PHEF) — leeftijds- en gendercorrectie:</a:t>
            </a:r>
          </a:p>
        </p:txBody>
      </p:sp>
      <p:pic>
        <p:nvPicPr>
          <p:cNvPr id="26" name="Picture 25" descr="side-bridge-proef-tab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4892040"/>
            <a:ext cx="2863761" cy="265176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126480" y="4572000"/>
            <a:ext cx="58521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Gemeenschappelijk voor alle types: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▶  ORM-polymorfisme (FitnessTest-base)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▶  Async repository (SQLAlchemy 2.0)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▶  Audit trail bij elke opslag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▶  Automatische HR-forwarding via broker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D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E2D1E"/>
                </a:solidFill>
                <a:latin typeface="Calibri"/>
              </a:rPr>
              <a:t>Dataflow — PHEF-invoer &amp; Broker (MOM)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1323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D1E"/>
                </a:solidFill>
                <a:latin typeface="Calibri"/>
              </a:rPr>
              <a:t>Transactionele outbox · exp. backoff 5 s→10 min · dead-letter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8A020"/>
                </a:solidFill>
                <a:latin typeface="Calibri"/>
              </a:rPr>
              <a:t>Synchroon pad  (PTI wacht)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600200"/>
            <a:ext cx="5303520" cy="301752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49377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Browser: PTI klikt 'Add'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→  PhefPage (Shiny reactive)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→  PhefController.add_phef()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→  ServiceTest.add_phef_test()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→  FitnessTestRepository.add()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→  PostgreSQL — INSERT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←  OK · grid refresh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47548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8B463"/>
                </a:solidFill>
                <a:latin typeface="Calibri"/>
              </a:rPr>
              <a:t>Asynchroon pad  (broker — PTI wacht NIET)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166360"/>
            <a:ext cx="5303520" cy="150876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5230368"/>
            <a:ext cx="50292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>
                <a:solidFill>
                  <a:srgbClr val="FFFFFF"/>
                </a:solidFill>
                <a:latin typeface="Calibri"/>
              </a:rPr>
              <a:t>Service → Broker.send_message(test)</a:t>
            </a:r>
          </a:p>
          <a:p>
            <a:pPr algn="l">
              <a:spcAft>
                <a:spcPts val="500"/>
              </a:spcAft>
            </a:pPr>
            <a:r>
              <a:rPr sz="1400">
                <a:solidFill>
                  <a:srgbClr val="FFFFFF"/>
                </a:solidFill>
                <a:latin typeface="Calibri"/>
              </a:rPr>
              <a:t>→  asyncio.Queue (in-memory)</a:t>
            </a:r>
          </a:p>
          <a:p>
            <a:pPr algn="l">
              <a:spcAft>
                <a:spcPts val="500"/>
              </a:spcAft>
            </a:pPr>
            <a:r>
              <a:rPr sz="1400">
                <a:solidFill>
                  <a:srgbClr val="FFFFFF"/>
                </a:solidFill>
                <a:latin typeface="Calibri"/>
              </a:rPr>
              <a:t>→  _process_cycle()  elke 5 s</a:t>
            </a:r>
          </a:p>
          <a:p>
            <a:pPr algn="l">
              <a:spcAft>
                <a:spcPts val="500"/>
              </a:spcAft>
            </a:pPr>
            <a:r>
              <a:rPr sz="1400">
                <a:solidFill>
                  <a:srgbClr val="FFFFFF"/>
                </a:solidFill>
                <a:latin typeface="Calibri"/>
              </a:rPr>
              <a:t>→  hr_messages (duurzame opslag)</a:t>
            </a:r>
          </a:p>
          <a:p>
            <a:pPr algn="l">
              <a:spcAft>
                <a:spcPts val="500"/>
              </a:spcAft>
            </a:pPr>
            <a:r>
              <a:rPr sz="1400">
                <a:solidFill>
                  <a:srgbClr val="FFFFFF"/>
                </a:solidFill>
                <a:latin typeface="Calibri"/>
              </a:rPr>
              <a:t>→  POST naar HR-systeem (BEMIL)</a:t>
            </a:r>
          </a:p>
        </p:txBody>
      </p:sp>
      <p:pic>
        <p:nvPicPr>
          <p:cNvPr id="11" name="Picture 10" descr="im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98014" y="1234440"/>
            <a:ext cx="5516618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D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E2D1E"/>
                </a:solidFill>
                <a:latin typeface="Calibri"/>
              </a:rPr>
              <a:t>Volledige Testflow — UI → Service → DB → Broker → HR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1323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D1E"/>
                </a:solidFill>
                <a:latin typeface="Calibri"/>
              </a:rPr>
              <a:t>End-to-end PHEF-flow incl. foutpaden, retry en dead-letter</a:t>
            </a:r>
          </a:p>
        </p:txBody>
      </p:sp>
      <p:pic>
        <p:nvPicPr>
          <p:cNvPr id="5" name="Picture 4" descr="test_flow_ui_db_brok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2960" y="1188720"/>
            <a:ext cx="7783032" cy="5577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49224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B0C09A"/>
                </a:solidFill>
                <a:latin typeface="Calibri"/>
              </a:rPr>
              <a:t>Bron: documentation/diagrams/test_flow_ui_db_broker.png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D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E2D1E"/>
                </a:solidFill>
                <a:latin typeface="Calibri"/>
              </a:rPr>
              <a:t>Agile Methodologie — Scrum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1323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D1E"/>
                </a:solidFill>
                <a:latin typeface="Calibri"/>
              </a:rPr>
              <a:t>Sep 2025 – mei 2026 · 1 developer · 2-weekse sprints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2031492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0" y="1261872"/>
            <a:ext cx="203149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783080"/>
            <a:ext cx="20314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epics</a:t>
            </a:r>
          </a:p>
        </p:txBody>
      </p:sp>
      <p:sp>
        <p:nvSpPr>
          <p:cNvPr id="8" name="Rectangle 7"/>
          <p:cNvSpPr/>
          <p:nvPr/>
        </p:nvSpPr>
        <p:spPr>
          <a:xfrm>
            <a:off x="2031492" y="1188720"/>
            <a:ext cx="2031492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031492" y="1261872"/>
            <a:ext cx="203149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80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31492" y="1783080"/>
            <a:ext cx="20314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stories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62984" y="1188720"/>
            <a:ext cx="2031492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062984" y="1261872"/>
            <a:ext cx="203149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231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62984" y="1783080"/>
            <a:ext cx="20314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SP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94476" y="1188720"/>
            <a:ext cx="2031492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094476" y="1261872"/>
            <a:ext cx="203149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12,2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1783080"/>
            <a:ext cx="20314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gem. velocity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25968" y="1188720"/>
            <a:ext cx="2031492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125968" y="1261872"/>
            <a:ext cx="203149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1.012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5968" y="1783080"/>
            <a:ext cx="20314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commits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157460" y="1188720"/>
            <a:ext cx="2031492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157460" y="1261872"/>
            <a:ext cx="203149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720 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57460" y="1783080"/>
            <a:ext cx="20314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geschatte inspanning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365760" y="2560320"/>
          <a:ext cx="804672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434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C8A020"/>
                          </a:solidFill>
                          <a:latin typeface="Calibri"/>
                        </a:rPr>
                        <a:t>Sprint</a:t>
                      </a:r>
                    </a:p>
                  </a:txBody>
                  <a:tcPr marL="63500" marR="63500" marT="38100" marB="38100">
                    <a:solidFill>
                      <a:srgbClr val="3A5A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C8A020"/>
                          </a:solidFill>
                          <a:latin typeface="Calibri"/>
                        </a:rPr>
                        <a:t>Periode</a:t>
                      </a:r>
                    </a:p>
                  </a:txBody>
                  <a:tcPr marL="63500" marR="63500" marT="38100" marB="38100">
                    <a:solidFill>
                      <a:srgbClr val="3A5A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C8A020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 marL="63500" marR="63500" marT="38100" marB="38100">
                    <a:solidFill>
                      <a:srgbClr val="3A5A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C8A020"/>
                          </a:solidFill>
                          <a:latin typeface="Calibri"/>
                        </a:rPr>
                        <a:t>Cumul.</a:t>
                      </a:r>
                    </a:p>
                  </a:txBody>
                  <a:tcPr marL="63500" marR="63500" marT="38100" marB="38100">
                    <a:solidFill>
                      <a:srgbClr val="3A5A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C8A020"/>
                          </a:solidFill>
                          <a:latin typeface="Calibri"/>
                        </a:rPr>
                        <a:t>Focus</a:t>
                      </a:r>
                    </a:p>
                  </a:txBody>
                  <a:tcPr marL="63500" marR="63500" marT="38100" marB="38100">
                    <a:solidFill>
                      <a:srgbClr val="3A5A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149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S1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sep 01–14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Opzet, auth, login (E1, E19)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149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S2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sep 15–28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Gebruikersbeheer, BEMIL (E1, E9)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149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S5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okt 27–nov 09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74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4 epics — hoogste commit-dichtheid (160)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149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S7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nov 24–dec 07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110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Cross sessies &amp; statistieken (E8)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149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S12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feb 02–15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162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DI-container refactor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149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S17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apr 13–26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221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GDPR + cross-stats redesign (E20)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9149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S19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mei 11–24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231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Beveiliging, DPIA, finale (E19)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4" name="Rectangle 23"/>
          <p:cNvSpPr/>
          <p:nvPr/>
        </p:nvSpPr>
        <p:spPr>
          <a:xfrm>
            <a:off x="8686800" y="2560320"/>
            <a:ext cx="3291840" cy="393192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823960" y="2651760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A020"/>
                </a:solidFill>
                <a:latin typeface="Calibri"/>
              </a:rPr>
              <a:t>Top 5 epics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778240" y="3063240"/>
            <a:ext cx="3108960" cy="502920"/>
          </a:xfrm>
          <a:prstGeom prst="rect">
            <a:avLst/>
          </a:prstGeom>
          <a:solidFill>
            <a:srgbClr val="243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869680" y="310896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E8  Cross &amp; Statistieken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09960" y="3108960"/>
            <a:ext cx="777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C8A020"/>
                </a:solidFill>
                <a:latin typeface="Calibri"/>
              </a:rPr>
              <a:t>28 SP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778240" y="3630168"/>
            <a:ext cx="3108960" cy="502920"/>
          </a:xfrm>
          <a:prstGeom prst="rect">
            <a:avLst/>
          </a:prstGeom>
          <a:solidFill>
            <a:srgbClr val="243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869680" y="3675888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E20 GDPR / Privacy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09960" y="3675888"/>
            <a:ext cx="777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C8A020"/>
                </a:solidFill>
                <a:latin typeface="Calibri"/>
              </a:rPr>
              <a:t>25 SP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778240" y="4197096"/>
            <a:ext cx="3108960" cy="502920"/>
          </a:xfrm>
          <a:prstGeom prst="rect">
            <a:avLst/>
          </a:prstGeom>
          <a:solidFill>
            <a:srgbClr val="243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869680" y="4242816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E1  Gebruikersbeheer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09960" y="4242816"/>
            <a:ext cx="777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C8A020"/>
                </a:solidFill>
                <a:latin typeface="Calibri"/>
              </a:rPr>
              <a:t>18 SP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778240" y="4764024"/>
            <a:ext cx="3108960" cy="502920"/>
          </a:xfrm>
          <a:prstGeom prst="rect">
            <a:avLst/>
          </a:prstGeom>
          <a:solidFill>
            <a:srgbClr val="243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869680" y="4809744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E3  PHEF-invoer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09960" y="4809744"/>
            <a:ext cx="777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C8A020"/>
                </a:solidFill>
                <a:latin typeface="Calibri"/>
              </a:rPr>
              <a:t>18 SP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78240" y="5330952"/>
            <a:ext cx="3108960" cy="502920"/>
          </a:xfrm>
          <a:prstGeom prst="rect">
            <a:avLst/>
          </a:prstGeom>
          <a:solidFill>
            <a:srgbClr val="243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869680" y="5376672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E2  Sessieplanning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109960" y="5376672"/>
            <a:ext cx="777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C8A020"/>
                </a:solidFill>
                <a:latin typeface="Calibri"/>
              </a:rPr>
              <a:t>15 SP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D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E2D1E"/>
                </a:solidFill>
                <a:latin typeface="Calibri"/>
              </a:rPr>
              <a:t>Kwaliteit &amp; 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1323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D1E"/>
                </a:solidFill>
                <a:latin typeface="Calibri"/>
              </a:rPr>
              <a:t>pytest-asyncio · mypy strict · ruff · pre-commit · GitHub Actions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5486400" cy="534924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8A020"/>
                </a:solidFill>
                <a:latin typeface="Calibri"/>
              </a:rPr>
              <a:t>Testpatronen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pytest + pytest-asyncio (async tests)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AsyncMock / MagicMock via unittest.mock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Constructor-injectie: mocking zonder patching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container.override(mock) + reset_override()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Singleton._instances wissen in fixtures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Voorbeeld: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  PhefController(service=mock, mil=mock)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1234440"/>
            <a:ext cx="5486400" cy="534924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92240" y="132588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8A020"/>
                </a:solidFill>
                <a:latin typeface="Calibri"/>
              </a:rPr>
              <a:t>Tooling &amp; CI/CD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mypy — strict typechecking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ruff — linting (E/F/W/I, regellengte 100)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black — codeformattering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pre-commit — auto-update version.yaml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GitHub Actions — CI: lint + mypy + tests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Docker — productie-image (geen secrets)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Alembic — versiebeheerde DB-migraties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D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E2D1E"/>
                </a:solidFill>
                <a:latin typeface="Calibri"/>
              </a:rPr>
              <a:t>Beveiliging — OWASP Top 10 evaluatie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1323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D1E"/>
                </a:solidFill>
                <a:latin typeface="Calibri"/>
              </a:rPr>
              <a:t>Defense-in-depth · intranet-deployment · Argon2id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34440"/>
          <a:ext cx="11521440" cy="5349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5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68655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C8A020"/>
                          </a:solidFill>
                          <a:latin typeface="Calibri"/>
                        </a:rPr>
                        <a:t>OWASP risico</a:t>
                      </a:r>
                    </a:p>
                  </a:txBody>
                  <a:tcPr marL="63500" marR="63500" marT="38100" marB="38100">
                    <a:solidFill>
                      <a:srgbClr val="3A5A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C8A020"/>
                          </a:solidFill>
                          <a:latin typeface="Calibri"/>
                        </a:rPr>
                        <a:t>Maatregel in WarriorFit</a:t>
                      </a:r>
                    </a:p>
                  </a:txBody>
                  <a:tcPr marL="63500" marR="63500" marT="38100" marB="38100">
                    <a:solidFill>
                      <a:srgbClr val="3A5A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C8A020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63500" marR="63500" marT="38100" marB="38100">
                    <a:solidFill>
                      <a:srgbClr val="3A5A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8655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A01 — Broken Access Control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RBAC per PageSpec · IDOR-fix · sessie-scoped UserStore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E2D1E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L="63500" marR="63500" marT="38100" marB="38100">
                    <a:solidFill>
                      <a:srgbClr val="28B4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68655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A02 — Cryptographic Failures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Argon2id · PostgreSQL TLS verify-full (productie)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E2D1E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L="63500" marR="63500" marT="38100" marB="38100">
                    <a:solidFill>
                      <a:srgbClr val="28B4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8655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A03 — Injection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SQLAlchemy geparametriseerde queries — geen raw SQL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E2D1E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L="63500" marR="63500" marT="38100" marB="38100">
                    <a:solidFill>
                      <a:srgbClr val="28B4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68655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A05 — Misconfiguration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CORS-vergrendeling · X-API-Key op MOM · strict CSP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E2D1E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L="63500" marR="63500" marT="38100" marB="38100">
                    <a:solidFill>
                      <a:srgbClr val="28B4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68655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A07 — Auth Failures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Rate-limiting login · 10-min timeout · audit trail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E2D1E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L="63500" marR="63500" marT="38100" marB="38100">
                    <a:solidFill>
                      <a:srgbClr val="28B4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68655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A09 — Logging &amp; Monitoring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Volledige CRUD-audit log · broker-health card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E2D1E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L="63500" marR="63500" marT="38100" marB="38100">
                    <a:solidFill>
                      <a:srgbClr val="28B4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68655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A10 — SSRF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HR-URL allowlist (config) — HTTPS validatie open punt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E2D1E"/>
                          </a:solidFill>
                          <a:latin typeface="Calibri"/>
                        </a:rPr>
                        <a:t>⚠</a:t>
                      </a:r>
                    </a:p>
                  </a:txBody>
                  <a:tcPr marL="63500" marR="63500" marT="38100" marB="38100">
                    <a:solidFill>
                      <a:srgbClr val="C039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D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E2D1E"/>
                </a:solidFill>
                <a:latin typeface="Calibri"/>
              </a:rPr>
              <a:t>AVG / GDPR Compliance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1323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D1E"/>
                </a:solidFill>
                <a:latin typeface="Calibri"/>
              </a:rPr>
              <a:t>DPIA Art. 35 · gezondheidsdata Art. 9 · zelfservice privacypagina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5486400" cy="534924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A020"/>
                </a:solidFill>
                <a:latin typeface="Calibri"/>
              </a:rPr>
              <a:t>Rechtsgrond &amp; scope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2880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Art. 6(1)(c) — wettelijke verplichting (militaire opleiding)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Art. 6(1)(e) — taak van algemeen belang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Art. 9(2)(b) — gezondheidsdata in arbeidscontext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DPIA uitgevoerd (Art. 35) — versie 1.1, 30 apr 2026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Verwerkingsverantwoordelijke: Belgische Defensie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Uitsluitend intranet — geen publieke blootstelling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1234440"/>
            <a:ext cx="5486400" cy="534924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92240" y="132588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A020"/>
                </a:solidFill>
                <a:latin typeface="Calibri"/>
              </a:rPr>
              <a:t>Geïmplementeerde rechten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182880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Art. 15 — Inzage: volledig exporteerbaar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Art. 17 — Verwijdering: GdprService + FK CASCADE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Art. 20 — Portabiliteit: JSON-export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Art. 7  — Toestemming: user_consents tabel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RetentionService: automatische verwijdering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Audit trail: alle CRUD-acties (Art. 32)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D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E2D1E"/>
                </a:solidFill>
                <a:latin typeface="Calibri"/>
              </a:rPr>
              <a:t>Technologiestapel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1323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D1E"/>
                </a:solidFill>
                <a:latin typeface="Calibri"/>
              </a:rPr>
              <a:t>Python 3.13+ · moderne async stack · volledig open source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325880"/>
            <a:ext cx="5669280" cy="237744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5669280" cy="411480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2D1E"/>
                </a:solidFill>
                <a:latin typeface="Calibri"/>
              </a:rPr>
              <a:t>Frontend / UI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8308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Shiny for Python — reactieve server-side UI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Plotly — interactieve grafieken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Rajdhani + JetBrains Mono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CSS-thema: olive / khaki / amber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1325880"/>
            <a:ext cx="5669280" cy="237744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309360" y="1325880"/>
            <a:ext cx="5669280" cy="411480"/>
          </a:xfrm>
          <a:prstGeom prst="rect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46520" y="137160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2D1E"/>
                </a:solidFill>
                <a:latin typeface="Calibri"/>
              </a:rPr>
              <a:t>Backend /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78308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PostgreSQL + asyncpg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SQLAlchemy 2.0 Async ORM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Alembic — DB-migratiebeheer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dependency-injector (DI-container)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931920"/>
            <a:ext cx="5669280" cy="237744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65760" y="3931920"/>
            <a:ext cx="5669280" cy="41148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2920" y="39776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2D1E"/>
                </a:solidFill>
                <a:latin typeface="Calibri"/>
              </a:rPr>
              <a:t>Beveiliging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38912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Argon2id — wachtwoordhashing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RBAC per PageSpec (6 rollen)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TLS verify-full (productie)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X-API-Key + CORS-vergrendeling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3931920"/>
            <a:ext cx="5669280" cy="237744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309360" y="3931920"/>
            <a:ext cx="5669280" cy="411480"/>
          </a:xfrm>
          <a:prstGeom prst="rect">
            <a:avLst/>
          </a:prstGeom>
          <a:solidFill>
            <a:srgbClr val="216A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46520" y="39776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2D1E"/>
                </a:solidFill>
                <a:latin typeface="Calibri"/>
              </a:rPr>
              <a:t>Infra / Dev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438912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Docker + GitHub Actions CI/CD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FastAPI — MOM REST endpoint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Mailpit — e-mailpreview (dev)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uv · ruff · mypy · black · pre-commit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D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E2D1E"/>
                </a:solidFill>
                <a:latin typeface="Calibri"/>
              </a:rPr>
              <a:t>Routekaart — verdere ontwikkeling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1323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D1E"/>
                </a:solidFill>
                <a:latin typeface="Calibri"/>
              </a:rPr>
              <a:t>Open punten &amp; toekomstige iteraties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80160"/>
            <a:ext cx="1188720" cy="56692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65760" y="1344168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E2D1E"/>
                </a:solidFill>
                <a:latin typeface="Calibri"/>
              </a:rPr>
              <a:t>Hoog</a:t>
            </a:r>
          </a:p>
        </p:txBody>
      </p:sp>
      <p:sp>
        <p:nvSpPr>
          <p:cNvPr id="7" name="Rectangle 6"/>
          <p:cNvSpPr/>
          <p:nvPr/>
        </p:nvSpPr>
        <p:spPr>
          <a:xfrm>
            <a:off x="1600200" y="1280160"/>
            <a:ext cx="10058400" cy="566928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737360" y="1344168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SSO / SAML-integratie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00600" y="1371600"/>
            <a:ext cx="667512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0C09A"/>
                </a:solidFill>
                <a:latin typeface="Calibri"/>
              </a:rPr>
              <a:t>Eenmalige aanmelding via Defensie-identiteitsprovider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47672"/>
            <a:ext cx="1188720" cy="56692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5760" y="2011680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E2D1E"/>
                </a:solidFill>
                <a:latin typeface="Calibri"/>
              </a:rPr>
              <a:t>Hoog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00200" y="1947672"/>
            <a:ext cx="10058400" cy="566928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737360" y="201168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HR-URL HTTPS allowlist (OWASP A10)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039112"/>
            <a:ext cx="667512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0C09A"/>
                </a:solidFill>
                <a:latin typeface="Calibri"/>
              </a:rPr>
              <a:t>Whitelist + HTTPS-verificatie op uitgaand HR-verkeer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615184"/>
            <a:ext cx="1188720" cy="566928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65760" y="2679192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E2D1E"/>
                </a:solidFill>
                <a:latin typeface="Calibri"/>
              </a:rPr>
              <a:t>Gemiddeld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00200" y="2615184"/>
            <a:ext cx="10058400" cy="566928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737360" y="2679192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Serviceman login — wachtwoordverificatie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00600" y="2706624"/>
            <a:ext cx="667512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0C09A"/>
                </a:solidFill>
                <a:latin typeface="Calibri"/>
              </a:rPr>
              <a:t>SSO of eigen credentials afwachten (GitHub-issue geopend)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282696"/>
            <a:ext cx="1188720" cy="566928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65760" y="3346704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E2D1E"/>
                </a:solidFill>
                <a:latin typeface="Calibri"/>
              </a:rPr>
              <a:t>Gemiddeld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00200" y="3282696"/>
            <a:ext cx="10058400" cy="566928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737360" y="3346704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Responsief ontwerp (mobiel)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3374136"/>
            <a:ext cx="667512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0C09A"/>
                </a:solidFill>
                <a:latin typeface="Calibri"/>
              </a:rPr>
              <a:t>Tablet-/smartphoneweergave voor PTI's op terrein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950208"/>
            <a:ext cx="1188720" cy="566928"/>
          </a:xfrm>
          <a:prstGeom prst="rect">
            <a:avLst/>
          </a:prstGeom>
          <a:solidFill>
            <a:srgbClr val="216A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65760" y="4014216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E2D1E"/>
                </a:solidFill>
                <a:latin typeface="Calibri"/>
              </a:rPr>
              <a:t>Laag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600200" y="3950208"/>
            <a:ext cx="10058400" cy="566928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737360" y="4014216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Realtimenotificaties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00600" y="4041648"/>
            <a:ext cx="667512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0C09A"/>
                </a:solidFill>
                <a:latin typeface="Calibri"/>
              </a:rPr>
              <a:t>WebSocket push voor sessiewijzigingen &amp; broker-alerts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4617720"/>
            <a:ext cx="1188720" cy="566928"/>
          </a:xfrm>
          <a:prstGeom prst="rect">
            <a:avLst/>
          </a:prstGeom>
          <a:solidFill>
            <a:srgbClr val="216A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65760" y="4681728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E2D1E"/>
                </a:solidFill>
                <a:latin typeface="Calibri"/>
              </a:rPr>
              <a:t>Laag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600200" y="4617720"/>
            <a:ext cx="10058400" cy="566928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737360" y="4681728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Multi-eenheid ondersteuning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00600" y="4709160"/>
            <a:ext cx="667512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0C09A"/>
                </a:solidFill>
                <a:latin typeface="Calibri"/>
              </a:rPr>
              <a:t>Uitbreiding naar meerdere regimenten / compagnieën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5285231"/>
            <a:ext cx="1188720" cy="566928"/>
          </a:xfrm>
          <a:prstGeom prst="rect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65760" y="5349239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E2D1E"/>
                </a:solidFill>
                <a:latin typeface="Calibri"/>
              </a:rPr>
              <a:t>Laag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600200" y="5285231"/>
            <a:ext cx="10058400" cy="566928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1737360" y="5349239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Uitgebreid rapportagepakket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5376671"/>
            <a:ext cx="667512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0C09A"/>
                </a:solidFill>
                <a:latin typeface="Calibri"/>
              </a:rPr>
              <a:t>PDF-exports per test, eenheid en tijdsperiode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D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136" y="429768"/>
            <a:ext cx="11274552" cy="47548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303520" y="1188720"/>
            <a:ext cx="1554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0" i="0">
                <a:solidFill>
                  <a:srgbClr val="C8A020"/>
                </a:solidFill>
                <a:latin typeface="Calibri"/>
              </a:rPr>
              <a:t>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3601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C8A020"/>
                </a:solidFill>
                <a:latin typeface="Calibri"/>
              </a:rPr>
              <a:t>Bedankt!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34640"/>
            <a:ext cx="103601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  <a:latin typeface="Calibri"/>
              </a:rPr>
              <a:t>Vragen?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65760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B0C09A"/>
                </a:solidFill>
                <a:latin typeface="Calibri"/>
              </a:rPr>
              <a:t>Benoit Goethals  ·  benoit.goethals@gmail.com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114800"/>
            <a:ext cx="103601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B0C09A"/>
                </a:solidFill>
                <a:latin typeface="Calibri"/>
              </a:rPr>
              <a:t>github.com/BenoitGoethals/WarriorFit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5303520"/>
            <a:ext cx="2031492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0" y="5376672"/>
            <a:ext cx="203149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5897880"/>
            <a:ext cx="20314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epics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31492" y="5303520"/>
            <a:ext cx="2031492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031492" y="5376672"/>
            <a:ext cx="203149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31492" y="5897880"/>
            <a:ext cx="20314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stories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62984" y="5303520"/>
            <a:ext cx="2031492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062984" y="5376672"/>
            <a:ext cx="203149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231 SP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62984" y="5897880"/>
            <a:ext cx="20314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geleverd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4476" y="5303520"/>
            <a:ext cx="2031492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094476" y="5376672"/>
            <a:ext cx="203149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1.012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4476" y="5897880"/>
            <a:ext cx="20314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commits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25968" y="5303520"/>
            <a:ext cx="2031492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125968" y="5376672"/>
            <a:ext cx="203149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25.800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25968" y="5897880"/>
            <a:ext cx="20314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lijnen Python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157460" y="5303520"/>
            <a:ext cx="2031492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157460" y="5376672"/>
            <a:ext cx="203149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8,5 mnd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57460" y="5897880"/>
            <a:ext cx="20314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solo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1444</Words>
  <Application>Microsoft Macintosh PowerPoint</Application>
  <PresentationFormat>Custom</PresentationFormat>
  <Paragraphs>340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Benoit Goethals</cp:lastModifiedBy>
  <cp:revision>3</cp:revision>
  <dcterms:created xsi:type="dcterms:W3CDTF">2013-01-27T09:14:16Z</dcterms:created>
  <dcterms:modified xsi:type="dcterms:W3CDTF">2026-05-31T16:09:37Z</dcterms:modified>
  <cp:category/>
</cp:coreProperties>
</file>