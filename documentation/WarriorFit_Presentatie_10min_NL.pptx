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3" r:id="rId3"/>
    <p:sldId id="263" r:id="rId4"/>
    <p:sldId id="257" r:id="rId5"/>
    <p:sldId id="258" r:id="rId6"/>
    <p:sldId id="270" r:id="rId7"/>
    <p:sldId id="259" r:id="rId8"/>
    <p:sldId id="260" r:id="rId9"/>
    <p:sldId id="269" r:id="rId10"/>
    <p:sldId id="261" r:id="rId11"/>
    <p:sldId id="262" r:id="rId12"/>
    <p:sldId id="264" r:id="rId13"/>
    <p:sldId id="265" r:id="rId14"/>
    <p:sldId id="266" r:id="rId15"/>
    <p:sldId id="267" r:id="rId16"/>
    <p:sldId id="268" r:id="rId17"/>
    <p:sldId id="272" r:id="rId1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412"/>
    <p:restoredTop sz="94668"/>
  </p:normalViewPr>
  <p:slideViewPr>
    <p:cSldViewPr snapToGrid="0" snapToObjects="1">
      <p:cViewPr varScale="1">
        <p:scale>
          <a:sx n="240" d="100"/>
          <a:sy n="240" d="100"/>
        </p:scale>
        <p:origin x="2312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43484" y="782556"/>
            <a:ext cx="11274552" cy="43891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0" y="146304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C8A020"/>
                </a:solidFill>
                <a:latin typeface="Calibri"/>
              </a:rPr>
              <a:t>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60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C8A020"/>
                </a:solidFill>
                <a:latin typeface="Calibri"/>
              </a:rPr>
              <a:t>WarriorFit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0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Digitalisering van militaire fysieke fitheidstesten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69080"/>
            <a:ext cx="103601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B0C09A"/>
                </a:solidFill>
                <a:latin typeface="Calibri"/>
              </a:rPr>
              <a:t>Benoit Goethals  |  </a:t>
            </a:r>
            <a:r>
              <a:rPr lang="en-US" sz="1600" b="0" i="0" dirty="0">
                <a:solidFill>
                  <a:srgbClr val="B0C09A"/>
                </a:solidFill>
                <a:latin typeface="Calibri"/>
              </a:rPr>
              <a:t>2025 /</a:t>
            </a:r>
            <a:r>
              <a:rPr sz="1600" b="0" i="0" dirty="0">
                <a:solidFill>
                  <a:srgbClr val="B0C09A"/>
                </a:solidFill>
                <a:latin typeface="Calibri"/>
              </a:rPr>
              <a:t>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0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1.012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commits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37790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37790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25.800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7790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lijnen 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5580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75580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5580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story points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3371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3371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3371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sprints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51161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51161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1161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user stories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3511420-E79C-2499-9FC9-58688C14229C}"/>
              </a:ext>
            </a:extLst>
          </p:cNvPr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dirty="0"/>
          </a:p>
        </p:txBody>
      </p:sp>
      <p:sp>
        <p:nvSpPr>
          <p:cNvPr id="13" name="AutoShape 2" descr="WarriorFit: Digitale oplossing voor paraatheid">
            <a:extLst>
              <a:ext uri="{FF2B5EF4-FFF2-40B4-BE49-F238E27FC236}">
                <a16:creationId xmlns:a16="http://schemas.microsoft.com/office/drawing/2014/main" id="{BA6015A8-389E-655C-810A-80F44D2673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BE"/>
          </a:p>
        </p:txBody>
      </p:sp>
      <p:pic>
        <p:nvPicPr>
          <p:cNvPr id="15" name="Picture 14" descr="A poster with text and images&#10;&#10;AI-generated content may be incorrect.">
            <a:extLst>
              <a:ext uri="{FF2B5EF4-FFF2-40B4-BE49-F238E27FC236}">
                <a16:creationId xmlns:a16="http://schemas.microsoft.com/office/drawing/2014/main" id="{1EB5C3F7-5904-977A-7872-AA74BC6C8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119" y="101070"/>
            <a:ext cx="9983788" cy="6655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824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5 Testtypes — volledig gedigitaliseerd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ORM-polymorfisme · FitnessTest-basisklasse + subtypes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188720"/>
            <a:ext cx="1725664" cy="475488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1188720"/>
            <a:ext cx="1725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PHEF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664208"/>
            <a:ext cx="1725664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1737360"/>
            <a:ext cx="1575606" cy="1284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2400 m looptijd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Zijbrug (L+R)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Leeftijds-/gendercorrectie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Scores A/B/C/D/F</a:t>
            </a:r>
          </a:p>
        </p:txBody>
      </p:sp>
      <p:sp>
        <p:nvSpPr>
          <p:cNvPr id="9" name="Rectangle 8"/>
          <p:cNvSpPr/>
          <p:nvPr/>
        </p:nvSpPr>
        <p:spPr>
          <a:xfrm>
            <a:off x="2432304" y="1188720"/>
            <a:ext cx="1725664" cy="4754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432304" y="1188720"/>
            <a:ext cx="1725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 err="1">
                <a:solidFill>
                  <a:srgbClr val="1E2D1E"/>
                </a:solidFill>
                <a:latin typeface="Calibri"/>
              </a:rPr>
              <a:t>Functioneel</a:t>
            </a:r>
            <a:endParaRPr sz="1800" b="1" i="0" dirty="0">
              <a:solidFill>
                <a:srgbClr val="1E2D1E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432304" y="1664208"/>
            <a:ext cx="1725664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23744" y="1737360"/>
            <a:ext cx="1575606" cy="1020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Functionele fitheid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Komplexe oefeningen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Rij scores 1–5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66919" y="1184383"/>
            <a:ext cx="1725664" cy="47548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66919" y="1184383"/>
            <a:ext cx="1725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Gevecht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6919" y="1659871"/>
            <a:ext cx="1725664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58359" y="1733023"/>
            <a:ext cx="1575606" cy="1020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Paraat (paratrooper)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Harde drempelwaarden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Binaire uitkomst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4040" y="1184383"/>
            <a:ext cx="1725664" cy="475488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14040" y="1184383"/>
            <a:ext cx="1725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Mars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14040" y="1659871"/>
            <a:ext cx="1725664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05480" y="1733023"/>
            <a:ext cx="1575606" cy="1020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Timed march + uitrusting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Afstand + gewicht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Eenheidsprestatie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31144" y="1170432"/>
            <a:ext cx="1725664" cy="47548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31144" y="1170432"/>
            <a:ext cx="1725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Cross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31144" y="1645920"/>
            <a:ext cx="1725664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22584" y="1719072"/>
            <a:ext cx="1575606" cy="14209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Tijdmetingen per loper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Chronos XML-import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8 statistiekatabladen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526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A020"/>
                </a:solidFill>
                <a:latin typeface="Calibri"/>
              </a:rPr>
              <a:t>Zijbrugscoringtabel (PHEF) — leeftijds- en gendercorrectie:</a:t>
            </a:r>
          </a:p>
        </p:txBody>
      </p:sp>
      <p:pic>
        <p:nvPicPr>
          <p:cNvPr id="26" name="Picture 25" descr="side-bridge-proef-ta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1" y="4892040"/>
            <a:ext cx="2006364" cy="185783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267117" y="4833728"/>
            <a:ext cx="3535845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Gemeenschappelijk voor alle types: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ORM-polymorfisme (FitnessTest-base)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Async repository (SQLAlchemy 2.0)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Audit trail bij elke opslag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Automatische HR-forwarding via broker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CFC85BB-C0C5-7DE1-5A03-5450DB1A13A8}"/>
              </a:ext>
            </a:extLst>
          </p:cNvPr>
          <p:cNvSpPr/>
          <p:nvPr/>
        </p:nvSpPr>
        <p:spPr>
          <a:xfrm>
            <a:off x="9828598" y="1170432"/>
            <a:ext cx="1725664" cy="47548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F3F9E0D-E8F6-1AAC-08A0-45679D15F90D}"/>
              </a:ext>
            </a:extLst>
          </p:cNvPr>
          <p:cNvSpPr txBox="1"/>
          <p:nvPr/>
        </p:nvSpPr>
        <p:spPr>
          <a:xfrm>
            <a:off x="9828598" y="1170432"/>
            <a:ext cx="1725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i="0" dirty="0">
                <a:solidFill>
                  <a:srgbClr val="1E2D1E"/>
                </a:solidFill>
                <a:latin typeface="Calibri"/>
              </a:rPr>
              <a:t>MFTT</a:t>
            </a:r>
            <a:endParaRPr sz="1800" b="1" i="0" dirty="0">
              <a:solidFill>
                <a:srgbClr val="1E2D1E"/>
              </a:solidFill>
              <a:latin typeface="Calibri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B4C01CA-8B65-F1C1-D038-EE0FD8A6D5C7}"/>
              </a:ext>
            </a:extLst>
          </p:cNvPr>
          <p:cNvSpPr/>
          <p:nvPr/>
        </p:nvSpPr>
        <p:spPr>
          <a:xfrm>
            <a:off x="9828598" y="1645920"/>
            <a:ext cx="1725664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C6F7B2-1D77-3FB1-E96A-CF29074F2C6D}"/>
              </a:ext>
            </a:extLst>
          </p:cNvPr>
          <p:cNvSpPr txBox="1"/>
          <p:nvPr/>
        </p:nvSpPr>
        <p:spPr>
          <a:xfrm>
            <a:off x="9920038" y="1719072"/>
            <a:ext cx="1575606" cy="98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nl-BE" sz="1400" dirty="0">
                <a:solidFill>
                  <a:schemeClr val="bg1"/>
                </a:solidFill>
              </a:rPr>
              <a:t>Military Functional Fitness Training</a:t>
            </a:r>
            <a:r>
              <a:rPr lang="en-BE" sz="1100" dirty="0">
                <a:solidFill>
                  <a:schemeClr val="bg1"/>
                </a:solidFill>
              </a:rPr>
              <a:t> </a:t>
            </a:r>
            <a:endParaRPr lang="en-US" sz="1100" dirty="0">
              <a:solidFill>
                <a:schemeClr val="bg1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lang="en-US" sz="1300" dirty="0">
                <a:solidFill>
                  <a:srgbClr val="B0C09A"/>
                </a:solidFill>
                <a:latin typeface="Calibri"/>
              </a:rPr>
              <a:t>NIEUWE TESTEN 2026</a:t>
            </a:r>
            <a:endParaRPr sz="1300" dirty="0">
              <a:solidFill>
                <a:srgbClr val="B0C09A"/>
              </a:solidFill>
              <a:latin typeface="Calibri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EFD9373D-CB91-D997-1FBC-8E379EE91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0162" y="4660102"/>
            <a:ext cx="2333292" cy="21978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Probleemstelling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Manuele, papieren registratie van militaire fitheidstesten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669280" cy="53949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Huidige situatie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Papieren fiches — geen centraal overzicht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5 testtypes met elk eigen scoringsregels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Manuele HR-synchronisatie (foutgevoelig)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historisch inzicht per militair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AVG-compliance (gezondheidsdata Art. 9)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RBAC — iedereen ziet alles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audit trail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5669280" cy="53949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26187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Vertraging in HR-rapportage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Dataverlies door papieren archief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Geen audit trail — compliancerisico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PTI's verliezen uren aan manueel werk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Commandanten missen realtimezicht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8B463"/>
                </a:solidFill>
                <a:latin typeface="Calibri"/>
              </a:rPr>
              <a:t>→  WarriorFit digitaliseert het volledige proces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Oplossing — WarriorFit Ecosysteem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Intranetwebplatform · geen publieke blootstelling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pagina's</a:t>
            </a:r>
          </a:p>
        </p:txBody>
      </p:sp>
      <p:sp>
        <p:nvSpPr>
          <p:cNvPr id="8" name="Rectangle 7"/>
          <p:cNvSpPr/>
          <p:nvPr/>
        </p:nvSpPr>
        <p:spPr>
          <a:xfrm>
            <a:off x="2437790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37790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7790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rollen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5580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75580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5580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testtypes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3371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3371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40+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3371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DI-singletons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51161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51161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1161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async I/O</a:t>
            </a:r>
          </a:p>
        </p:txBody>
      </p:sp>
      <p:pic>
        <p:nvPicPr>
          <p:cNvPr id="20" name="Picture 19" descr="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2" y="2423160"/>
            <a:ext cx="7096536" cy="2747046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313370" y="2423160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527242" y="2654100"/>
            <a:ext cx="17075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C8A020"/>
                </a:solidFill>
                <a:latin typeface="Calibri"/>
              </a:rPr>
              <a:t>Shiny for Python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1990" y="2532888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 err="1">
                <a:solidFill>
                  <a:srgbClr val="B0C09A"/>
                </a:solidFill>
                <a:latin typeface="Calibri"/>
              </a:rPr>
              <a:t>Reactieve</a:t>
            </a:r>
            <a:r>
              <a:rPr sz="1300" b="0" i="0" dirty="0">
                <a:solidFill>
                  <a:srgbClr val="B0C09A"/>
                </a:solidFill>
                <a:latin typeface="Calibri"/>
              </a:rPr>
              <a:t> web-UI · 24 </a:t>
            </a:r>
            <a:r>
              <a:rPr sz="1300" b="0" i="0" dirty="0" err="1">
                <a:solidFill>
                  <a:srgbClr val="B0C09A"/>
                </a:solidFill>
                <a:latin typeface="Calibri"/>
              </a:rPr>
              <a:t>pagina's</a:t>
            </a:r>
            <a:r>
              <a:rPr sz="1300" b="0" i="0" dirty="0">
                <a:solidFill>
                  <a:srgbClr val="B0C09A"/>
                </a:solidFill>
                <a:latin typeface="Calibri"/>
              </a:rPr>
              <a:t> · RBAC-</a:t>
            </a:r>
            <a:r>
              <a:rPr sz="1300" b="0" i="0" dirty="0" err="1">
                <a:solidFill>
                  <a:srgbClr val="B0C09A"/>
                </a:solidFill>
                <a:latin typeface="Calibri"/>
              </a:rPr>
              <a:t>beschermd</a:t>
            </a:r>
            <a:endParaRPr sz="1300" b="0" i="0" dirty="0">
              <a:solidFill>
                <a:srgbClr val="B0C09A"/>
              </a:solidFill>
              <a:latin typeface="Calibr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313370" y="3227832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27242" y="3335548"/>
            <a:ext cx="17075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C8A020"/>
                </a:solidFill>
                <a:latin typeface="Calibri"/>
              </a:rPr>
              <a:t>PostgreSQL + </a:t>
            </a:r>
            <a:r>
              <a:rPr sz="1400" b="1" i="0" dirty="0" err="1">
                <a:solidFill>
                  <a:srgbClr val="C8A020"/>
                </a:solidFill>
                <a:latin typeface="Calibri"/>
              </a:rPr>
              <a:t>asyncpg</a:t>
            </a:r>
            <a:endParaRPr sz="1400" b="1" i="0" dirty="0">
              <a:solidFill>
                <a:srgbClr val="C8A020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081990" y="3337560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Async ORM (SQLAlchemy 2.0) · Alembic-migraties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3370" y="4032504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27242" y="4232219"/>
            <a:ext cx="17075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C8A020"/>
                </a:solidFill>
                <a:latin typeface="Calibri"/>
              </a:rPr>
              <a:t>Broker (MOM)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1990" y="4142232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Transactionele outbox · exp. backoff · dead-letter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3370" y="4837176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27241" y="4980467"/>
            <a:ext cx="17075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C8A020"/>
                </a:solidFill>
                <a:latin typeface="Calibri"/>
              </a:rPr>
              <a:t>FastAPI</a:t>
            </a:r>
            <a:endParaRPr sz="1400" b="1" i="0" dirty="0">
              <a:solidFill>
                <a:srgbClr val="C8A020"/>
              </a:solidFill>
              <a:latin typeface="Calibr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081990" y="4946904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MOM REST-endpoint · X-API-Key · CORS-vergrendeling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3370" y="5641848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527240" y="5755142"/>
            <a:ext cx="17075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C8A020"/>
                </a:solidFill>
                <a:latin typeface="Calibri"/>
              </a:rPr>
              <a:t>HR Simulator + </a:t>
            </a:r>
            <a:r>
              <a:rPr sz="1400" b="1" i="0" dirty="0" err="1">
                <a:solidFill>
                  <a:srgbClr val="C8A020"/>
                </a:solidFill>
                <a:latin typeface="Calibri"/>
              </a:rPr>
              <a:t>Mailpit</a:t>
            </a:r>
            <a:endParaRPr sz="1400" b="1" i="0" dirty="0">
              <a:solidFill>
                <a:srgbClr val="C8A020"/>
              </a:solidFill>
              <a:latin typeface="Calibr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9081990" y="5751576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Dev/test omgeving · HR-mock · e-mailpreview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Technologiestapel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Python 3.13+ · moderne async stack · volledig open 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669280" cy="4114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Frontend /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Shiny for Python — reactieve server-side UI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Plotly — interactieve grafieken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Rajdhani + JetBrains Mono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CSS-thema: olive / khaki / amber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2588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09360" y="1325880"/>
            <a:ext cx="5669280" cy="41148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Backend /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PostgreSQL + asyncpg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SQLAlchemy 2.0 Async ORM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Alembic — DB-migratiebeheer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dependency-injector (DI-container)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93192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3931920"/>
            <a:ext cx="566928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9776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Beveiliging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38912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Argon2id — wachtwoordhashing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RBAC per PageSpec (6 rollen)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TLS verify-full (productie)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X-API-Key + CORS-vergrendeling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93192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3931920"/>
            <a:ext cx="5669280" cy="411480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39776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Infra / Dev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38912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Docker + GitHub Actions CI/CD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FastAPI — MOM REST endpoint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Mailpit — e-mailpreview (dev)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uv · ruff · mypy · black · pre-commit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Architectuur — WarriorFit Lagen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UI-laag → Controller-laag → Service-laag → Repository-laag → PostgreSQL</a:t>
            </a:r>
          </a:p>
        </p:txBody>
      </p:sp>
      <p:pic>
        <p:nvPicPr>
          <p:cNvPr id="5" name="Picture 4" descr="overview-WARRIORFIT_Architectu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522" y="1234440"/>
            <a:ext cx="7725907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Architectuur — Gedetailleerde lagenstructuur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Presentation · Service · Integration · Data Access · Core · Infrastructure</a:t>
            </a:r>
          </a:p>
        </p:txBody>
      </p:sp>
      <p:pic>
        <p:nvPicPr>
          <p:cNvPr id="5" name="Picture 4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8" y="1234439"/>
            <a:ext cx="7271617" cy="369648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80959" y="1234439"/>
            <a:ext cx="4181883" cy="53949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59" y="1325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C8A020"/>
                </a:solidFill>
                <a:latin typeface="Calibri"/>
              </a:rPr>
              <a:t>DI Container — 40+ singletons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59" y="1874519"/>
            <a:ext cx="4114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dirty="0" err="1">
                <a:solidFill>
                  <a:srgbClr val="B0C09A"/>
                </a:solidFill>
                <a:latin typeface="Calibri"/>
              </a:rPr>
              <a:t>providers.Singleton</a:t>
            </a:r>
            <a:r>
              <a:rPr sz="1200" dirty="0">
                <a:solidFill>
                  <a:srgbClr val="B0C09A"/>
                </a:solidFill>
                <a:latin typeface="Calibri"/>
              </a:rPr>
              <a:t>(…) —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gedeeld</a:t>
            </a:r>
            <a:r>
              <a:rPr sz="1200" dirty="0">
                <a:solidFill>
                  <a:srgbClr val="B0C09A"/>
                </a:solidFill>
                <a:latin typeface="Calibri"/>
              </a:rPr>
              <a:t> over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proceslevensduur</a:t>
            </a:r>
            <a:endParaRPr sz="1200" dirty="0">
              <a:solidFill>
                <a:srgbClr val="B0C09A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sz="1200" dirty="0">
              <a:solidFill>
                <a:srgbClr val="B0C09A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Repositories (8): 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UserRepository</a:t>
            </a:r>
            <a:r>
              <a:rPr sz="1200" dirty="0">
                <a:solidFill>
                  <a:srgbClr val="B0C09A"/>
                </a:solidFill>
                <a:latin typeface="Calibri"/>
              </a:rPr>
              <a:t>,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FitnessTestRepository</a:t>
            </a:r>
            <a:r>
              <a:rPr sz="1200" dirty="0">
                <a:solidFill>
                  <a:srgbClr val="B0C09A"/>
                </a:solidFill>
                <a:latin typeface="Calibri"/>
              </a:rPr>
              <a:t> …</a:t>
            </a: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Services (12+):   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ServiceTest</a:t>
            </a:r>
            <a:r>
              <a:rPr sz="1200" dirty="0">
                <a:solidFill>
                  <a:srgbClr val="B0C09A"/>
                </a:solidFill>
                <a:latin typeface="Calibri"/>
              </a:rPr>
              <a:t>,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GdprService</a:t>
            </a:r>
            <a:r>
              <a:rPr sz="1200" dirty="0">
                <a:solidFill>
                  <a:srgbClr val="B0C09A"/>
                </a:solidFill>
                <a:latin typeface="Calibri"/>
              </a:rPr>
              <a:t>,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RetentionService</a:t>
            </a:r>
            <a:r>
              <a:rPr sz="1200" dirty="0">
                <a:solidFill>
                  <a:srgbClr val="B0C09A"/>
                </a:solidFill>
                <a:latin typeface="Calibri"/>
              </a:rPr>
              <a:t> …</a:t>
            </a: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Controllers (5):  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PhefController</a:t>
            </a:r>
            <a:r>
              <a:rPr sz="1200" dirty="0">
                <a:solidFill>
                  <a:srgbClr val="B0C09A"/>
                </a:solidFill>
                <a:latin typeface="Calibri"/>
              </a:rPr>
              <a:t>,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CrossController</a:t>
            </a:r>
            <a:r>
              <a:rPr sz="1200" dirty="0">
                <a:solidFill>
                  <a:srgbClr val="B0C09A"/>
                </a:solidFill>
                <a:latin typeface="Calibri"/>
              </a:rPr>
              <a:t> …</a:t>
            </a: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External:         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BEMILService</a:t>
            </a:r>
            <a:r>
              <a:rPr sz="1200" dirty="0">
                <a:solidFill>
                  <a:srgbClr val="B0C09A"/>
                </a:solidFill>
                <a:latin typeface="Calibri"/>
              </a:rPr>
              <a:t>,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MailService</a:t>
            </a:r>
            <a:r>
              <a:rPr sz="1200" dirty="0">
                <a:solidFill>
                  <a:srgbClr val="B0C09A"/>
                </a:solidFill>
                <a:latin typeface="Calibri"/>
              </a:rPr>
              <a:t>,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NotifyMail</a:t>
            </a:r>
            <a:endParaRPr sz="1200" dirty="0">
              <a:solidFill>
                <a:srgbClr val="B0C09A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Broker:           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Transactionele</a:t>
            </a:r>
            <a:r>
              <a:rPr sz="1200" dirty="0">
                <a:solidFill>
                  <a:srgbClr val="B0C09A"/>
                </a:solidFill>
                <a:latin typeface="Calibri"/>
              </a:rPr>
              <a:t> outbox singleton</a:t>
            </a:r>
          </a:p>
          <a:p>
            <a:pPr algn="l">
              <a:spcAft>
                <a:spcPts val="500"/>
              </a:spcAft>
            </a:pPr>
            <a:endParaRPr sz="1200" dirty="0">
              <a:solidFill>
                <a:srgbClr val="B0C09A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Wiring: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containers.WiringConfiguration</a:t>
            </a:r>
            <a:r>
              <a:rPr sz="1200" dirty="0">
                <a:solidFill>
                  <a:srgbClr val="B0C09A"/>
                </a:solidFill>
                <a:latin typeface="Calibri"/>
              </a:rPr>
              <a:t>(modules=[…])</a:t>
            </a: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  → 25 UI-modules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gepatch</a:t>
            </a:r>
            <a:r>
              <a:rPr sz="1200" dirty="0">
                <a:solidFill>
                  <a:srgbClr val="B0C09A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bij</a:t>
            </a:r>
            <a:r>
              <a:rPr sz="1200" dirty="0">
                <a:solidFill>
                  <a:srgbClr val="B0C09A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opstart</a:t>
            </a:r>
            <a:endParaRPr sz="1200" dirty="0">
              <a:solidFill>
                <a:srgbClr val="B0C09A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  → @inject + Provide[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Container.xxx</a:t>
            </a:r>
            <a:r>
              <a:rPr sz="1200" dirty="0">
                <a:solidFill>
                  <a:srgbClr val="B0C09A"/>
                </a:solidFill>
                <a:latin typeface="Calibri"/>
              </a:rPr>
              <a:t>] op page __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init</a:t>
            </a:r>
            <a:r>
              <a:rPr sz="1200" dirty="0">
                <a:solidFill>
                  <a:srgbClr val="B0C09A"/>
                </a:solidFill>
                <a:latin typeface="Calibri"/>
              </a:rPr>
              <a:t>__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AVG / GDPR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DPIA Art. 35 · gezondheidsdata Art. 9 · zelfservice privacypagina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Rechtsgrond &amp;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6(1)(c) — wettelijke verplichting (militaire opleiding)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6(1)(e) — taak van algemeen belang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9(2)(b) — gezondheidsdata in arbeidscontext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DPIA uitgevoerd (Art. 35) — versie 1.1, 30 apr 2026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Verwerkingsverantwoordelijke: Belgische Defensie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Uitsluitend intranet — geen publieke blootstelling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Geïmplementeerde rechten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15 — Inzage: volledig exporteerbaar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17 — Verwijdering: GdprService + FK CASCADE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20 — Portabiliteit: JSON-export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7  — Toestemming: user_consents tabel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RetentionService: automatische verwijdering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Audit trail: alle CRUD-acties (Art. 32)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Data Model &amp; ERD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PostgreSQL · SQLAlchemy ORM · polymorf FitnessTest</a:t>
            </a:r>
          </a:p>
        </p:txBody>
      </p:sp>
      <p:pic>
        <p:nvPicPr>
          <p:cNvPr id="5" name="Picture 4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4119964" cy="5394960"/>
          </a:xfrm>
          <a:prstGeom prst="rect">
            <a:avLst/>
          </a:prstGeom>
        </p:spPr>
      </p:pic>
      <p:pic>
        <p:nvPicPr>
          <p:cNvPr id="6" name="Picture 5" descr="data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7817" y="1234439"/>
            <a:ext cx="7376815" cy="32007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922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0C09A"/>
                </a:solidFill>
                <a:latin typeface="Calibri"/>
              </a:rPr>
              <a:t>ERD (databasetabellen)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64922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0C09A"/>
                </a:solidFill>
                <a:latin typeface="Calibri"/>
              </a:rPr>
              <a:t>ORM-klassendiagram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Rollen &amp; Toegangscontrole (RBAC)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6 rollen · PageSpec(allowed_roles=[…]) per module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71323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A020"/>
                          </a:solidFill>
                          <a:latin typeface="Calibri"/>
                        </a:rPr>
                        <a:t>Rol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A020"/>
                          </a:solidFill>
                          <a:latin typeface="Calibri"/>
                        </a:rPr>
                        <a:t>Omschrijving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A020"/>
                          </a:solidFill>
                          <a:latin typeface="Calibri"/>
                        </a:rPr>
                        <a:t>Toegang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Systeembeheerder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Volledige toegang + gebruikersbeheer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PTI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Fitheidsinstructeur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Testresultaten invoeren &amp; bekijken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APTI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Adjunct PTI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Beperkt invoer, volledige lezing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PLANNER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Planningsofficial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Sessies &amp; fitnessruimte plannen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GUEST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Gast / bezoeker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Alleen eigen profiel (read-only)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395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USER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Militair (serviceman)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Eigen fiche + privacypagina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0" y="1234440"/>
            <a:ext cx="41148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0" y="132588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Implementatie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0" y="182880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PageSpec(allowed_roles=[…]) per pagina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Sessiecontrole bij elke navigatie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10-min inactiviteitstime-out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Argon2id wachtwoordhashing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Rate-limiting op login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Audit trail — alle CRUD-acties gelogd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UserStore scoped per Shiny-sessie (PR #217)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IDOR-fix: _assert_can_modify_tests()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Dataflow — PHEF-invoer &amp; Broker (MOM)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Transactionele outbox · exp. backoff 5 s→10 min · dead-letter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20"/>
                </a:solidFill>
                <a:latin typeface="Calibri"/>
              </a:rPr>
              <a:t>Synchroon pad  (PTI wacht)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5303520" cy="30175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49377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Browser: PTI klikt 'Add'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PhefPage (Shiny reactive)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PhefController.add_phef()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ServiceTest.add_phef_test()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FitnessTestRepository.add()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PostgreSQL — INSERT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←  OK · grid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54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8B463"/>
                </a:solidFill>
                <a:latin typeface="Calibri"/>
              </a:rPr>
              <a:t>Asynchroon pad  (broker — PTI wacht NIET)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166360"/>
            <a:ext cx="5303520" cy="15087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23036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Service → Broker.send_message(test)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asyncio.Queue (in-memory)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_process_cycle()  elke 5 s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hr_messages (duurzame opslag)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POST naar HR-systeem (BEMIL)</a:t>
            </a:r>
          </a:p>
        </p:txBody>
      </p:sp>
      <p:pic>
        <p:nvPicPr>
          <p:cNvPr id="11" name="Picture 10" descr="im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8014" y="1234440"/>
            <a:ext cx="551661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Volledige Testflow — UI → Service → DB → Broker → 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End-to-end PHEF-flow incl. foutpaden, retry en dead-letter</a:t>
            </a:r>
          </a:p>
        </p:txBody>
      </p:sp>
      <p:pic>
        <p:nvPicPr>
          <p:cNvPr id="5" name="Picture 4" descr="test_flow_ui_db_bro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960" y="1188720"/>
            <a:ext cx="7783032" cy="5577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922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0C09A"/>
                </a:solidFill>
                <a:latin typeface="Calibri"/>
              </a:rPr>
              <a:t>Bron: documentation/diagrams/test_flow_ui_db_broker.png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Agile Methodologie — Scrum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Sep 2025 – mei 2026 · 1 developer · 2-weekse sprints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epics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1492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31492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1492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stories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2984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62984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2984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4476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94476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12,2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gem. velocity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5968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25968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1.012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5968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commits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57460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157460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720 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7460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geschatte inspanning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65760" y="2560320"/>
          <a:ext cx="804672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Sprint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Periode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Cumul.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sep 01–14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Opzet, auth, login (E1, E19)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sep 15–28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Gebruikersbeheer, BEMIL (E1, E9)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okt 27–nov 09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4 epics — hoogste commit-dichtheid (160)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nov 24–dec 07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Cross sessies &amp; statistieken (E8)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feb 02–15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162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DI-container refactor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apr 13–26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221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GDPR + cross-stats redesign (E20)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mei 11–24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231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Beveiliging, DPIA, finale (E19)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8686800" y="2560320"/>
            <a:ext cx="3291840" cy="39319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23960" y="265176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20"/>
                </a:solidFill>
                <a:latin typeface="Calibri"/>
              </a:rPr>
              <a:t>Top 5 epics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0" y="3063240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69680" y="31089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E8  Cross &amp; Statistieken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3108960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28 SP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3630168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69680" y="367588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E20 GDPR / Privacy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3675888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25 SP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78240" y="4197096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69680" y="4242816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E1  Gebruikersbeheer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4242816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18 SP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778240" y="4764024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869680" y="480974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E3  PHEF-invoer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4809744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18 SP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0" y="5330952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869680" y="537667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E2  Sessieplanning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09960" y="537667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15 SP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Kwaliteit &amp;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pytest-asyncio · mypy strict · ruff · pre-commit · GitHub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Testpatronen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pytest + pytest-asyncio (async tests)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AsyncMock / MagicMock via unittest.mock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Constructor-injectie: mocking zonder patching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container.override(mock) + reset_override()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Singleton._instances wissen in fixtures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Voorbeeld: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  PhefController(service=mock, mil=mock)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Tooling &amp; CI/CD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dirty="0" err="1">
                <a:solidFill>
                  <a:srgbClr val="FFFFFF"/>
                </a:solidFill>
                <a:latin typeface="Calibri"/>
              </a:rPr>
              <a:t>mypy</a:t>
            </a:r>
            <a:r>
              <a:rPr sz="1500" dirty="0">
                <a:solidFill>
                  <a:srgbClr val="FFFFFF"/>
                </a:solidFill>
                <a:latin typeface="Calibri"/>
              </a:rPr>
              <a:t> — strict </a:t>
            </a:r>
            <a:r>
              <a:rPr sz="1500" dirty="0" err="1">
                <a:solidFill>
                  <a:srgbClr val="FFFFFF"/>
                </a:solidFill>
                <a:latin typeface="Calibri"/>
              </a:rPr>
              <a:t>typechecking</a:t>
            </a:r>
            <a:endParaRPr sz="1500" dirty="0">
              <a:solidFill>
                <a:srgbClr val="FFFFFF"/>
              </a:solidFill>
              <a:latin typeface="Calibri"/>
            </a:endParaRPr>
          </a:p>
          <a:p>
            <a:pPr algn="l">
              <a:spcAft>
                <a:spcPts val="900"/>
              </a:spcAft>
            </a:pPr>
            <a:r>
              <a:rPr sz="1500" dirty="0">
                <a:solidFill>
                  <a:srgbClr val="FFFFFF"/>
                </a:solidFill>
                <a:latin typeface="Calibri"/>
              </a:rPr>
              <a:t>ruff — linting (E/F/W/I, </a:t>
            </a:r>
            <a:r>
              <a:rPr sz="1500" dirty="0" err="1">
                <a:solidFill>
                  <a:srgbClr val="FFFFFF"/>
                </a:solidFill>
                <a:latin typeface="Calibri"/>
              </a:rPr>
              <a:t>regellengte</a:t>
            </a:r>
            <a:r>
              <a:rPr sz="1500" dirty="0">
                <a:solidFill>
                  <a:srgbClr val="FFFFFF"/>
                </a:solidFill>
                <a:latin typeface="Calibri"/>
              </a:rPr>
              <a:t> 100)</a:t>
            </a:r>
          </a:p>
          <a:p>
            <a:pPr algn="l">
              <a:spcAft>
                <a:spcPts val="900"/>
              </a:spcAft>
            </a:pPr>
            <a:r>
              <a:rPr sz="1500" dirty="0">
                <a:solidFill>
                  <a:srgbClr val="FFFFFF"/>
                </a:solidFill>
                <a:latin typeface="Calibri"/>
              </a:rPr>
              <a:t>black — </a:t>
            </a:r>
            <a:r>
              <a:rPr sz="1500" dirty="0" err="1">
                <a:solidFill>
                  <a:srgbClr val="FFFFFF"/>
                </a:solidFill>
                <a:latin typeface="Calibri"/>
              </a:rPr>
              <a:t>codeformattering</a:t>
            </a:r>
            <a:endParaRPr sz="1500" dirty="0">
              <a:solidFill>
                <a:srgbClr val="FFFFFF"/>
              </a:solidFill>
              <a:latin typeface="Calibri"/>
            </a:endParaRPr>
          </a:p>
          <a:p>
            <a:pPr algn="l">
              <a:spcAft>
                <a:spcPts val="900"/>
              </a:spcAft>
            </a:pPr>
            <a:r>
              <a:rPr sz="1500" dirty="0">
                <a:solidFill>
                  <a:srgbClr val="FFFFFF"/>
                </a:solidFill>
                <a:latin typeface="Calibri"/>
              </a:rPr>
              <a:t>pre-commit — auto-update </a:t>
            </a:r>
            <a:r>
              <a:rPr sz="1500" dirty="0" err="1">
                <a:solidFill>
                  <a:srgbClr val="FFFFFF"/>
                </a:solidFill>
                <a:latin typeface="Calibri"/>
              </a:rPr>
              <a:t>version.yaml</a:t>
            </a:r>
            <a:endParaRPr sz="1500" dirty="0">
              <a:solidFill>
                <a:srgbClr val="FFFFFF"/>
              </a:solidFill>
              <a:latin typeface="Calibri"/>
            </a:endParaRPr>
          </a:p>
          <a:p>
            <a:pPr algn="l">
              <a:spcAft>
                <a:spcPts val="900"/>
              </a:spcAft>
            </a:pPr>
            <a:r>
              <a:rPr sz="1500" dirty="0">
                <a:solidFill>
                  <a:srgbClr val="FFFFFF"/>
                </a:solidFill>
                <a:latin typeface="Calibri"/>
              </a:rPr>
              <a:t>GitHub Actions — CI: lint + </a:t>
            </a:r>
            <a:r>
              <a:rPr sz="1500" dirty="0" err="1">
                <a:solidFill>
                  <a:srgbClr val="FFFFFF"/>
                </a:solidFill>
                <a:latin typeface="Calibri"/>
              </a:rPr>
              <a:t>mypy</a:t>
            </a:r>
            <a:r>
              <a:rPr sz="1500" dirty="0">
                <a:solidFill>
                  <a:srgbClr val="FFFFFF"/>
                </a:solidFill>
                <a:latin typeface="Calibri"/>
              </a:rPr>
              <a:t> + tests</a:t>
            </a:r>
          </a:p>
          <a:p>
            <a:pPr algn="l">
              <a:spcAft>
                <a:spcPts val="900"/>
              </a:spcAft>
            </a:pPr>
            <a:r>
              <a:rPr sz="1500" dirty="0">
                <a:solidFill>
                  <a:srgbClr val="FFFFFF"/>
                </a:solidFill>
                <a:latin typeface="Calibri"/>
              </a:rPr>
              <a:t>Docker — </a:t>
            </a:r>
            <a:r>
              <a:rPr sz="1500" dirty="0" err="1">
                <a:solidFill>
                  <a:srgbClr val="FFFFFF"/>
                </a:solidFill>
                <a:latin typeface="Calibri"/>
              </a:rPr>
              <a:t>productie</a:t>
            </a:r>
            <a:r>
              <a:rPr sz="1500" dirty="0">
                <a:solidFill>
                  <a:srgbClr val="FFFFFF"/>
                </a:solidFill>
                <a:latin typeface="Calibri"/>
              </a:rPr>
              <a:t>-image (</a:t>
            </a:r>
            <a:r>
              <a:rPr sz="1500" dirty="0" err="1">
                <a:solidFill>
                  <a:srgbClr val="FFFFFF"/>
                </a:solidFill>
                <a:latin typeface="Calibri"/>
              </a:rPr>
              <a:t>geen</a:t>
            </a:r>
            <a:r>
              <a:rPr sz="1500" dirty="0">
                <a:solidFill>
                  <a:srgbClr val="FFFFFF"/>
                </a:solidFill>
                <a:latin typeface="Calibri"/>
              </a:rPr>
              <a:t> secrets)</a:t>
            </a:r>
          </a:p>
          <a:p>
            <a:pPr algn="l">
              <a:spcAft>
                <a:spcPts val="900"/>
              </a:spcAft>
            </a:pPr>
            <a:r>
              <a:rPr sz="1500" dirty="0">
                <a:solidFill>
                  <a:srgbClr val="FFFFFF"/>
                </a:solidFill>
                <a:latin typeface="Calibri"/>
              </a:rPr>
              <a:t>Alembic — </a:t>
            </a:r>
            <a:r>
              <a:rPr sz="1500" dirty="0" err="1">
                <a:solidFill>
                  <a:srgbClr val="FFFFFF"/>
                </a:solidFill>
                <a:latin typeface="Calibri"/>
              </a:rPr>
              <a:t>versiebeheerde</a:t>
            </a:r>
            <a:r>
              <a:rPr sz="1500" dirty="0">
                <a:solidFill>
                  <a:srgbClr val="FFFFFF"/>
                </a:solidFill>
                <a:latin typeface="Calibri"/>
              </a:rPr>
              <a:t> DB-</a:t>
            </a:r>
            <a:r>
              <a:rPr sz="1500" dirty="0" err="1">
                <a:solidFill>
                  <a:srgbClr val="FFFFFF"/>
                </a:solidFill>
                <a:latin typeface="Calibri"/>
              </a:rPr>
              <a:t>migraties</a:t>
            </a:r>
            <a:endParaRPr sz="1500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Beveiliging — OWASP Top 10 evaluatie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Defense-in-depth · intranet-deployment · Argon2id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521440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8655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OWASP risico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Maatregel in WarriorFit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A01 — Broken Access Control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RBAC per PageSpec · IDOR-fix · sessie-scoped UserStore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A02 — Cryptographic Failures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Argon2id · PostgreSQL TLS verify-full (productie)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A03 — Injection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SQLAlchemy geparametriseerde queries — geen raw SQL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A05 — Misconfiguration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CORS-vergrendeling · X-API-Key op MOM · strict CSP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A07 — Auth Failures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Rate-limiting login · 10-min timeout · audit trail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A09 — Logging &amp; Monitoring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Volledige CRUD-audit log · broker-health card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A10 — SSRF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HR-URL allowlist (config) — HTTPS validatie open punt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⚠</a:t>
                      </a:r>
                    </a:p>
                  </a:txBody>
                  <a:tcPr marL="63500" marR="63500" marT="38100" marB="38100"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136" y="429768"/>
            <a:ext cx="11274552" cy="47548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0" y="118872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C8A020"/>
                </a:solidFill>
                <a:latin typeface="Calibri"/>
              </a:rPr>
              <a:t>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0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8A020"/>
                </a:solidFill>
                <a:latin typeface="Calibri"/>
              </a:rPr>
              <a:t>Bedankt!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Vragen?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B0C09A"/>
                </a:solidFill>
                <a:latin typeface="Calibri"/>
              </a:rPr>
              <a:t>Benoit Goethals  ·  benoit.goethals@gmail.com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360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B0C09A"/>
                </a:solidFill>
                <a:latin typeface="Calibri"/>
              </a:rPr>
              <a:t>github.com/BenoitGoethals/WarriorFit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0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epics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31492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31492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1492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stories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2984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62984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231 SP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2984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geleverd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4476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094476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1.012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4476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commits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5968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25968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25.800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5968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lijnen Python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57460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157460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8,5 mnd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57460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solo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1367</Words>
  <Application>Microsoft Macintosh PowerPoint</Application>
  <PresentationFormat>Custom</PresentationFormat>
  <Paragraphs>320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Benoit Goethals</cp:lastModifiedBy>
  <cp:revision>6</cp:revision>
  <dcterms:created xsi:type="dcterms:W3CDTF">2013-01-27T09:14:16Z</dcterms:created>
  <dcterms:modified xsi:type="dcterms:W3CDTF">2026-06-15T16:45:08Z</dcterms:modified>
  <cp:category/>
</cp:coreProperties>
</file>